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45"/>
  </p:notesMasterIdLst>
  <p:handoutMasterIdLst>
    <p:handoutMasterId r:id="rId46"/>
  </p:handoutMasterIdLst>
  <p:sldIdLst>
    <p:sldId id="2146449324" r:id="rId6"/>
    <p:sldId id="2146449332" r:id="rId7"/>
    <p:sldId id="2146449367" r:id="rId8"/>
    <p:sldId id="2924" r:id="rId9"/>
    <p:sldId id="2146449383" r:id="rId10"/>
    <p:sldId id="2146449388" r:id="rId11"/>
    <p:sldId id="2934" r:id="rId12"/>
    <p:sldId id="2146449378" r:id="rId13"/>
    <p:sldId id="2146449384" r:id="rId14"/>
    <p:sldId id="2146449385" r:id="rId15"/>
    <p:sldId id="2146449389" r:id="rId16"/>
    <p:sldId id="2146449368" r:id="rId17"/>
    <p:sldId id="2146449372" r:id="rId18"/>
    <p:sldId id="2146449371" r:id="rId19"/>
    <p:sldId id="2146449386" r:id="rId20"/>
    <p:sldId id="2146449393" r:id="rId21"/>
    <p:sldId id="2146449373" r:id="rId22"/>
    <p:sldId id="2146449394" r:id="rId23"/>
    <p:sldId id="2146449387" r:id="rId24"/>
    <p:sldId id="2146449374" r:id="rId25"/>
    <p:sldId id="2146449377" r:id="rId26"/>
    <p:sldId id="2146449390" r:id="rId27"/>
    <p:sldId id="2146449369" r:id="rId28"/>
    <p:sldId id="2930" r:id="rId29"/>
    <p:sldId id="2146449382" r:id="rId30"/>
    <p:sldId id="2951" r:id="rId31"/>
    <p:sldId id="2146449376" r:id="rId32"/>
    <p:sldId id="2953" r:id="rId33"/>
    <p:sldId id="2954" r:id="rId34"/>
    <p:sldId id="2146449395" r:id="rId35"/>
    <p:sldId id="2146449375" r:id="rId36"/>
    <p:sldId id="2146449391" r:id="rId37"/>
    <p:sldId id="2146449392" r:id="rId38"/>
    <p:sldId id="2146449370" r:id="rId39"/>
    <p:sldId id="2944" r:id="rId40"/>
    <p:sldId id="2946" r:id="rId41"/>
    <p:sldId id="2945" r:id="rId42"/>
    <p:sldId id="2941" r:id="rId43"/>
    <p:sldId id="2146449352" r:id="rId44"/>
  </p:sldIdLst>
  <p:sldSz cx="12188825" cy="6858000"/>
  <p:notesSz cx="6858000" cy="9144000"/>
  <p:custDataLst>
    <p:tags r:id="rId4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839">
          <p15:clr>
            <a:srgbClr val="A4A3A4"/>
          </p15:clr>
        </p15:guide>
        <p15:guide id="6" orient="horz" pos="2160">
          <p15:clr>
            <a:srgbClr val="A4A3A4"/>
          </p15:clr>
        </p15:guide>
        <p15:guide id="7" pos="3939" userDrawn="1">
          <p15:clr>
            <a:srgbClr val="A4A3A4"/>
          </p15:clr>
        </p15:guide>
        <p15:guide id="8" pos="662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4581DE-4142-12FE-F5DE-A9B686D75BD0}" name="Shawna Bird" initials="SB" userId="S::shawna@bluewave.com::c8399127-f156-4b6d-84a8-3718b4d2c3a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nzuto, Luciana" initials="PL" lastIdx="25" clrIdx="0">
    <p:extLst>
      <p:ext uri="{19B8F6BF-5375-455C-9EA6-DF929625EA0E}">
        <p15:presenceInfo xmlns:p15="http://schemas.microsoft.com/office/powerpoint/2012/main" userId="S::luciana.panzuto@hp.com::ca5be0c0-e859-40b6-a69b-f9fb0d8e5ae9" providerId="AD"/>
      </p:ext>
    </p:extLst>
  </p:cmAuthor>
  <p:cmAuthor id="2" name="Jennifer LeBeau" initials="JL" lastIdx="36" clrIdx="1">
    <p:extLst>
      <p:ext uri="{19B8F6BF-5375-455C-9EA6-DF929625EA0E}">
        <p15:presenceInfo xmlns:p15="http://schemas.microsoft.com/office/powerpoint/2012/main" userId="S::jennifer@bluewave.com::f6bd8909-2bd6-4e81-aa58-9be47e081106" providerId="AD"/>
      </p:ext>
    </p:extLst>
  </p:cmAuthor>
  <p:cmAuthor id="3" name="Karen Kamberg" initials="KK" lastIdx="11" clrIdx="2">
    <p:extLst>
      <p:ext uri="{19B8F6BF-5375-455C-9EA6-DF929625EA0E}">
        <p15:presenceInfo xmlns:p15="http://schemas.microsoft.com/office/powerpoint/2012/main" userId="S::karen@bluewave.com::c20f3c9c-c40c-4216-88b2-9882d2d88269" providerId="AD"/>
      </p:ext>
    </p:extLst>
  </p:cmAuthor>
  <p:cmAuthor id="4" name="Sherry Sutton" initials="SS" lastIdx="1" clrIdx="3">
    <p:extLst>
      <p:ext uri="{19B8F6BF-5375-455C-9EA6-DF929625EA0E}">
        <p15:presenceInfo xmlns:p15="http://schemas.microsoft.com/office/powerpoint/2012/main" userId="S::jiahuey@bluewave.com::332e5ed1-ddee-470b-8a5d-de88f4028e9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7D"/>
    <a:srgbClr val="43679B"/>
    <a:srgbClr val="0096D6"/>
    <a:srgbClr val="214476"/>
    <a:srgbClr val="32F6D6"/>
    <a:srgbClr val="EAAFE3"/>
    <a:srgbClr val="142341"/>
    <a:srgbClr val="9FFFE7"/>
    <a:srgbClr val="8DADD7"/>
    <a:srgbClr val="CDDE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C9A457-B486-42F3-96E6-C11F07148CA5}" v="16" dt="2022-06-10T14:20:55.761"/>
  </p1510:revLst>
</p1510:revInfo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893" autoAdjust="0"/>
    <p:restoredTop sz="93067" autoAdjust="0"/>
  </p:normalViewPr>
  <p:slideViewPr>
    <p:cSldViewPr snapToGrid="0">
      <p:cViewPr varScale="1">
        <p:scale>
          <a:sx n="63" d="100"/>
          <a:sy n="63" d="100"/>
        </p:scale>
        <p:origin x="464" y="56"/>
      </p:cViewPr>
      <p:guideLst>
        <p:guide pos="3839"/>
        <p:guide orient="horz" pos="2160"/>
        <p:guide pos="3939"/>
        <p:guide pos="662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ags" Target="tags/tag1.xml"/><Relationship Id="rId50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3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commentAuthors" Target="commentAuthors.xml"/><Relationship Id="rId8" Type="http://schemas.openxmlformats.org/officeDocument/2006/relationships/slide" Target="slides/slide3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C02A0-C947-4278-96D1-0DB9C063DF55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3FAA7-9DA0-4163-8828-B20FAF1E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626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81000"/>
            <a:ext cx="4572001" cy="25733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124200"/>
            <a:ext cx="6096000" cy="533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1000" y="8686800"/>
            <a:ext cx="4876800" cy="22701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defRPr sz="10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67400" y="8686800"/>
            <a:ext cx="609600" cy="22701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1000"/>
            </a:lvl1pPr>
          </a:lstStyle>
          <a:p>
            <a:fld id="{8547E1EE-0039-4797-B978-F45341826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465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Bef>
        <a:spcPts val="600"/>
      </a:spcBef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82880" indent="-137160" algn="l" defTabSz="914400" rtl="0" eaLnBrk="1" latinLnBrk="0" hangingPunct="1">
      <a:spcBef>
        <a:spcPts val="600"/>
      </a:spcBef>
      <a:buFont typeface="HP Simplified" panose="020B0604020204020204" pitchFamily="34" charset="0"/>
      <a:buChar char="•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39725" indent="-104775" algn="l" defTabSz="914400" rtl="0" eaLnBrk="1" latinLnBrk="0" hangingPunct="1">
      <a:spcBef>
        <a:spcPts val="600"/>
      </a:spcBef>
      <a:buFont typeface="HP Simplified" panose="020B0604020204020204" pitchFamily="34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515938" indent="-117475" algn="l" defTabSz="914400" rtl="0" eaLnBrk="1" latinLnBrk="0" hangingPunct="1">
      <a:spcBef>
        <a:spcPts val="600"/>
      </a:spcBef>
      <a:buFont typeface="HP Simplified" panose="020B0604020204020204" pitchFamily="34" charset="0"/>
      <a:buChar char="•"/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633413" indent="-117475" algn="l" defTabSz="914400" rtl="0" eaLnBrk="1" latinLnBrk="0" hangingPunct="1">
      <a:spcBef>
        <a:spcPts val="600"/>
      </a:spcBef>
      <a:buFont typeface="HP Simplified" panose="020B0604020204020204" pitchFamily="34" charset="0"/>
      <a:buChar char="–"/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81000"/>
            <a:ext cx="4572000" cy="25733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47E1EE-0039-4797-B978-F453418260D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19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81000"/>
            <a:ext cx="4572000" cy="25733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7E1EE-0039-4797-B978-F453418260D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38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81000"/>
            <a:ext cx="4572000" cy="25733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7E1EE-0039-4797-B978-F453418260D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20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81000"/>
            <a:ext cx="4572000" cy="25733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7E1EE-0039-4797-B978-F453418260D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46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81000"/>
            <a:ext cx="4572000" cy="25733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Please check your CPCT file: TBD with subcategory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7E1EE-0039-4797-B978-F453418260D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252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81000"/>
            <a:ext cx="4572000" cy="25733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7E1EE-0039-4797-B978-F453418260D1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566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81000"/>
            <a:ext cx="4572000" cy="25733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7E1EE-0039-4797-B978-F453418260D1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2549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7E1EE-0039-4797-B978-F453418260D1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F64BDDD7-1A28-4CF8-8546-6F242711F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381000"/>
            <a:ext cx="4572000" cy="2573338"/>
          </a:xfrm>
        </p:spPr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3FAD58B8-2360-4A5D-8661-B4D1E55F0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11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ogo">
            <a:extLst>
              <a:ext uri="{FF2B5EF4-FFF2-40B4-BE49-F238E27FC236}">
                <a16:creationId xmlns:a16="http://schemas.microsoft.com/office/drawing/2014/main" id="{2144D79C-EC9B-7E48-B133-D2D2642C256A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708437" y="607610"/>
            <a:ext cx="812588" cy="812588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E32D6F1-6242-4094-BCEB-9D4EF31519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381" y="2763520"/>
            <a:ext cx="10840332" cy="1554480"/>
          </a:xfrm>
        </p:spPr>
        <p:txBody>
          <a:bodyPr anchor="b"/>
          <a:lstStyle>
            <a:lvl1pPr algn="l">
              <a:defRPr sz="5800" cap="none" spc="-1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A3DA31C4-FF6A-4D87-A24D-D598631AB23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2381" y="4419600"/>
            <a:ext cx="10840332" cy="347994"/>
          </a:xfrm>
        </p:spPr>
        <p:txBody>
          <a:bodyPr>
            <a:noAutofit/>
          </a:bodyPr>
          <a:lstStyle>
            <a:lvl1pPr marL="0" indent="0" algn="l">
              <a:spcBef>
                <a:spcPts val="60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Presenter’s Name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7B34629F-3F45-4873-8441-8567EE87F8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2538" y="4836979"/>
            <a:ext cx="10840022" cy="249299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Presenter’s Title</a:t>
            </a:r>
          </a:p>
        </p:txBody>
      </p:sp>
    </p:spTree>
    <p:extLst>
      <p:ext uri="{BB962C8B-B14F-4D97-AF65-F5344CB8AC3E}">
        <p14:creationId xmlns:p14="http://schemas.microsoft.com/office/powerpoint/2010/main" val="3488302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Picture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804369D-F52C-44A5-97DC-DEF37445FA81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094402" y="-1"/>
            <a:ext cx="6094423" cy="6858001"/>
          </a:xfrm>
          <a:solidFill>
            <a:schemeClr val="bg1">
              <a:lumMod val="85000"/>
            </a:schemeClr>
          </a:solidFill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2" name="logo">
            <a:extLst>
              <a:ext uri="{FF2B5EF4-FFF2-40B4-BE49-F238E27FC236}">
                <a16:creationId xmlns:a16="http://schemas.microsoft.com/office/drawing/2014/main" id="{65873165-8C90-4054-8DCE-2B0DEE4589B9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708437" y="607610"/>
            <a:ext cx="812588" cy="812588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AEC938E1-886E-47CC-94BC-10DDC9BE83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381" y="2763520"/>
            <a:ext cx="5105991" cy="1554480"/>
          </a:xfrm>
        </p:spPr>
        <p:txBody>
          <a:bodyPr anchor="b"/>
          <a:lstStyle>
            <a:lvl1pPr algn="l">
              <a:defRPr sz="5800" cap="none" spc="-1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7" name="Subtitle 2">
            <a:extLst>
              <a:ext uri="{FF2B5EF4-FFF2-40B4-BE49-F238E27FC236}">
                <a16:creationId xmlns:a16="http://schemas.microsoft.com/office/drawing/2014/main" id="{6C22717A-AAC4-4C6F-ADBE-D54196786E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2381" y="4419600"/>
            <a:ext cx="5105991" cy="347994"/>
          </a:xfrm>
        </p:spPr>
        <p:txBody>
          <a:bodyPr>
            <a:noAutofit/>
          </a:bodyPr>
          <a:lstStyle>
            <a:lvl1pPr marL="0" indent="0" algn="l">
              <a:spcBef>
                <a:spcPts val="60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Presenter’s Name</a:t>
            </a:r>
          </a:p>
        </p:txBody>
      </p:sp>
      <p:sp>
        <p:nvSpPr>
          <p:cNvPr id="48" name="Text Placeholder 15">
            <a:extLst>
              <a:ext uri="{FF2B5EF4-FFF2-40B4-BE49-F238E27FC236}">
                <a16:creationId xmlns:a16="http://schemas.microsoft.com/office/drawing/2014/main" id="{9DA66CA3-4155-4B74-A6D8-2199F9FCC1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2538" y="4836979"/>
            <a:ext cx="5105845" cy="336486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Presenter’s Title</a:t>
            </a:r>
          </a:p>
        </p:txBody>
      </p:sp>
    </p:spTree>
    <p:extLst>
      <p:ext uri="{BB962C8B-B14F-4D97-AF65-F5344CB8AC3E}">
        <p14:creationId xmlns:p14="http://schemas.microsoft.com/office/powerpoint/2010/main" val="2432917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1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floor, indoor&#10;&#10;Description automatically generated">
            <a:extLst>
              <a:ext uri="{FF2B5EF4-FFF2-40B4-BE49-F238E27FC236}">
                <a16:creationId xmlns:a16="http://schemas.microsoft.com/office/drawing/2014/main" id="{4B615051-8022-4B8E-AFA2-567B7FFC5A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12188824" cy="685800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91BFE0A-6B0B-42DE-8BAD-0B352ADAB09D}"/>
              </a:ext>
            </a:extLst>
          </p:cNvPr>
          <p:cNvSpPr/>
          <p:nvPr userDrawn="1"/>
        </p:nvSpPr>
        <p:spPr bwMode="gray">
          <a:xfrm>
            <a:off x="1" y="0"/>
            <a:ext cx="12184231" cy="6858000"/>
          </a:xfrm>
          <a:prstGeom prst="rect">
            <a:avLst/>
          </a:prstGeom>
          <a:gradFill flip="none" rotWithShape="1">
            <a:gsLst>
              <a:gs pos="14000">
                <a:srgbClr val="000000">
                  <a:alpha val="77000"/>
                </a:srgbClr>
              </a:gs>
              <a:gs pos="81000">
                <a:srgbClr val="000000">
                  <a:alpha val="0"/>
                </a:srgbClr>
              </a:gs>
            </a:gsLst>
            <a:lin ang="19800000" scaled="0"/>
            <a:tileRect/>
          </a:gra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P Simplified Light"/>
              <a:ea typeface="+mn-ea"/>
              <a:cs typeface="+mn-cs"/>
            </a:endParaRPr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266EC611-07B7-4E00-BA91-E3680D2CF680}"/>
              </a:ext>
            </a:extLst>
          </p:cNvPr>
          <p:cNvSpPr>
            <a:spLocks noChangeAspect="1" noEditPoints="1"/>
          </p:cNvSpPr>
          <p:nvPr userDrawn="1"/>
        </p:nvSpPr>
        <p:spPr bwMode="white">
          <a:xfrm>
            <a:off x="708437" y="607610"/>
            <a:ext cx="812588" cy="812588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BED9B52-1E13-4865-AE50-0121280589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702381" y="2763520"/>
            <a:ext cx="6469518" cy="1554480"/>
          </a:xfrm>
        </p:spPr>
        <p:txBody>
          <a:bodyPr anchor="b"/>
          <a:lstStyle>
            <a:lvl1pPr algn="l">
              <a:defRPr sz="5800" cap="none" spc="-1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D8692FA-AB95-480D-84FC-6A2C821772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702381" y="4419600"/>
            <a:ext cx="6469518" cy="347994"/>
          </a:xfrm>
        </p:spPr>
        <p:txBody>
          <a:bodyPr>
            <a:noAutofit/>
          </a:bodyPr>
          <a:lstStyle>
            <a:lvl1pPr marL="0" indent="0" algn="l">
              <a:spcBef>
                <a:spcPts val="6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Presenter’s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C60CEFB-0505-4258-B248-6C5DEF2E68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702538" y="4836979"/>
            <a:ext cx="6469333" cy="336486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Presenter’s Title</a:t>
            </a:r>
          </a:p>
        </p:txBody>
      </p:sp>
    </p:spTree>
    <p:extLst>
      <p:ext uri="{BB962C8B-B14F-4D97-AF65-F5344CB8AC3E}">
        <p14:creationId xmlns:p14="http://schemas.microsoft.com/office/powerpoint/2010/main" val="16872239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2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plant&#10;&#10;Description automatically generated">
            <a:extLst>
              <a:ext uri="{FF2B5EF4-FFF2-40B4-BE49-F238E27FC236}">
                <a16:creationId xmlns:a16="http://schemas.microsoft.com/office/drawing/2014/main" id="{D30CC21D-CF13-4129-8518-9E096F53E8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7E4D60D-56B2-4486-B8FC-5987AF5EE0D2}"/>
              </a:ext>
            </a:extLst>
          </p:cNvPr>
          <p:cNvSpPr/>
          <p:nvPr userDrawn="1"/>
        </p:nvSpPr>
        <p:spPr bwMode="gray">
          <a:xfrm>
            <a:off x="-6228" y="0"/>
            <a:ext cx="12184231" cy="6858000"/>
          </a:xfrm>
          <a:prstGeom prst="rect">
            <a:avLst/>
          </a:prstGeom>
          <a:gradFill flip="none" rotWithShape="1">
            <a:gsLst>
              <a:gs pos="14000">
                <a:srgbClr val="000000">
                  <a:alpha val="77000"/>
                </a:srgbClr>
              </a:gs>
              <a:gs pos="81000">
                <a:srgbClr val="000000">
                  <a:alpha val="0"/>
                </a:srgbClr>
              </a:gs>
            </a:gsLst>
            <a:lin ang="19800000" scaled="0"/>
            <a:tileRect/>
          </a:gra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P Simplified Light"/>
              <a:ea typeface="+mn-ea"/>
              <a:cs typeface="+mn-cs"/>
            </a:endParaRPr>
          </a:p>
        </p:txBody>
      </p:sp>
      <p:sp>
        <p:nvSpPr>
          <p:cNvPr id="19" name="logo">
            <a:extLst>
              <a:ext uri="{FF2B5EF4-FFF2-40B4-BE49-F238E27FC236}">
                <a16:creationId xmlns:a16="http://schemas.microsoft.com/office/drawing/2014/main" id="{540F5F4D-C8D9-4F17-902F-E86F2C3299C8}"/>
              </a:ext>
            </a:extLst>
          </p:cNvPr>
          <p:cNvSpPr>
            <a:spLocks noChangeAspect="1" noEditPoints="1"/>
          </p:cNvSpPr>
          <p:nvPr userDrawn="1"/>
        </p:nvSpPr>
        <p:spPr bwMode="white">
          <a:xfrm>
            <a:off x="708437" y="607610"/>
            <a:ext cx="812588" cy="812588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2903740-DA20-4962-8EE1-1F7D8182872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702381" y="2763520"/>
            <a:ext cx="6469518" cy="1554480"/>
          </a:xfrm>
        </p:spPr>
        <p:txBody>
          <a:bodyPr anchor="b"/>
          <a:lstStyle>
            <a:lvl1pPr algn="l">
              <a:defRPr sz="5800" cap="none" spc="-1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F900406F-5223-4274-A191-D451904793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702381" y="4419600"/>
            <a:ext cx="6469518" cy="347994"/>
          </a:xfrm>
        </p:spPr>
        <p:txBody>
          <a:bodyPr>
            <a:noAutofit/>
          </a:bodyPr>
          <a:lstStyle>
            <a:lvl1pPr marL="0" indent="0" algn="l">
              <a:spcBef>
                <a:spcPts val="6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Presenter’s Name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F320C58-FA2E-4A99-88CF-387D22343C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702538" y="4836979"/>
            <a:ext cx="6469333" cy="336486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Presenter’s Title</a:t>
            </a:r>
          </a:p>
        </p:txBody>
      </p:sp>
    </p:spTree>
    <p:extLst>
      <p:ext uri="{BB962C8B-B14F-4D97-AF65-F5344CB8AC3E}">
        <p14:creationId xmlns:p14="http://schemas.microsoft.com/office/powerpoint/2010/main" val="7990763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plant&#10;&#10;Description automatically generated">
            <a:extLst>
              <a:ext uri="{FF2B5EF4-FFF2-40B4-BE49-F238E27FC236}">
                <a16:creationId xmlns:a16="http://schemas.microsoft.com/office/drawing/2014/main" id="{621CF292-09CE-43C8-B8BF-8295EAA8AC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7E4D60D-56B2-4486-B8FC-5987AF5EE0D2}"/>
              </a:ext>
            </a:extLst>
          </p:cNvPr>
          <p:cNvSpPr/>
          <p:nvPr userDrawn="1"/>
        </p:nvSpPr>
        <p:spPr bwMode="gray">
          <a:xfrm>
            <a:off x="-6228" y="0"/>
            <a:ext cx="12184231" cy="6858000"/>
          </a:xfrm>
          <a:prstGeom prst="rect">
            <a:avLst/>
          </a:prstGeom>
          <a:gradFill flip="none" rotWithShape="1">
            <a:gsLst>
              <a:gs pos="14000">
                <a:srgbClr val="000000">
                  <a:alpha val="77000"/>
                </a:srgbClr>
              </a:gs>
              <a:gs pos="81000">
                <a:srgbClr val="000000">
                  <a:alpha val="0"/>
                </a:srgbClr>
              </a:gs>
            </a:gsLst>
            <a:lin ang="19800000" scaled="0"/>
            <a:tileRect/>
          </a:gra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P Simplified Light"/>
              <a:ea typeface="+mn-ea"/>
              <a:cs typeface="+mn-cs"/>
            </a:endParaRPr>
          </a:p>
        </p:txBody>
      </p:sp>
      <p:sp>
        <p:nvSpPr>
          <p:cNvPr id="19" name="logo">
            <a:extLst>
              <a:ext uri="{FF2B5EF4-FFF2-40B4-BE49-F238E27FC236}">
                <a16:creationId xmlns:a16="http://schemas.microsoft.com/office/drawing/2014/main" id="{540F5F4D-C8D9-4F17-902F-E86F2C3299C8}"/>
              </a:ext>
            </a:extLst>
          </p:cNvPr>
          <p:cNvSpPr>
            <a:spLocks noChangeAspect="1" noEditPoints="1"/>
          </p:cNvSpPr>
          <p:nvPr userDrawn="1"/>
        </p:nvSpPr>
        <p:spPr bwMode="white">
          <a:xfrm>
            <a:off x="708437" y="607610"/>
            <a:ext cx="812588" cy="812588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26FD7B3-EB20-40AA-A62A-2BB47177A2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702381" y="2763520"/>
            <a:ext cx="6469518" cy="1554480"/>
          </a:xfrm>
        </p:spPr>
        <p:txBody>
          <a:bodyPr anchor="b"/>
          <a:lstStyle>
            <a:lvl1pPr algn="l">
              <a:defRPr sz="5800" cap="none" spc="-1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859DC96-E662-4C0E-A1B2-1C37D034C83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702381" y="4419600"/>
            <a:ext cx="6469518" cy="347994"/>
          </a:xfrm>
        </p:spPr>
        <p:txBody>
          <a:bodyPr>
            <a:noAutofit/>
          </a:bodyPr>
          <a:lstStyle>
            <a:lvl1pPr marL="0" indent="0" algn="l">
              <a:spcBef>
                <a:spcPts val="6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Presenter’s Name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2A21EEDC-06C0-4890-9744-0B572A76C0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702538" y="4836979"/>
            <a:ext cx="6469333" cy="336486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Presenter’s Title</a:t>
            </a:r>
          </a:p>
        </p:txBody>
      </p:sp>
    </p:spTree>
    <p:extLst>
      <p:ext uri="{BB962C8B-B14F-4D97-AF65-F5344CB8AC3E}">
        <p14:creationId xmlns:p14="http://schemas.microsoft.com/office/powerpoint/2010/main" val="3838045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4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nature&#10;&#10;Description automatically generated">
            <a:extLst>
              <a:ext uri="{FF2B5EF4-FFF2-40B4-BE49-F238E27FC236}">
                <a16:creationId xmlns:a16="http://schemas.microsoft.com/office/drawing/2014/main" id="{26156FFF-CFE6-429A-A0F7-E6B9DBDC3B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211232" cy="6858000"/>
          </a:xfrm>
          <a:prstGeom prst="rect">
            <a:avLst/>
          </a:prstGeom>
        </p:spPr>
      </p:pic>
      <p:sp>
        <p:nvSpPr>
          <p:cNvPr id="19" name="logo">
            <a:extLst>
              <a:ext uri="{FF2B5EF4-FFF2-40B4-BE49-F238E27FC236}">
                <a16:creationId xmlns:a16="http://schemas.microsoft.com/office/drawing/2014/main" id="{540F5F4D-C8D9-4F17-902F-E86F2C3299C8}"/>
              </a:ext>
            </a:extLst>
          </p:cNvPr>
          <p:cNvSpPr>
            <a:spLocks noChangeAspect="1" noEditPoints="1"/>
          </p:cNvSpPr>
          <p:nvPr userDrawn="1"/>
        </p:nvSpPr>
        <p:spPr bwMode="white">
          <a:xfrm>
            <a:off x="708437" y="607610"/>
            <a:ext cx="812588" cy="812588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CCB0548-36FA-4DB8-9916-F6688652DB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702381" y="2763520"/>
            <a:ext cx="6469518" cy="1554480"/>
          </a:xfrm>
        </p:spPr>
        <p:txBody>
          <a:bodyPr anchor="b"/>
          <a:lstStyle>
            <a:lvl1pPr algn="l">
              <a:defRPr sz="5800" cap="none" spc="-1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332165A-83F6-43A4-90C2-56BC237D8D2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702381" y="4419600"/>
            <a:ext cx="6469518" cy="347994"/>
          </a:xfrm>
        </p:spPr>
        <p:txBody>
          <a:bodyPr>
            <a:noAutofit/>
          </a:bodyPr>
          <a:lstStyle>
            <a:lvl1pPr marL="0" indent="0" algn="l">
              <a:spcBef>
                <a:spcPts val="6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Presenter’s Name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3E149DEC-6C23-4AB8-BAFE-EE858208D0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702538" y="4836979"/>
            <a:ext cx="6469333" cy="336486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Presenter’s Title</a:t>
            </a:r>
          </a:p>
        </p:txBody>
      </p:sp>
    </p:spTree>
    <p:extLst>
      <p:ext uri="{BB962C8B-B14F-4D97-AF65-F5344CB8AC3E}">
        <p14:creationId xmlns:p14="http://schemas.microsoft.com/office/powerpoint/2010/main" val="2864140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5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32FBE8-C050-4F8A-AE9B-F33817F4B9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893"/>
            <a:ext cx="12188825" cy="685621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7E4D60D-56B2-4486-B8FC-5987AF5EE0D2}"/>
              </a:ext>
            </a:extLst>
          </p:cNvPr>
          <p:cNvSpPr/>
          <p:nvPr userDrawn="1"/>
        </p:nvSpPr>
        <p:spPr bwMode="gray">
          <a:xfrm>
            <a:off x="-6228" y="0"/>
            <a:ext cx="12184231" cy="6858000"/>
          </a:xfrm>
          <a:prstGeom prst="rect">
            <a:avLst/>
          </a:prstGeom>
          <a:gradFill flip="none" rotWithShape="1">
            <a:gsLst>
              <a:gs pos="14000">
                <a:srgbClr val="000000">
                  <a:alpha val="77000"/>
                </a:srgbClr>
              </a:gs>
              <a:gs pos="81000">
                <a:srgbClr val="000000">
                  <a:alpha val="0"/>
                </a:srgbClr>
              </a:gs>
            </a:gsLst>
            <a:lin ang="19800000" scaled="0"/>
            <a:tileRect/>
          </a:gra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P Simplified Light"/>
              <a:ea typeface="+mn-ea"/>
              <a:cs typeface="+mn-cs"/>
            </a:endParaRPr>
          </a:p>
        </p:txBody>
      </p:sp>
      <p:sp>
        <p:nvSpPr>
          <p:cNvPr id="19" name="logo">
            <a:extLst>
              <a:ext uri="{FF2B5EF4-FFF2-40B4-BE49-F238E27FC236}">
                <a16:creationId xmlns:a16="http://schemas.microsoft.com/office/drawing/2014/main" id="{540F5F4D-C8D9-4F17-902F-E86F2C3299C8}"/>
              </a:ext>
            </a:extLst>
          </p:cNvPr>
          <p:cNvSpPr>
            <a:spLocks noChangeAspect="1" noEditPoints="1"/>
          </p:cNvSpPr>
          <p:nvPr userDrawn="1"/>
        </p:nvSpPr>
        <p:spPr bwMode="white">
          <a:xfrm>
            <a:off x="708437" y="607610"/>
            <a:ext cx="812588" cy="812588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0DCBB09-3343-4574-95CE-94C3E295145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702381" y="2763520"/>
            <a:ext cx="6469518" cy="1554480"/>
          </a:xfrm>
        </p:spPr>
        <p:txBody>
          <a:bodyPr anchor="b"/>
          <a:lstStyle>
            <a:lvl1pPr algn="l">
              <a:defRPr sz="5800" cap="none" spc="-1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7E2635C-E51B-41BB-B0AD-D6AA07D0B6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702381" y="4419600"/>
            <a:ext cx="6469518" cy="347994"/>
          </a:xfrm>
        </p:spPr>
        <p:txBody>
          <a:bodyPr>
            <a:noAutofit/>
          </a:bodyPr>
          <a:lstStyle>
            <a:lvl1pPr marL="0" indent="0" algn="l">
              <a:spcBef>
                <a:spcPts val="6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Presenter’s Name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92BA8E34-A430-4300-9D0C-B074FBD43D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702538" y="4836979"/>
            <a:ext cx="6469333" cy="336486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Presenter’s Title</a:t>
            </a:r>
          </a:p>
        </p:txBody>
      </p:sp>
    </p:spTree>
    <p:extLst>
      <p:ext uri="{BB962C8B-B14F-4D97-AF65-F5344CB8AC3E}">
        <p14:creationId xmlns:p14="http://schemas.microsoft.com/office/powerpoint/2010/main" val="2761433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84C9396-92E7-40DD-8583-8C4E39A8CFCB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317191" y="297923"/>
            <a:ext cx="5797378" cy="6248400"/>
          </a:xfrm>
          <a:solidFill>
            <a:schemeClr val="bg1">
              <a:lumMod val="85000"/>
            </a:schemeClr>
          </a:solidFill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A9A0C6-FD02-4AC4-915D-55B7BC9AEAC7}"/>
              </a:ext>
            </a:extLst>
          </p:cNvPr>
          <p:cNvSpPr/>
          <p:nvPr userDrawn="1"/>
        </p:nvSpPr>
        <p:spPr>
          <a:xfrm>
            <a:off x="6100589" y="0"/>
            <a:ext cx="6088236" cy="6858000"/>
          </a:xfrm>
          <a:prstGeom prst="rect">
            <a:avLst/>
          </a:prstGeom>
          <a:solidFill>
            <a:schemeClr val="accent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>
              <a:solidFill>
                <a:schemeClr val="accent3"/>
              </a:solidFill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5D00B70-8403-49ED-93C9-E2CCA22A260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6789116" y="707870"/>
            <a:ext cx="2442600" cy="812588"/>
          </a:xfrm>
        </p:spPr>
        <p:txBody>
          <a:bodyPr anchor="b"/>
          <a:lstStyle>
            <a:lvl1pPr algn="l">
              <a:defRPr sz="5800" cap="none" spc="-1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672F7381-DA05-4427-85E5-121F8A09FA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789117" y="1934043"/>
            <a:ext cx="5001760" cy="400338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  <a:defRPr sz="2200" b="0" cap="none" spc="0" baseline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1800"/>
            </a:lvl2pPr>
            <a:lvl3pPr marL="0" indent="0">
              <a:spcBef>
                <a:spcPts val="0"/>
              </a:spcBef>
              <a:buNone/>
              <a:defRPr sz="1800"/>
            </a:lvl3pPr>
            <a:lvl4pPr marL="0" indent="0">
              <a:spcBef>
                <a:spcPts val="0"/>
              </a:spcBef>
              <a:buNone/>
              <a:defRPr sz="1800"/>
            </a:lvl4pPr>
            <a:lvl5pPr marL="0" indent="0">
              <a:spcBef>
                <a:spcPts val="0"/>
              </a:spcBef>
              <a:buNone/>
              <a:defRPr sz="1800"/>
            </a:lvl5pPr>
            <a:lvl6pPr marL="0" indent="0">
              <a:spcBef>
                <a:spcPts val="0"/>
              </a:spcBef>
              <a:buNone/>
              <a:defRPr sz="1800"/>
            </a:lvl6pPr>
            <a:lvl7pPr marL="0" indent="0">
              <a:spcBef>
                <a:spcPts val="0"/>
              </a:spcBef>
              <a:buNone/>
              <a:defRPr sz="1800"/>
            </a:lvl7pPr>
            <a:lvl8pPr marL="0" indent="0">
              <a:spcBef>
                <a:spcPts val="0"/>
              </a:spcBef>
              <a:buNone/>
              <a:defRPr sz="1800"/>
            </a:lvl8pPr>
            <a:lvl9pPr marL="0" indent="0">
              <a:spcBef>
                <a:spcPts val="0"/>
              </a:spcBef>
              <a:buNone/>
              <a:defRPr sz="1800"/>
            </a:lvl9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ECB6B607-0B92-4D4F-AAEB-4C8BD8686C33}"/>
              </a:ext>
            </a:extLst>
          </p:cNvPr>
          <p:cNvSpPr>
            <a:spLocks noChangeAspect="1" noEditPoints="1"/>
          </p:cNvSpPr>
          <p:nvPr userDrawn="1"/>
        </p:nvSpPr>
        <p:spPr bwMode="white">
          <a:xfrm>
            <a:off x="11515018" y="6189707"/>
            <a:ext cx="356616" cy="356616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B93C9211-4EC9-4432-9E5A-ADA1F6346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2899" y="6266008"/>
            <a:ext cx="2695501" cy="2194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724B6A21-0A92-46EE-8A3C-2A8C64D7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4213" y="6266008"/>
            <a:ext cx="175018" cy="2194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DE720E-C72B-42F0-AD69-52D60E3C60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8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2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788D4B3C-DE92-4D9D-8035-8F093D4A52A4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317191" y="297923"/>
            <a:ext cx="5797378" cy="6248400"/>
          </a:xfrm>
          <a:solidFill>
            <a:schemeClr val="bg1">
              <a:lumMod val="85000"/>
            </a:schemeClr>
          </a:solidFill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A9A0C6-FD02-4AC4-915D-55B7BC9AEAC7}"/>
              </a:ext>
            </a:extLst>
          </p:cNvPr>
          <p:cNvSpPr/>
          <p:nvPr userDrawn="1"/>
        </p:nvSpPr>
        <p:spPr>
          <a:xfrm>
            <a:off x="6094412" y="0"/>
            <a:ext cx="6088235" cy="6858000"/>
          </a:xfrm>
          <a:prstGeom prst="rect">
            <a:avLst/>
          </a:prstGeom>
          <a:solidFill>
            <a:schemeClr val="bg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>
              <a:solidFill>
                <a:schemeClr val="accent3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306FEBA-C7EA-42C5-835B-F180B2515E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6782939" y="707870"/>
            <a:ext cx="2442600" cy="812588"/>
          </a:xfrm>
        </p:spPr>
        <p:txBody>
          <a:bodyPr anchor="b"/>
          <a:lstStyle>
            <a:lvl1pPr algn="l">
              <a:defRPr sz="5800" cap="none" spc="-10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29F3296-F232-4CE3-8B92-E84CA4D59F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782940" y="1934043"/>
            <a:ext cx="5001760" cy="400338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  <a:defRPr sz="2200" b="0" cap="none" spc="0" baseline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1800"/>
            </a:lvl2pPr>
            <a:lvl3pPr marL="0" indent="0">
              <a:spcBef>
                <a:spcPts val="0"/>
              </a:spcBef>
              <a:buNone/>
              <a:defRPr sz="1800"/>
            </a:lvl3pPr>
            <a:lvl4pPr marL="0" indent="0">
              <a:spcBef>
                <a:spcPts val="0"/>
              </a:spcBef>
              <a:buNone/>
              <a:defRPr sz="1800"/>
            </a:lvl4pPr>
            <a:lvl5pPr marL="0" indent="0">
              <a:spcBef>
                <a:spcPts val="0"/>
              </a:spcBef>
              <a:buNone/>
              <a:defRPr sz="1800"/>
            </a:lvl5pPr>
            <a:lvl6pPr marL="0" indent="0">
              <a:spcBef>
                <a:spcPts val="0"/>
              </a:spcBef>
              <a:buNone/>
              <a:defRPr sz="1800"/>
            </a:lvl6pPr>
            <a:lvl7pPr marL="0" indent="0">
              <a:spcBef>
                <a:spcPts val="0"/>
              </a:spcBef>
              <a:buNone/>
              <a:defRPr sz="1800"/>
            </a:lvl7pPr>
            <a:lvl8pPr marL="0" indent="0">
              <a:spcBef>
                <a:spcPts val="0"/>
              </a:spcBef>
              <a:buNone/>
              <a:defRPr sz="1800"/>
            </a:lvl8pPr>
            <a:lvl9pPr marL="0" indent="0">
              <a:spcBef>
                <a:spcPts val="0"/>
              </a:spcBef>
              <a:buNone/>
              <a:defRPr sz="1800"/>
            </a:lvl9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398CF219-EEE8-4BA2-8814-AC3ABA760B4B}"/>
              </a:ext>
            </a:extLst>
          </p:cNvPr>
          <p:cNvSpPr>
            <a:spLocks noChangeAspect="1" noEditPoints="1"/>
          </p:cNvSpPr>
          <p:nvPr userDrawn="1"/>
        </p:nvSpPr>
        <p:spPr bwMode="white">
          <a:xfrm>
            <a:off x="11515018" y="6189707"/>
            <a:ext cx="356616" cy="356616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703E4D55-9AAF-46BF-A936-FF82A30F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2899" y="6266008"/>
            <a:ext cx="2695501" cy="2194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65AC486-323A-40A9-9EF8-963E08AFF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4213" y="6266008"/>
            <a:ext cx="175018" cy="2194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DE720E-C72B-42F0-AD69-52D60E3C60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559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6F36FCD-8103-4A6A-8661-58A9BF6D9D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411553" y="1798100"/>
            <a:ext cx="9570125" cy="2743200"/>
          </a:xfrm>
        </p:spPr>
        <p:txBody>
          <a:bodyPr anchor="b"/>
          <a:lstStyle>
            <a:lvl1pPr marL="347663" indent="-347663" algn="l">
              <a:defRPr sz="7000" b="0" cap="none" spc="-100" baseline="0"/>
            </a:lvl1pPr>
          </a:lstStyle>
          <a:p>
            <a:r>
              <a:t>“Click to add quote here. </a:t>
            </a:r>
            <a:br>
              <a:rPr lang="en-US"/>
            </a:br>
            <a:r>
              <a:t>Type quotation marks</a:t>
            </a:r>
            <a:br>
              <a:rPr lang="en-US"/>
            </a:br>
            <a:r>
              <a:t>before</a:t>
            </a:r>
            <a:r>
              <a:rPr lang="en-US"/>
              <a:t> </a:t>
            </a:r>
            <a:r>
              <a:t>and after text.”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A297A0B-3969-43F0-802E-F17A9DDC5CD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795724" y="4776558"/>
            <a:ext cx="9380688" cy="401782"/>
          </a:xfrm>
        </p:spPr>
        <p:txBody>
          <a:bodyPr anchor="t">
            <a:noAutofit/>
          </a:bodyPr>
          <a:lstStyle>
            <a:lvl1pPr marL="0" indent="0">
              <a:spcBef>
                <a:spcPts val="60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add quoted person’s name, title, company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B7F5BFC-2399-4695-8504-0E2EB5A47C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1012899" y="6266008"/>
            <a:ext cx="3657600" cy="21945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0003202-D976-4291-9D28-F472C89F6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684213" y="6266008"/>
            <a:ext cx="175018" cy="21945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0DE720E-C72B-42F0-AD69-52D60E3C60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0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992">
          <p15:clr>
            <a:srgbClr val="FBAE40"/>
          </p15:clr>
        </p15:guide>
        <p15:guide id="2" pos="182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65EFBF9D-BCCF-420A-B35E-DD55A8AA954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17191" y="297923"/>
            <a:ext cx="5797378" cy="6248400"/>
          </a:xfrm>
          <a:solidFill>
            <a:schemeClr val="bg1">
              <a:lumMod val="85000"/>
            </a:schemeClr>
          </a:solidFill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3EA34B-6A79-4D04-B5D6-D2FE3B9215D6}"/>
              </a:ext>
            </a:extLst>
          </p:cNvPr>
          <p:cNvSpPr/>
          <p:nvPr userDrawn="1"/>
        </p:nvSpPr>
        <p:spPr bwMode="gray">
          <a:xfrm>
            <a:off x="6087486" y="0"/>
            <a:ext cx="6094412" cy="6858000"/>
          </a:xfrm>
          <a:prstGeom prst="rect">
            <a:avLst/>
          </a:prstGeom>
          <a:solidFill>
            <a:srgbClr val="9FFFE7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>
              <a:solidFill>
                <a:schemeClr val="accent3"/>
              </a:solidFill>
            </a:endParaRP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741039" y="5435737"/>
            <a:ext cx="4801674" cy="193899"/>
          </a:xfrm>
        </p:spPr>
        <p:txBody>
          <a:bodyPr>
            <a:spAutoFit/>
          </a:bodyPr>
          <a:lstStyle>
            <a:lvl1pPr marL="0" indent="0">
              <a:buClr>
                <a:schemeClr val="accent3"/>
              </a:buClr>
              <a:buNone/>
              <a:defRPr sz="1400" b="1" cap="all" spc="200" baseline="0">
                <a:solidFill>
                  <a:schemeClr val="bg2"/>
                </a:solidFill>
                <a:latin typeface="+mj-lt"/>
              </a:defRPr>
            </a:lvl1pPr>
            <a:lvl2pPr marL="228600" indent="0">
              <a:buNone/>
              <a:defRPr sz="1600"/>
            </a:lvl2pPr>
            <a:lvl3pPr marL="411480" indent="0">
              <a:buClr>
                <a:schemeClr val="accent3"/>
              </a:buClr>
              <a:buNone/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r>
              <a:rPr lang="en-US"/>
              <a:t>QUOTED PERSON’S NAME, TITLE, COMPANY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94CC7CF-3042-47A8-A35F-B8076F69E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71231" y="2802503"/>
            <a:ext cx="5071482" cy="2506264"/>
          </a:xfrm>
        </p:spPr>
        <p:txBody>
          <a:bodyPr anchor="b">
            <a:spAutoFit/>
          </a:bodyPr>
          <a:lstStyle>
            <a:lvl1pPr marL="287338" indent="-287338" algn="l">
              <a:defRPr sz="6000" b="0" cap="none" spc="-1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“</a:t>
            </a:r>
            <a:r>
              <a:t>Type quotation marks</a:t>
            </a:r>
            <a:r>
              <a:rPr lang="en-US"/>
              <a:t> </a:t>
            </a:r>
            <a:r>
              <a:t>before</a:t>
            </a:r>
            <a:r>
              <a:rPr lang="en-US"/>
              <a:t> </a:t>
            </a:r>
            <a:r>
              <a:t>and after text.”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53C543FC-D9A8-4C34-8A00-99E23CBDF3A4}"/>
              </a:ext>
            </a:extLst>
          </p:cNvPr>
          <p:cNvSpPr>
            <a:spLocks noChangeAspect="1" noEditPoints="1"/>
          </p:cNvSpPr>
          <p:nvPr userDrawn="1"/>
        </p:nvSpPr>
        <p:spPr bwMode="gray">
          <a:xfrm>
            <a:off x="11515018" y="6189707"/>
            <a:ext cx="356616" cy="356616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gray">
          <a:xfrm>
            <a:off x="1012899" y="6266008"/>
            <a:ext cx="3657600" cy="2194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gray">
          <a:xfrm>
            <a:off x="684213" y="6266008"/>
            <a:ext cx="175018" cy="2194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DE720E-C72B-42F0-AD69-52D60E3C60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94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B2CF612E-EAF0-4A23-B08E-A7EE51FF57E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90108" y="304801"/>
            <a:ext cx="5797378" cy="6248400"/>
          </a:xfrm>
          <a:solidFill>
            <a:schemeClr val="bg1">
              <a:lumMod val="85000"/>
            </a:schemeClr>
          </a:solidFill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747644-569E-4941-9BB3-D3456E350F3D}"/>
              </a:ext>
            </a:extLst>
          </p:cNvPr>
          <p:cNvSpPr/>
          <p:nvPr userDrawn="1"/>
        </p:nvSpPr>
        <p:spPr bwMode="gray">
          <a:xfrm>
            <a:off x="6087486" y="0"/>
            <a:ext cx="6094412" cy="6858000"/>
          </a:xfrm>
          <a:prstGeom prst="rect">
            <a:avLst/>
          </a:prstGeom>
          <a:solidFill>
            <a:schemeClr val="bg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>
              <a:solidFill>
                <a:schemeClr val="accent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gray">
          <a:xfrm>
            <a:off x="1012899" y="6266008"/>
            <a:ext cx="3657600" cy="2194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gray">
          <a:xfrm>
            <a:off x="684213" y="6266008"/>
            <a:ext cx="175018" cy="2194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DE720E-C72B-42F0-AD69-52D60E3C605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741039" y="5435737"/>
            <a:ext cx="4801674" cy="193899"/>
          </a:xfrm>
        </p:spPr>
        <p:txBody>
          <a:bodyPr>
            <a:spAutoFit/>
          </a:bodyPr>
          <a:lstStyle>
            <a:lvl1pPr marL="0" indent="0">
              <a:buClr>
                <a:schemeClr val="accent3"/>
              </a:buClr>
              <a:buNone/>
              <a:defRPr sz="1400" b="1" cap="all" spc="200" baseline="0">
                <a:solidFill>
                  <a:schemeClr val="accent4"/>
                </a:solidFill>
                <a:latin typeface="+mj-lt"/>
              </a:defRPr>
            </a:lvl1pPr>
            <a:lvl2pPr marL="228600" indent="0">
              <a:buNone/>
              <a:defRPr sz="1600"/>
            </a:lvl2pPr>
            <a:lvl3pPr marL="411480" indent="0">
              <a:buClr>
                <a:schemeClr val="accent3"/>
              </a:buClr>
              <a:buNone/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r>
              <a:rPr lang="en-US"/>
              <a:t>QUOTED PERSON’S NAME, TITLE, COMPANY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94CC7CF-3042-47A8-A35F-B8076F69E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71231" y="2802503"/>
            <a:ext cx="5071482" cy="2506264"/>
          </a:xfrm>
        </p:spPr>
        <p:txBody>
          <a:bodyPr anchor="b">
            <a:spAutoFit/>
          </a:bodyPr>
          <a:lstStyle>
            <a:lvl1pPr marL="287338" indent="-287338" algn="l">
              <a:defRPr sz="6000" b="0" cap="none" spc="-100" baseline="0">
                <a:solidFill>
                  <a:schemeClr val="accent4"/>
                </a:solidFill>
              </a:defRPr>
            </a:lvl1pPr>
          </a:lstStyle>
          <a:p>
            <a:r>
              <a:rPr lang="en-US"/>
              <a:t>“</a:t>
            </a:r>
            <a:r>
              <a:t>Type quotation marks</a:t>
            </a:r>
            <a:r>
              <a:rPr lang="en-US"/>
              <a:t> </a:t>
            </a:r>
            <a:r>
              <a:t>before</a:t>
            </a:r>
            <a:r>
              <a:rPr lang="en-US"/>
              <a:t> </a:t>
            </a:r>
            <a:r>
              <a:t>and after text.”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E4E800F2-98A1-4FD5-9F9B-1606409A23F7}"/>
              </a:ext>
            </a:extLst>
          </p:cNvPr>
          <p:cNvSpPr>
            <a:spLocks noChangeAspect="1" noEditPoints="1"/>
          </p:cNvSpPr>
          <p:nvPr userDrawn="1"/>
        </p:nvSpPr>
        <p:spPr bwMode="white">
          <a:xfrm>
            <a:off x="11515018" y="6189707"/>
            <a:ext cx="356616" cy="356616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717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D1021121-8562-4473-8070-6B2DC4EBAD8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90108" y="304801"/>
            <a:ext cx="5797378" cy="6248400"/>
          </a:xfrm>
          <a:solidFill>
            <a:schemeClr val="bg1">
              <a:lumMod val="85000"/>
            </a:schemeClr>
          </a:solidFill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88EEE8-10B4-4AC1-8E09-475700447987}"/>
              </a:ext>
            </a:extLst>
          </p:cNvPr>
          <p:cNvSpPr/>
          <p:nvPr userDrawn="1"/>
        </p:nvSpPr>
        <p:spPr bwMode="gray">
          <a:xfrm>
            <a:off x="6087486" y="0"/>
            <a:ext cx="6094412" cy="6858000"/>
          </a:xfrm>
          <a:prstGeom prst="rect">
            <a:avLst/>
          </a:prstGeom>
          <a:solidFill>
            <a:schemeClr val="bg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>
              <a:solidFill>
                <a:schemeClr val="accent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gray">
          <a:xfrm>
            <a:off x="1012899" y="6266008"/>
            <a:ext cx="3657600" cy="2194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gray">
          <a:xfrm>
            <a:off x="684213" y="6266008"/>
            <a:ext cx="175018" cy="2194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DE720E-C72B-42F0-AD69-52D60E3C605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741039" y="5435737"/>
            <a:ext cx="4801674" cy="193899"/>
          </a:xfrm>
        </p:spPr>
        <p:txBody>
          <a:bodyPr>
            <a:spAutoFit/>
          </a:bodyPr>
          <a:lstStyle>
            <a:lvl1pPr marL="0" indent="0">
              <a:buClr>
                <a:schemeClr val="accent3"/>
              </a:buClr>
              <a:buNone/>
              <a:defRPr sz="1400" b="1" cap="all" spc="200" baseline="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1600"/>
            </a:lvl2pPr>
            <a:lvl3pPr marL="411480" indent="0">
              <a:buClr>
                <a:schemeClr val="accent3"/>
              </a:buClr>
              <a:buNone/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r>
              <a:rPr lang="en-US"/>
              <a:t>QUOTED PERSON’S NAME, TITLE, COMPANY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94CC7CF-3042-47A8-A35F-B8076F69E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71231" y="2802503"/>
            <a:ext cx="5071482" cy="2506264"/>
          </a:xfrm>
        </p:spPr>
        <p:txBody>
          <a:bodyPr anchor="b">
            <a:spAutoFit/>
          </a:bodyPr>
          <a:lstStyle>
            <a:lvl1pPr marL="287338" indent="-287338" algn="l">
              <a:defRPr sz="6000" b="0" cap="none" spc="-100"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“</a:t>
            </a:r>
            <a:r>
              <a:t>Type quotation marks</a:t>
            </a:r>
            <a:r>
              <a:rPr lang="en-US"/>
              <a:t> </a:t>
            </a:r>
            <a:r>
              <a:t>before</a:t>
            </a:r>
            <a:r>
              <a:rPr lang="en-US"/>
              <a:t> </a:t>
            </a:r>
            <a:r>
              <a:t>and after text.”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0DF14D17-052E-4D2E-A7AC-5BDEB1321BEC}"/>
              </a:ext>
            </a:extLst>
          </p:cNvPr>
          <p:cNvSpPr>
            <a:spLocks noChangeAspect="1" noEditPoints="1"/>
          </p:cNvSpPr>
          <p:nvPr userDrawn="1"/>
        </p:nvSpPr>
        <p:spPr bwMode="white">
          <a:xfrm>
            <a:off x="11515018" y="6189707"/>
            <a:ext cx="356616" cy="356616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602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B73B7254-29C2-4F85-BD8F-96E710D23BD2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90108" y="304801"/>
            <a:ext cx="5797378" cy="6248400"/>
          </a:xfrm>
          <a:solidFill>
            <a:schemeClr val="bg1">
              <a:lumMod val="85000"/>
            </a:schemeClr>
          </a:solidFill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EBB4B5-B654-4ACE-99FC-CE7DC9D8572A}"/>
              </a:ext>
            </a:extLst>
          </p:cNvPr>
          <p:cNvSpPr/>
          <p:nvPr userDrawn="1"/>
        </p:nvSpPr>
        <p:spPr bwMode="gray">
          <a:xfrm>
            <a:off x="6087486" y="0"/>
            <a:ext cx="6094412" cy="6858000"/>
          </a:xfrm>
          <a:prstGeom prst="rect">
            <a:avLst/>
          </a:prstGeom>
          <a:solidFill>
            <a:schemeClr val="accent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>
              <a:solidFill>
                <a:schemeClr val="accent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gray">
          <a:xfrm>
            <a:off x="1012899" y="6266008"/>
            <a:ext cx="3657600" cy="2194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gray">
          <a:xfrm>
            <a:off x="684213" y="6266008"/>
            <a:ext cx="175018" cy="2194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DE720E-C72B-42F0-AD69-52D60E3C605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4F0509DD-4134-49AD-9AEF-7EB05B4C04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741039" y="5435737"/>
            <a:ext cx="4801674" cy="193899"/>
          </a:xfrm>
        </p:spPr>
        <p:txBody>
          <a:bodyPr>
            <a:spAutoFit/>
          </a:bodyPr>
          <a:lstStyle>
            <a:lvl1pPr marL="0" indent="0">
              <a:buClr>
                <a:schemeClr val="accent3"/>
              </a:buClr>
              <a:buNone/>
              <a:defRPr sz="1400" b="1" cap="all" spc="200" baseline="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 sz="1600"/>
            </a:lvl2pPr>
            <a:lvl3pPr marL="411480" indent="0">
              <a:buClr>
                <a:schemeClr val="accent3"/>
              </a:buClr>
              <a:buNone/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r>
              <a:rPr lang="en-US"/>
              <a:t>QUOTED PERSON’S NAME, TITLE, COMPANY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BA54AA0-33BA-4E4F-A35E-7DCF2815F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71231" y="2802503"/>
            <a:ext cx="5071482" cy="2506264"/>
          </a:xfrm>
        </p:spPr>
        <p:txBody>
          <a:bodyPr anchor="b">
            <a:spAutoFit/>
          </a:bodyPr>
          <a:lstStyle>
            <a:lvl1pPr marL="287338" indent="-287338" algn="l">
              <a:defRPr sz="6000" b="0" cap="none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“</a:t>
            </a:r>
            <a:r>
              <a:t>Type quotation marks</a:t>
            </a:r>
            <a:r>
              <a:rPr lang="en-US"/>
              <a:t> </a:t>
            </a:r>
            <a:r>
              <a:t>before</a:t>
            </a:r>
            <a:r>
              <a:rPr lang="en-US"/>
              <a:t> </a:t>
            </a:r>
            <a:r>
              <a:t>and after text.”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E6895995-8F5E-4CC3-9D0C-B13FD35C4C1B}"/>
              </a:ext>
            </a:extLst>
          </p:cNvPr>
          <p:cNvSpPr>
            <a:spLocks noChangeAspect="1" noEditPoints="1"/>
          </p:cNvSpPr>
          <p:nvPr userDrawn="1"/>
        </p:nvSpPr>
        <p:spPr bwMode="white">
          <a:xfrm>
            <a:off x="11515018" y="6189707"/>
            <a:ext cx="356616" cy="356616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899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094B655A-8ABC-4F5E-8C97-7D00ED2C6AA6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90108" y="304801"/>
            <a:ext cx="5797378" cy="6248400"/>
          </a:xfrm>
          <a:solidFill>
            <a:schemeClr val="bg1">
              <a:lumMod val="85000"/>
            </a:schemeClr>
          </a:solidFill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28E1F8-AE6C-4CD2-9677-0DF498504E25}"/>
              </a:ext>
            </a:extLst>
          </p:cNvPr>
          <p:cNvSpPr/>
          <p:nvPr userDrawn="1"/>
        </p:nvSpPr>
        <p:spPr bwMode="gray">
          <a:xfrm>
            <a:off x="6087486" y="0"/>
            <a:ext cx="6094412" cy="6858000"/>
          </a:xfrm>
          <a:prstGeom prst="rect">
            <a:avLst/>
          </a:prstGeom>
          <a:solidFill>
            <a:schemeClr val="accent3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>
              <a:solidFill>
                <a:schemeClr val="accent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gray">
          <a:xfrm>
            <a:off x="1012899" y="6266008"/>
            <a:ext cx="3657600" cy="2194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gray">
          <a:xfrm>
            <a:off x="684213" y="6266008"/>
            <a:ext cx="175018" cy="2194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DE720E-C72B-42F0-AD69-52D60E3C605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526DA063-ABA6-4B45-947F-80D2191DD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741039" y="5435737"/>
            <a:ext cx="4801674" cy="193899"/>
          </a:xfrm>
        </p:spPr>
        <p:txBody>
          <a:bodyPr>
            <a:spAutoFit/>
          </a:bodyPr>
          <a:lstStyle>
            <a:lvl1pPr marL="0" indent="0">
              <a:buClr>
                <a:schemeClr val="accent3"/>
              </a:buClr>
              <a:buNone/>
              <a:defRPr sz="1400" b="1" cap="all" spc="200" baseline="0">
                <a:solidFill>
                  <a:schemeClr val="bg2"/>
                </a:solidFill>
                <a:latin typeface="+mj-lt"/>
              </a:defRPr>
            </a:lvl1pPr>
            <a:lvl2pPr marL="228600" indent="0">
              <a:buNone/>
              <a:defRPr sz="1600"/>
            </a:lvl2pPr>
            <a:lvl3pPr marL="411480" indent="0">
              <a:buClr>
                <a:schemeClr val="accent3"/>
              </a:buClr>
              <a:buNone/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r>
              <a:rPr lang="en-US"/>
              <a:t>QUOTED PERSON’S NAME, TITLE, COMPANY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310970B-4EE5-42E6-9651-541CF98601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71231" y="2802503"/>
            <a:ext cx="5071482" cy="2506264"/>
          </a:xfrm>
        </p:spPr>
        <p:txBody>
          <a:bodyPr anchor="b">
            <a:spAutoFit/>
          </a:bodyPr>
          <a:lstStyle>
            <a:lvl1pPr marL="287338" indent="-287338" algn="l">
              <a:defRPr sz="6000" b="0" cap="none" spc="-1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“</a:t>
            </a:r>
            <a:r>
              <a:t>Type quotation marks</a:t>
            </a:r>
            <a:r>
              <a:rPr lang="en-US"/>
              <a:t> </a:t>
            </a:r>
            <a:r>
              <a:t>before</a:t>
            </a:r>
            <a:r>
              <a:rPr lang="en-US"/>
              <a:t> </a:t>
            </a:r>
            <a:r>
              <a:t>and after text.”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CB80AA2A-2886-48DA-B61D-790EC6484165}"/>
              </a:ext>
            </a:extLst>
          </p:cNvPr>
          <p:cNvSpPr>
            <a:spLocks noChangeAspect="1" noEditPoints="1"/>
          </p:cNvSpPr>
          <p:nvPr userDrawn="1"/>
        </p:nvSpPr>
        <p:spPr bwMode="white">
          <a:xfrm>
            <a:off x="11515018" y="6189707"/>
            <a:ext cx="356616" cy="356616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50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4172" y="304800"/>
            <a:ext cx="10858541" cy="682268"/>
          </a:xfrm>
        </p:spPr>
        <p:txBody>
          <a:bodyPr anchor="ctr"/>
          <a:lstStyle/>
          <a:p>
            <a:r>
              <a:rPr lang="en-US"/>
              <a:t>Click to edit title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12899" y="6266008"/>
            <a:ext cx="3657600" cy="21945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4213" y="6266008"/>
            <a:ext cx="175018" cy="219456"/>
          </a:xfrm>
          <a:prstGeom prst="rect">
            <a:avLst/>
          </a:prstGeom>
        </p:spPr>
        <p:txBody>
          <a:bodyPr/>
          <a:lstStyle/>
          <a:p>
            <a:fld id="{00DE720E-C72B-42F0-AD69-52D60E3C605E}" type="slidenum">
              <a:rPr/>
              <a:t>‹#›</a:t>
            </a:fld>
            <a:endParaRPr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918724C-52DC-44FC-B327-E598D89136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4213" y="1628965"/>
            <a:ext cx="10858500" cy="439185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50106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4172" y="304800"/>
            <a:ext cx="10858541" cy="695886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12899" y="6266008"/>
            <a:ext cx="3657600" cy="21945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4213" y="6266008"/>
            <a:ext cx="175018" cy="219456"/>
          </a:xfrm>
          <a:prstGeom prst="rect">
            <a:avLst/>
          </a:prstGeom>
        </p:spPr>
        <p:txBody>
          <a:bodyPr/>
          <a:lstStyle/>
          <a:p>
            <a:fld id="{00DE720E-C72B-42F0-AD69-52D60E3C605E}" type="slidenum">
              <a:rPr/>
              <a:t>‹#›</a:t>
            </a:fld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EAC943F-2B60-450A-8CCD-3A550143E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4" y="1000686"/>
            <a:ext cx="10858498" cy="313386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="0" spc="0" baseline="0">
                <a:solidFill>
                  <a:schemeClr val="bg2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800"/>
            </a:lvl2pPr>
            <a:lvl3pPr marL="0" indent="0">
              <a:spcBef>
                <a:spcPts val="0"/>
              </a:spcBef>
              <a:buNone/>
              <a:defRPr sz="1800"/>
            </a:lvl3pPr>
            <a:lvl4pPr marL="0" indent="0">
              <a:spcBef>
                <a:spcPts val="0"/>
              </a:spcBef>
              <a:buNone/>
              <a:defRPr sz="1800"/>
            </a:lvl4pPr>
            <a:lvl5pPr marL="0" indent="0">
              <a:spcBef>
                <a:spcPts val="0"/>
              </a:spcBef>
              <a:buNone/>
              <a:defRPr sz="1800"/>
            </a:lvl5pPr>
            <a:lvl6pPr marL="0" indent="0">
              <a:spcBef>
                <a:spcPts val="0"/>
              </a:spcBef>
              <a:buNone/>
              <a:defRPr sz="1800"/>
            </a:lvl6pPr>
            <a:lvl7pPr marL="0" indent="0">
              <a:spcBef>
                <a:spcPts val="0"/>
              </a:spcBef>
              <a:buNone/>
              <a:defRPr sz="1800"/>
            </a:lvl7pPr>
            <a:lvl8pPr marL="0" indent="0">
              <a:spcBef>
                <a:spcPts val="0"/>
              </a:spcBef>
              <a:buNone/>
              <a:defRPr sz="1800"/>
            </a:lvl8pPr>
            <a:lvl9pPr marL="0" indent="0">
              <a:spcBef>
                <a:spcPts val="0"/>
              </a:spcBef>
              <a:buNone/>
              <a:defRPr sz="18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A53B36B-FDAD-4FC6-A493-288F505130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4213" y="1628965"/>
            <a:ext cx="10858500" cy="439185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52154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/>
          <a:p>
            <a:r>
              <a:rPr lang="en-US"/>
              <a:t>Click to edit title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12899" y="6266008"/>
            <a:ext cx="3657600" cy="21945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4213" y="6266008"/>
            <a:ext cx="175018" cy="219456"/>
          </a:xfrm>
          <a:prstGeom prst="rect">
            <a:avLst/>
          </a:prstGeom>
        </p:spPr>
        <p:txBody>
          <a:bodyPr/>
          <a:lstStyle/>
          <a:p>
            <a:fld id="{00DE720E-C72B-42F0-AD69-52D60E3C605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7641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12899" y="6266008"/>
            <a:ext cx="3657600" cy="21945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4213" y="6266008"/>
            <a:ext cx="175018" cy="219456"/>
          </a:xfrm>
          <a:prstGeom prst="rect">
            <a:avLst/>
          </a:prstGeom>
        </p:spPr>
        <p:txBody>
          <a:bodyPr/>
          <a:lstStyle/>
          <a:p>
            <a:fld id="{00DE720E-C72B-42F0-AD69-52D60E3C605E}" type="slidenum">
              <a:rPr/>
              <a:t>‹#›</a:t>
            </a:fld>
            <a:endParaRPr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AB249EB-9AD0-4773-A52E-68FDE627AE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4213" y="1628965"/>
            <a:ext cx="5207190" cy="439185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3E96CFE1-BB06-4CAC-8E29-634AE9377E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3504" y="1628965"/>
            <a:ext cx="5229209" cy="439185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3E2FBB9-9C8B-42A6-A7ED-B63BA7C75A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213" y="304800"/>
            <a:ext cx="10858500" cy="695886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956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587AC86-3E29-4B25-A1A8-E1EE0E1D2E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4213" y="1627632"/>
            <a:ext cx="5207190" cy="41104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FBA0275-F2A4-41B7-AE0B-2C79613272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3504" y="1627632"/>
            <a:ext cx="5229209" cy="41104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4213" y="304800"/>
            <a:ext cx="10858500" cy="695886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12899" y="6266008"/>
            <a:ext cx="3657600" cy="21945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84213" y="6266008"/>
            <a:ext cx="175018" cy="219456"/>
          </a:xfrm>
          <a:prstGeom prst="rect">
            <a:avLst/>
          </a:prstGeom>
        </p:spPr>
        <p:txBody>
          <a:bodyPr/>
          <a:lstStyle/>
          <a:p>
            <a:fld id="{00DE720E-C72B-42F0-AD69-52D60E3C605E}" type="slidenum">
              <a:rPr/>
              <a:t>‹#›</a:t>
            </a:fld>
            <a:endParaRPr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7FE61DA5-A330-4DF6-AA0B-0EB4CF5354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1000686"/>
            <a:ext cx="10858500" cy="27432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="0" spc="0" baseline="0">
                <a:solidFill>
                  <a:schemeClr val="bg2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800"/>
            </a:lvl2pPr>
            <a:lvl3pPr marL="0" indent="0">
              <a:spcBef>
                <a:spcPts val="0"/>
              </a:spcBef>
              <a:buNone/>
              <a:defRPr sz="1800"/>
            </a:lvl3pPr>
            <a:lvl4pPr marL="0" indent="0">
              <a:spcBef>
                <a:spcPts val="0"/>
              </a:spcBef>
              <a:buNone/>
              <a:defRPr sz="1800"/>
            </a:lvl4pPr>
            <a:lvl5pPr marL="0" indent="0">
              <a:spcBef>
                <a:spcPts val="0"/>
              </a:spcBef>
              <a:buNone/>
              <a:defRPr sz="1800"/>
            </a:lvl5pPr>
            <a:lvl6pPr marL="0" indent="0">
              <a:spcBef>
                <a:spcPts val="0"/>
              </a:spcBef>
              <a:buNone/>
              <a:defRPr sz="1800"/>
            </a:lvl6pPr>
            <a:lvl7pPr marL="0" indent="0">
              <a:spcBef>
                <a:spcPts val="0"/>
              </a:spcBef>
              <a:buNone/>
              <a:defRPr sz="1800"/>
            </a:lvl7pPr>
            <a:lvl8pPr marL="0" indent="0">
              <a:spcBef>
                <a:spcPts val="0"/>
              </a:spcBef>
              <a:buNone/>
              <a:defRPr sz="1800"/>
            </a:lvl8pPr>
            <a:lvl9pPr marL="0" indent="0">
              <a:spcBef>
                <a:spcPts val="0"/>
              </a:spcBef>
              <a:buNone/>
              <a:defRPr sz="1800"/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29920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12899" y="6266008"/>
            <a:ext cx="3657600" cy="21945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4213" y="6266008"/>
            <a:ext cx="175018" cy="219456"/>
          </a:xfrm>
          <a:prstGeom prst="rect">
            <a:avLst/>
          </a:prstGeom>
        </p:spPr>
        <p:txBody>
          <a:bodyPr/>
          <a:lstStyle/>
          <a:p>
            <a:fld id="{00DE720E-C72B-42F0-AD69-52D60E3C605E}" type="slidenum">
              <a:rPr/>
              <a:t>‹#›</a:t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1628965"/>
            <a:ext cx="3338099" cy="446703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7ACC892-8BA0-4FB5-827D-F9214E2182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04614" y="1628965"/>
            <a:ext cx="3338099" cy="446703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0FFEC4A-13B1-4559-9143-687AC5A9512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4414" y="1628965"/>
            <a:ext cx="3338099" cy="446703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A711A1A-1DDA-454C-9A9D-F00791158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213" y="304800"/>
            <a:ext cx="10858500" cy="695886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08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A512D512-B21F-432C-BB82-0D1F2FF6F0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1627632"/>
            <a:ext cx="3338099" cy="418566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6156972B-0B4E-414D-A359-994EEF63CD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04614" y="1627632"/>
            <a:ext cx="3338099" cy="418566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7403FF00-EEF3-47E4-8A9C-0D59B4B6A3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4414" y="1627632"/>
            <a:ext cx="3338099" cy="418566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12899" y="6266008"/>
            <a:ext cx="3657600" cy="21945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4213" y="6266008"/>
            <a:ext cx="175018" cy="219456"/>
          </a:xfrm>
          <a:prstGeom prst="rect">
            <a:avLst/>
          </a:prstGeom>
        </p:spPr>
        <p:txBody>
          <a:bodyPr/>
          <a:lstStyle/>
          <a:p>
            <a:fld id="{00DE720E-C72B-42F0-AD69-52D60E3C605E}" type="slidenum">
              <a:rPr/>
              <a:t>‹#›</a:t>
            </a:fld>
            <a:endParaRPr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477214A-DFFE-41CB-A9C1-C9CE88BC66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213" y="304800"/>
            <a:ext cx="10858500" cy="695886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E2DDB325-FC3F-44E4-BCC2-A17B711F81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4213" y="1000686"/>
            <a:ext cx="10858500" cy="27432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="0" spc="0" baseline="0">
                <a:solidFill>
                  <a:schemeClr val="bg2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800"/>
            </a:lvl2pPr>
            <a:lvl3pPr marL="0" indent="0">
              <a:spcBef>
                <a:spcPts val="0"/>
              </a:spcBef>
              <a:buNone/>
              <a:defRPr sz="1800"/>
            </a:lvl3pPr>
            <a:lvl4pPr marL="0" indent="0">
              <a:spcBef>
                <a:spcPts val="0"/>
              </a:spcBef>
              <a:buNone/>
              <a:defRPr sz="1800"/>
            </a:lvl4pPr>
            <a:lvl5pPr marL="0" indent="0">
              <a:spcBef>
                <a:spcPts val="0"/>
              </a:spcBef>
              <a:buNone/>
              <a:defRPr sz="1800"/>
            </a:lvl5pPr>
            <a:lvl6pPr marL="0" indent="0">
              <a:spcBef>
                <a:spcPts val="0"/>
              </a:spcBef>
              <a:buNone/>
              <a:defRPr sz="1800"/>
            </a:lvl6pPr>
            <a:lvl7pPr marL="0" indent="0">
              <a:spcBef>
                <a:spcPts val="0"/>
              </a:spcBef>
              <a:buNone/>
              <a:defRPr sz="1800"/>
            </a:lvl7pPr>
            <a:lvl8pPr marL="0" indent="0">
              <a:spcBef>
                <a:spcPts val="0"/>
              </a:spcBef>
              <a:buNone/>
              <a:defRPr sz="1800"/>
            </a:lvl8pPr>
            <a:lvl9pPr marL="0" indent="0">
              <a:spcBef>
                <a:spcPts val="0"/>
              </a:spcBef>
              <a:buNone/>
              <a:defRPr sz="1800"/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793773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12899" y="6266008"/>
            <a:ext cx="3657600" cy="21945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4213" y="6266008"/>
            <a:ext cx="175018" cy="219456"/>
          </a:xfrm>
          <a:prstGeom prst="rect">
            <a:avLst/>
          </a:prstGeom>
        </p:spPr>
        <p:txBody>
          <a:bodyPr/>
          <a:lstStyle/>
          <a:p>
            <a:fld id="{00DE720E-C72B-42F0-AD69-52D60E3C605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2679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ictur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41314" y="304799"/>
            <a:ext cx="5753098" cy="6248401"/>
          </a:xfrm>
          <a:solidFill>
            <a:schemeClr val="bg1">
              <a:lumMod val="85000"/>
            </a:schemeClr>
          </a:solidFill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81548" y="3927977"/>
            <a:ext cx="4799310" cy="762000"/>
          </a:xfrm>
        </p:spPr>
        <p:txBody>
          <a:bodyPr anchor="b"/>
          <a:lstStyle>
            <a:lvl1pPr algn="l"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12899" y="6266008"/>
            <a:ext cx="3657600" cy="2194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4213" y="6266008"/>
            <a:ext cx="175018" cy="2194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DE720E-C72B-42F0-AD69-52D60E3C605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481548" y="4760341"/>
            <a:ext cx="4799310" cy="1107736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None/>
              <a:defRPr sz="1800"/>
            </a:lvl1pPr>
            <a:lvl2pPr>
              <a:defRPr sz="1600"/>
            </a:lvl2pPr>
            <a:lvl3pPr>
              <a:buClr>
                <a:schemeClr val="accent3"/>
              </a:buCl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152862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ictures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41314" y="304799"/>
            <a:ext cx="3501733" cy="6248401"/>
          </a:xfrm>
          <a:solidFill>
            <a:schemeClr val="bg1">
              <a:lumMod val="85000"/>
            </a:schemeClr>
          </a:solidFill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29761" y="3927977"/>
            <a:ext cx="3807404" cy="762000"/>
          </a:xfrm>
        </p:spPr>
        <p:txBody>
          <a:bodyPr anchor="b"/>
          <a:lstStyle>
            <a:lvl1pPr algn="l"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8029761" y="4760341"/>
            <a:ext cx="3807404" cy="1107736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None/>
              <a:defRPr sz="1800"/>
            </a:lvl1pPr>
            <a:lvl2pPr>
              <a:defRPr sz="1600"/>
            </a:lvl2pPr>
            <a:lvl3pPr>
              <a:buClr>
                <a:schemeClr val="accent3"/>
              </a:buCl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6930D794-8D9D-4E20-9DD0-9DB24557191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170750" y="304799"/>
            <a:ext cx="3501733" cy="6248401"/>
          </a:xfrm>
          <a:solidFill>
            <a:schemeClr val="bg1">
              <a:lumMod val="85000"/>
            </a:schemeClr>
          </a:solidFill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DB0B9A51-D84F-4A2B-B22E-03BE7A9A3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2899" y="6266008"/>
            <a:ext cx="2695501" cy="2194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6257DF4A-3E9F-490B-B1E8-4C3CAC7D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4213" y="6266008"/>
            <a:ext cx="175018" cy="2194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DE720E-C72B-42F0-AD69-52D60E3C60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2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1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ree, outdoor, forest, green&#10;&#10;Description automatically generated">
            <a:extLst>
              <a:ext uri="{FF2B5EF4-FFF2-40B4-BE49-F238E27FC236}">
                <a16:creationId xmlns:a16="http://schemas.microsoft.com/office/drawing/2014/main" id="{C827132B-62B5-4FC5-B919-AE1D891894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0" y="-1"/>
            <a:ext cx="12188825" cy="6858001"/>
          </a:xfrm>
          <a:prstGeom prst="rect">
            <a:avLst/>
          </a:prstGeom>
        </p:spPr>
      </p:pic>
      <p:sp>
        <p:nvSpPr>
          <p:cNvPr id="10" name="logo">
            <a:extLst>
              <a:ext uri="{FF2B5EF4-FFF2-40B4-BE49-F238E27FC236}">
                <a16:creationId xmlns:a16="http://schemas.microsoft.com/office/drawing/2014/main" id="{2144D79C-EC9B-7E48-B133-D2D2642C256A}"/>
              </a:ext>
            </a:extLst>
          </p:cNvPr>
          <p:cNvSpPr>
            <a:spLocks noChangeAspect="1" noEditPoints="1"/>
          </p:cNvSpPr>
          <p:nvPr userDrawn="1"/>
        </p:nvSpPr>
        <p:spPr bwMode="gray">
          <a:xfrm>
            <a:off x="708437" y="607610"/>
            <a:ext cx="812588" cy="812588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BF79612-02D3-4993-B846-B7DBC047CB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702381" y="3108691"/>
            <a:ext cx="10840332" cy="1554480"/>
          </a:xfrm>
        </p:spPr>
        <p:txBody>
          <a:bodyPr anchor="b"/>
          <a:lstStyle>
            <a:lvl1pPr algn="l">
              <a:defRPr sz="5800" cap="none" spc="-1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958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C2B5CA-81D7-7D44-A57E-0A694BD4F0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0" y="1"/>
            <a:ext cx="12188825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67D4957-AB32-8C49-B0B7-21887CA00096}"/>
              </a:ext>
            </a:extLst>
          </p:cNvPr>
          <p:cNvSpPr/>
          <p:nvPr userDrawn="1"/>
        </p:nvSpPr>
        <p:spPr bwMode="gray">
          <a:xfrm>
            <a:off x="-1" y="0"/>
            <a:ext cx="12188825" cy="6858000"/>
          </a:xfrm>
          <a:prstGeom prst="rect">
            <a:avLst/>
          </a:prstGeom>
          <a:gradFill flip="none" rotWithShape="1">
            <a:gsLst>
              <a:gs pos="54000">
                <a:schemeClr val="tx1">
                  <a:alpha val="0"/>
                </a:schemeClr>
              </a:gs>
              <a:gs pos="94000">
                <a:schemeClr val="tx1">
                  <a:alpha val="67000"/>
                </a:schemeClr>
              </a:gs>
            </a:gsLst>
            <a:lin ang="8100000" scaled="1"/>
            <a:tileRect/>
          </a:gra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/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2144D79C-EC9B-7E48-B133-D2D2642C256A}"/>
              </a:ext>
            </a:extLst>
          </p:cNvPr>
          <p:cNvSpPr>
            <a:spLocks noChangeAspect="1" noEditPoints="1"/>
          </p:cNvSpPr>
          <p:nvPr userDrawn="1"/>
        </p:nvSpPr>
        <p:spPr bwMode="gray">
          <a:xfrm>
            <a:off x="708437" y="607610"/>
            <a:ext cx="812588" cy="812588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3441D11-054B-47FA-9E29-560182CEAA2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702381" y="3108691"/>
            <a:ext cx="10840332" cy="1554480"/>
          </a:xfrm>
        </p:spPr>
        <p:txBody>
          <a:bodyPr anchor="b"/>
          <a:lstStyle>
            <a:lvl1pPr algn="l">
              <a:defRPr sz="5800" cap="none" spc="-1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020547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3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holding a surfboard&#10;&#10;Description automatically generated with low confidence">
            <a:extLst>
              <a:ext uri="{FF2B5EF4-FFF2-40B4-BE49-F238E27FC236}">
                <a16:creationId xmlns:a16="http://schemas.microsoft.com/office/drawing/2014/main" id="{44BA0441-2C3A-4F3A-8EAF-0A653874D6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10" name="logo">
            <a:extLst>
              <a:ext uri="{FF2B5EF4-FFF2-40B4-BE49-F238E27FC236}">
                <a16:creationId xmlns:a16="http://schemas.microsoft.com/office/drawing/2014/main" id="{2144D79C-EC9B-7E48-B133-D2D2642C256A}"/>
              </a:ext>
            </a:extLst>
          </p:cNvPr>
          <p:cNvSpPr>
            <a:spLocks noChangeAspect="1" noEditPoints="1"/>
          </p:cNvSpPr>
          <p:nvPr userDrawn="1"/>
        </p:nvSpPr>
        <p:spPr bwMode="gray">
          <a:xfrm>
            <a:off x="708437" y="607610"/>
            <a:ext cx="812588" cy="812588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E32D6F1-6242-4094-BCEB-9D4EF31519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702381" y="3108691"/>
            <a:ext cx="10840332" cy="1554480"/>
          </a:xfrm>
        </p:spPr>
        <p:txBody>
          <a:bodyPr anchor="b"/>
          <a:lstStyle>
            <a:lvl1pPr algn="l">
              <a:defRPr sz="5800" cap="none" spc="-1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4707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12C510-59CB-43BF-9148-D29470BD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427901-B0F7-4789-B02D-3176F7F9A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E347D0-9F09-4373-9AAC-BB95DE4BD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E5805-D5DA-41B3-9479-7C7F524EF987}" type="datetime1">
              <a:rPr lang="zh-TW" altLang="en-US" smtClean="0"/>
              <a:t>2024/1/8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00601D-E518-4B65-A431-1913F6CCF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1B3F59-FE28-467D-B8AD-11AB9FEC7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3411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684172" y="304800"/>
            <a:ext cx="10858541" cy="69588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84213" y="1295400"/>
            <a:ext cx="10864405" cy="468206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1012899" y="6266008"/>
            <a:ext cx="3657600" cy="21945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684213" y="6266008"/>
            <a:ext cx="175018" cy="21945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00DE720E-C72B-42F0-AD69-52D60E3C605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F595DDEB-6B2A-4C91-A8C7-D9F6D5E0BD9F}"/>
              </a:ext>
            </a:extLst>
          </p:cNvPr>
          <p:cNvSpPr>
            <a:spLocks noChangeAspect="1" noEditPoints="1"/>
          </p:cNvSpPr>
          <p:nvPr userDrawn="1"/>
        </p:nvSpPr>
        <p:spPr bwMode="gray">
          <a:xfrm>
            <a:off x="11515018" y="6189707"/>
            <a:ext cx="356616" cy="356616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477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15" r:id="rId2"/>
    <p:sldLayoutId id="2147483692" r:id="rId3"/>
    <p:sldLayoutId id="2147483729" r:id="rId4"/>
    <p:sldLayoutId id="2147483730" r:id="rId5"/>
    <p:sldLayoutId id="2147483731" r:id="rId6"/>
    <p:sldLayoutId id="2147483706" r:id="rId7"/>
    <p:sldLayoutId id="2147483771" r:id="rId8"/>
    <p:sldLayoutId id="2147483767" r:id="rId9"/>
    <p:sldLayoutId id="2147483728" r:id="rId10"/>
    <p:sldLayoutId id="2147483721" r:id="rId11"/>
    <p:sldLayoutId id="2147483732" r:id="rId12"/>
    <p:sldLayoutId id="2147483733" r:id="rId13"/>
    <p:sldLayoutId id="2147483726" r:id="rId14"/>
    <p:sldLayoutId id="2147483727" r:id="rId15"/>
    <p:sldLayoutId id="2147483650" r:id="rId16"/>
    <p:sldLayoutId id="2147483663" r:id="rId17"/>
    <p:sldLayoutId id="2147483654" r:id="rId18"/>
    <p:sldLayoutId id="2147483652" r:id="rId19"/>
    <p:sldLayoutId id="2147483666" r:id="rId20"/>
    <p:sldLayoutId id="2147483667" r:id="rId21"/>
    <p:sldLayoutId id="2147483669" r:id="rId22"/>
    <p:sldLayoutId id="2147483655" r:id="rId23"/>
    <p:sldLayoutId id="2147483722" r:id="rId24"/>
    <p:sldLayoutId id="2147483723" r:id="rId25"/>
    <p:sldLayoutId id="2147483768" r:id="rId26"/>
    <p:sldLayoutId id="2147483769" r:id="rId27"/>
    <p:sldLayoutId id="2147483770" r:id="rId28"/>
    <p:sldLayoutId id="2147483772" r:id="rId2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tx1"/>
        </a:buClr>
        <a:buFont typeface="HP Simplified" panose="020B0604020204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80000"/>
        <a:buFont typeface="HP Simplified" panose="020B0604020204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HP Simplified" panose="020B0604020204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HP Simplified" panose="020B0604020204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686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HP Simplified" panose="020B0604020204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5156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HP Simplified" panose="020B0604020204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HP Simplified" panose="020B0604020204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HP Simplified" panose="020B0604020204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HP Simplified" panose="020B0604020204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2" userDrawn="1">
          <p15:clr>
            <a:srgbClr val="F26B43"/>
          </p15:clr>
        </p15:guide>
        <p15:guide id="3" orient="horz" pos="4128" userDrawn="1">
          <p15:clr>
            <a:srgbClr val="F26B43"/>
          </p15:clr>
        </p15:guide>
        <p15:guide id="17" pos="215" userDrawn="1">
          <p15:clr>
            <a:srgbClr val="F26B43"/>
          </p15:clr>
        </p15:guide>
        <p15:guide id="19" pos="7487" userDrawn="1">
          <p15:clr>
            <a:srgbClr val="F26B43"/>
          </p15:clr>
        </p15:guide>
        <p15:guide id="20" pos="3839" userDrawn="1">
          <p15:clr>
            <a:srgbClr val="F26B43"/>
          </p15:clr>
        </p15:guide>
        <p15:guide id="21" pos="431" userDrawn="1">
          <p15:clr>
            <a:srgbClr val="F26B43"/>
          </p15:clr>
        </p15:guide>
        <p15:guide id="22" pos="727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2381" y="2763520"/>
            <a:ext cx="6469518" cy="1554480"/>
          </a:xfrm>
        </p:spPr>
        <p:txBody>
          <a:bodyPr/>
          <a:lstStyle/>
          <a:p>
            <a:r>
              <a:rPr lang="en-US" altLang="zh-TW" dirty="0"/>
              <a:t>Quote Tool</a:t>
            </a:r>
            <a:r>
              <a:rPr lang="zh-TW" altLang="en-US" dirty="0"/>
              <a:t> </a:t>
            </a:r>
            <a:r>
              <a:rPr lang="en-GB" altLang="zh-TW" dirty="0"/>
              <a:t>- IEC</a:t>
            </a:r>
            <a:endParaRPr lang="en-US" dirty="0"/>
          </a:p>
        </p:txBody>
      </p:sp>
      <p:sp>
        <p:nvSpPr>
          <p:cNvPr id="19" name="Subtitle 18">
            <a:extLst>
              <a:ext uri="{FF2B5EF4-FFF2-40B4-BE49-F238E27FC236}">
                <a16:creationId xmlns:a16="http://schemas.microsoft.com/office/drawing/2014/main" id="{F236CF9F-F216-48D4-83CC-59C071F79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2381" y="4419600"/>
            <a:ext cx="6469518" cy="347994"/>
          </a:xfrm>
        </p:spPr>
        <p:txBody>
          <a:bodyPr/>
          <a:lstStyle/>
          <a:p>
            <a:r>
              <a:rPr lang="en-US" dirty="0"/>
              <a:t>Li-Li Chen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334125"/>
            <a:ext cx="174625" cy="219075"/>
          </a:xfrm>
          <a:prstGeom prst="rect">
            <a:avLst/>
          </a:prstGeom>
        </p:spPr>
        <p:txBody>
          <a:bodyPr/>
          <a:lstStyle/>
          <a:p>
            <a:fld id="{00DE720E-C72B-42F0-AD69-52D60E3C605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BA3BA2-D7E4-334F-8024-82C06521D6AD}"/>
              </a:ext>
            </a:extLst>
          </p:cNvPr>
          <p:cNvSpPr txBox="1"/>
          <p:nvPr/>
        </p:nvSpPr>
        <p:spPr>
          <a:xfrm>
            <a:off x="1163782" y="66501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82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C737863-F1EA-4E37-B97D-D9F690C38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9116" y="707870"/>
            <a:ext cx="2442600" cy="812588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359F848-A4BE-41F2-8A85-B876E588E5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89117" y="1934043"/>
            <a:ext cx="5001760" cy="2123658"/>
          </a:xfrm>
        </p:spPr>
        <p:txBody>
          <a:bodyPr>
            <a:spAutoFit/>
          </a:bodyPr>
          <a:lstStyle/>
          <a:p>
            <a:r>
              <a:rPr lang="en-US" dirty="0"/>
              <a:t>Quote Tool Introduction</a:t>
            </a:r>
          </a:p>
          <a:p>
            <a:r>
              <a:rPr lang="en-US" dirty="0"/>
              <a:t>Quote Tool Instruction</a:t>
            </a:r>
          </a:p>
          <a:p>
            <a:r>
              <a:rPr lang="en-GB" dirty="0"/>
              <a:t>Limitation and Restriction of Tool</a:t>
            </a:r>
          </a:p>
          <a:p>
            <a:r>
              <a:rPr lang="en-US" dirty="0"/>
              <a:t>Quote Tool installation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630D4-A336-42D2-BA35-577AA5024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8" name="Picture Placeholder 7" descr="A picture containing person, appliance&#10;&#10;Description automatically generated">
            <a:extLst>
              <a:ext uri="{FF2B5EF4-FFF2-40B4-BE49-F238E27FC236}">
                <a16:creationId xmlns:a16="http://schemas.microsoft.com/office/drawing/2014/main" id="{4C3F8C36-3AC6-41D1-A7B5-14D94121A8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" r="440"/>
          <a:stretch>
            <a:fillRect/>
          </a:stretch>
        </p:blipFill>
        <p:spPr bwMode="gray">
          <a:xfrm>
            <a:off x="561874" y="297923"/>
            <a:ext cx="5552695" cy="62484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628796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C737863-F1EA-4E37-B97D-D9F690C38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9116" y="707870"/>
            <a:ext cx="2442600" cy="812588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359F848-A4BE-41F2-8A85-B876E588E5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89117" y="1934043"/>
            <a:ext cx="5001760" cy="2123658"/>
          </a:xfrm>
        </p:spPr>
        <p:txBody>
          <a:bodyPr>
            <a:spAutoFit/>
          </a:bodyPr>
          <a:lstStyle/>
          <a:p>
            <a:r>
              <a:rPr lang="en-US" dirty="0"/>
              <a:t>Quote Tool Introduction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Quote Tool Instruction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Limitation and Restriction of Tool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Quote Tool installation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630D4-A336-42D2-BA35-577AA5024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8" name="Picture Placeholder 7" descr="A picture containing person, appliance&#10;&#10;Description automatically generated">
            <a:extLst>
              <a:ext uri="{FF2B5EF4-FFF2-40B4-BE49-F238E27FC236}">
                <a16:creationId xmlns:a16="http://schemas.microsoft.com/office/drawing/2014/main" id="{4C3F8C36-3AC6-41D1-A7B5-14D94121A8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" r="440"/>
          <a:stretch>
            <a:fillRect/>
          </a:stretch>
        </p:blipFill>
        <p:spPr bwMode="gray">
          <a:xfrm>
            <a:off x="561874" y="297923"/>
            <a:ext cx="5552695" cy="62484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938959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04F43B-30E3-4974-9142-5A9040B19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5300" y="5120580"/>
            <a:ext cx="4073790" cy="16482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800" dirty="0">
                <a:solidFill>
                  <a:srgbClr val="157CB8"/>
                </a:solidFill>
                <a:latin typeface="HP Simplified Light (Body)"/>
                <a:cs typeface="Times New Roman" panose="02020603050405020304" pitchFamily="18" charset="0"/>
              </a:rPr>
              <a:t>Delete </a:t>
            </a:r>
            <a:r>
              <a:rPr lang="en-US" altLang="zh-TW" sz="2800" dirty="0">
                <a:latin typeface="HP Simplified Light (Body)"/>
                <a:cs typeface="Times New Roman" panose="02020603050405020304" pitchFamily="18" charset="0"/>
              </a:rPr>
              <a:t>non-effectively date (in red)</a:t>
            </a:r>
          </a:p>
          <a:p>
            <a:pPr marL="0" indent="0">
              <a:buNone/>
            </a:pPr>
            <a:r>
              <a:rPr lang="en-GB" altLang="zh-TW" sz="2800" dirty="0">
                <a:solidFill>
                  <a:srgbClr val="157CB8"/>
                </a:solidFill>
                <a:latin typeface="HP Simplified Light (Body)"/>
                <a:cs typeface="Times New Roman" panose="02020603050405020304" pitchFamily="18" charset="0"/>
              </a:rPr>
              <a:t>Save </a:t>
            </a:r>
            <a:r>
              <a:rPr lang="en-GB" altLang="zh-TW" sz="2800" dirty="0">
                <a:latin typeface="HP Simplified Light (Body)"/>
                <a:cs typeface="Times New Roman" panose="02020603050405020304" pitchFamily="18" charset="0"/>
              </a:rPr>
              <a:t>in a new folder</a:t>
            </a:r>
            <a:endParaRPr lang="zh-TW" altLang="en-US" sz="2800" dirty="0"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6170F-6A36-4E40-9574-C397F8B0B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>
                <a:latin typeface="HP Simplified Light (Body)"/>
              </a:rPr>
              <a:t>4</a:t>
            </a:fld>
            <a:endParaRPr lang="zh-TW" altLang="en-US">
              <a:latin typeface="HP Simplified Light (Body)"/>
            </a:endParaRPr>
          </a:p>
        </p:txBody>
      </p:sp>
      <p:sp>
        <p:nvSpPr>
          <p:cNvPr id="5" name="前言">
            <a:extLst>
              <a:ext uri="{FF2B5EF4-FFF2-40B4-BE49-F238E27FC236}">
                <a16:creationId xmlns:a16="http://schemas.microsoft.com/office/drawing/2014/main" id="{CC67964C-8C40-4AE4-BA25-41ACFCE9F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Quote Tool Introduction</a:t>
            </a:r>
            <a:endParaRPr lang="zh-TW" altLang="en-US" sz="3799" b="1" dirty="0">
              <a:latin typeface="HP Simplified Light (Body)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A123FDE-1AB0-4314-AE59-BC072867D15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8FAFB"/>
              </a:clrFrom>
              <a:clrTo>
                <a:srgbClr val="F8FA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8205" y="2752841"/>
            <a:ext cx="973337" cy="71395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B0F6C6D-EFB0-43D4-BE40-24F58A59A175}"/>
              </a:ext>
            </a:extLst>
          </p:cNvPr>
          <p:cNvSpPr/>
          <p:nvPr/>
        </p:nvSpPr>
        <p:spPr>
          <a:xfrm>
            <a:off x="1523692" y="1029727"/>
            <a:ext cx="4073789" cy="707694"/>
          </a:xfrm>
          <a:prstGeom prst="rect">
            <a:avLst/>
          </a:prstGeom>
          <a:solidFill>
            <a:srgbClr val="1156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399" b="1" dirty="0">
                <a:latin typeface="HP Simplified Light (Body)"/>
                <a:cs typeface="Times New Roman" panose="02020603050405020304" pitchFamily="18" charset="0"/>
              </a:rPr>
              <a:t>Delete CPCT </a:t>
            </a:r>
          </a:p>
          <a:p>
            <a:pPr algn="ctr"/>
            <a:r>
              <a:rPr lang="en-GB" sz="2399" b="1" dirty="0">
                <a:latin typeface="HP Simplified Light (Body)"/>
                <a:cs typeface="Times New Roman" panose="02020603050405020304" pitchFamily="18" charset="0"/>
              </a:rPr>
              <a:t>non-effectively date</a:t>
            </a:r>
          </a:p>
        </p:txBody>
      </p:sp>
      <p:sp>
        <p:nvSpPr>
          <p:cNvPr id="14" name="箭號: 向下 16">
            <a:extLst>
              <a:ext uri="{FF2B5EF4-FFF2-40B4-BE49-F238E27FC236}">
                <a16:creationId xmlns:a16="http://schemas.microsoft.com/office/drawing/2014/main" id="{01EBD2EA-18DD-4381-948C-DD404AE1B9C9}"/>
              </a:ext>
            </a:extLst>
          </p:cNvPr>
          <p:cNvSpPr/>
          <p:nvPr/>
        </p:nvSpPr>
        <p:spPr>
          <a:xfrm>
            <a:off x="3244406" y="4425917"/>
            <a:ext cx="705079" cy="591873"/>
          </a:xfrm>
          <a:prstGeom prst="downArrow">
            <a:avLst/>
          </a:prstGeom>
          <a:solidFill>
            <a:srgbClr val="1156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799" dirty="0">
              <a:latin typeface="HP Simplified Light (Body)"/>
            </a:endParaRPr>
          </a:p>
        </p:txBody>
      </p:sp>
      <p:sp>
        <p:nvSpPr>
          <p:cNvPr id="16" name="內容版面配置區 2">
            <a:extLst>
              <a:ext uri="{FF2B5EF4-FFF2-40B4-BE49-F238E27FC236}">
                <a16:creationId xmlns:a16="http://schemas.microsoft.com/office/drawing/2014/main" id="{6ACA880E-2666-49FE-A829-C8A1C520F10B}"/>
              </a:ext>
            </a:extLst>
          </p:cNvPr>
          <p:cNvSpPr txBox="1">
            <a:spLocks/>
          </p:cNvSpPr>
          <p:nvPr/>
        </p:nvSpPr>
        <p:spPr>
          <a:xfrm>
            <a:off x="1932177" y="1911757"/>
            <a:ext cx="4073790" cy="1648289"/>
          </a:xfrm>
          <a:prstGeom prst="rect">
            <a:avLst/>
          </a:prstGeom>
        </p:spPr>
        <p:txBody>
          <a:bodyPr vert="horz" lIns="91416" tIns="45708" rIns="91416" bIns="45708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799" dirty="0">
                <a:solidFill>
                  <a:srgbClr val="157CB8"/>
                </a:solidFill>
                <a:latin typeface="HP Simplified Light (Body)"/>
                <a:cs typeface="Times New Roman" panose="02020603050405020304" pitchFamily="18" charset="0"/>
              </a:rPr>
              <a:t>Enter</a:t>
            </a:r>
            <a:endParaRPr lang="en-GB" altLang="zh-TW" sz="2799" dirty="0">
              <a:solidFill>
                <a:srgbClr val="157CB8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pPr marL="514196" indent="-514196">
              <a:buFont typeface="Arial" panose="020B0604020202020204" pitchFamily="34" charset="0"/>
              <a:buAutoNum type="arabicPeriod"/>
            </a:pPr>
            <a:r>
              <a:rPr lang="en-GB" altLang="zh-TW" sz="2799" dirty="0">
                <a:latin typeface="HP Simplified Light (Body)"/>
                <a:cs typeface="Times New Roman" panose="02020603050405020304" pitchFamily="18" charset="0"/>
              </a:rPr>
              <a:t>CPCT files’ path</a:t>
            </a:r>
          </a:p>
          <a:p>
            <a:pPr marL="514196" indent="-514196">
              <a:buFont typeface="Arial" panose="020B0604020202020204" pitchFamily="34" charset="0"/>
              <a:buAutoNum type="arabicPeriod"/>
            </a:pPr>
            <a:r>
              <a:rPr lang="en-GB" altLang="zh-TW" sz="2799" dirty="0">
                <a:latin typeface="HP Simplified Light (Body)"/>
                <a:cs typeface="Times New Roman" panose="02020603050405020304" pitchFamily="18" charset="0"/>
              </a:rPr>
              <a:t>Validation Date</a:t>
            </a:r>
            <a:endParaRPr lang="zh-TW" altLang="en-US" sz="2799" dirty="0"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5F485562-3206-4C0B-B8C3-069D55E5CFF0}"/>
              </a:ext>
            </a:extLst>
          </p:cNvPr>
          <p:cNvSpPr txBox="1">
            <a:spLocks/>
          </p:cNvSpPr>
          <p:nvPr/>
        </p:nvSpPr>
        <p:spPr>
          <a:xfrm>
            <a:off x="2368367" y="4034194"/>
            <a:ext cx="2601512" cy="444145"/>
          </a:xfrm>
          <a:prstGeom prst="rect">
            <a:avLst/>
          </a:prstGeom>
        </p:spPr>
        <p:txBody>
          <a:bodyPr vert="horz" lIns="91416" tIns="45708" rIns="91416" bIns="45708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799" dirty="0">
                <a:solidFill>
                  <a:srgbClr val="157CB8"/>
                </a:solidFill>
                <a:latin typeface="HP Simplified Light (Body)"/>
                <a:cs typeface="Times New Roman" panose="02020603050405020304" pitchFamily="18" charset="0"/>
              </a:rPr>
              <a:t>Click ‘CPCT Checker’ button</a:t>
            </a:r>
            <a:endParaRPr lang="en-GB" altLang="zh-TW" sz="1799" dirty="0">
              <a:solidFill>
                <a:srgbClr val="157CB8"/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18" name="內容版面配置區 2">
            <a:extLst>
              <a:ext uri="{FF2B5EF4-FFF2-40B4-BE49-F238E27FC236}">
                <a16:creationId xmlns:a16="http://schemas.microsoft.com/office/drawing/2014/main" id="{CC976F45-9BBB-42D2-BF5B-C55EAB17086D}"/>
              </a:ext>
            </a:extLst>
          </p:cNvPr>
          <p:cNvSpPr txBox="1">
            <a:spLocks/>
          </p:cNvSpPr>
          <p:nvPr/>
        </p:nvSpPr>
        <p:spPr>
          <a:xfrm>
            <a:off x="7078133" y="5231211"/>
            <a:ext cx="4073790" cy="1648289"/>
          </a:xfrm>
          <a:prstGeom prst="rect">
            <a:avLst/>
          </a:prstGeom>
        </p:spPr>
        <p:txBody>
          <a:bodyPr vert="horz" lIns="91416" tIns="45708" rIns="91416" bIns="45708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799" dirty="0">
                <a:solidFill>
                  <a:srgbClr val="157CB8"/>
                </a:solidFill>
                <a:latin typeface="HP Simplified Light (Body)"/>
                <a:cs typeface="Times New Roman" panose="02020603050405020304" pitchFamily="18" charset="0"/>
              </a:rPr>
              <a:t>Check</a:t>
            </a:r>
          </a:p>
          <a:p>
            <a:pPr marL="0" indent="0">
              <a:buNone/>
            </a:pPr>
            <a:r>
              <a:rPr lang="en-GB" altLang="zh-TW" sz="2799" dirty="0">
                <a:latin typeface="HP Simplified Light (Body)"/>
                <a:cs typeface="Times New Roman" panose="02020603050405020304" pitchFamily="18" charset="0"/>
              </a:rPr>
              <a:t>CKIT, Master Data, BUSA</a:t>
            </a:r>
            <a:endParaRPr lang="zh-TW" altLang="en-US" sz="2799" dirty="0"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19" name="箭號: 向下 16">
            <a:extLst>
              <a:ext uri="{FF2B5EF4-FFF2-40B4-BE49-F238E27FC236}">
                <a16:creationId xmlns:a16="http://schemas.microsoft.com/office/drawing/2014/main" id="{2315ED84-4A9A-475C-89C0-AF64854465AF}"/>
              </a:ext>
            </a:extLst>
          </p:cNvPr>
          <p:cNvSpPr/>
          <p:nvPr/>
        </p:nvSpPr>
        <p:spPr>
          <a:xfrm>
            <a:off x="8409949" y="4673602"/>
            <a:ext cx="705079" cy="591873"/>
          </a:xfrm>
          <a:prstGeom prst="downArrow">
            <a:avLst/>
          </a:prstGeom>
          <a:solidFill>
            <a:srgbClr val="1156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799" dirty="0">
              <a:latin typeface="HP Simplified Light (Body)"/>
            </a:endParaRPr>
          </a:p>
        </p:txBody>
      </p:sp>
      <p:sp>
        <p:nvSpPr>
          <p:cNvPr id="20" name="內容版面配置區 2">
            <a:extLst>
              <a:ext uri="{FF2B5EF4-FFF2-40B4-BE49-F238E27FC236}">
                <a16:creationId xmlns:a16="http://schemas.microsoft.com/office/drawing/2014/main" id="{672E15C8-DF05-4A6F-AF13-1D99E11016F1}"/>
              </a:ext>
            </a:extLst>
          </p:cNvPr>
          <p:cNvSpPr txBox="1">
            <a:spLocks/>
          </p:cNvSpPr>
          <p:nvPr/>
        </p:nvSpPr>
        <p:spPr>
          <a:xfrm>
            <a:off x="7004222" y="1837089"/>
            <a:ext cx="4073790" cy="2842521"/>
          </a:xfrm>
          <a:prstGeom prst="rect">
            <a:avLst/>
          </a:prstGeom>
        </p:spPr>
        <p:txBody>
          <a:bodyPr vert="horz" lIns="91416" tIns="45708" rIns="91416" bIns="45708" rtlCol="0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1197" dirty="0">
                <a:solidFill>
                  <a:srgbClr val="157CB8"/>
                </a:solidFill>
                <a:latin typeface="HP Simplified Light (Body)"/>
                <a:cs typeface="Times New Roman" panose="02020603050405020304" pitchFamily="18" charset="0"/>
              </a:rPr>
              <a:t>Enter</a:t>
            </a:r>
          </a:p>
          <a:p>
            <a:pPr marL="514196" indent="-514196">
              <a:buFont typeface="Arial" panose="020B0604020202020204" pitchFamily="34" charset="0"/>
              <a:buAutoNum type="arabicPeriod"/>
            </a:pPr>
            <a:r>
              <a:rPr lang="en-GB" altLang="zh-TW" sz="8000" dirty="0">
                <a:latin typeface="HP Simplified Light (Body)"/>
                <a:cs typeface="Times New Roman" panose="02020603050405020304" pitchFamily="18" charset="0"/>
              </a:rPr>
              <a:t>Validation Date</a:t>
            </a:r>
            <a:endParaRPr lang="en-GB" sz="7998" dirty="0">
              <a:solidFill>
                <a:srgbClr val="000000"/>
              </a:solidFill>
              <a:latin typeface="HP Simplified Light (Body)"/>
            </a:endParaRPr>
          </a:p>
          <a:p>
            <a:pPr marL="514196" indent="-514196">
              <a:buAutoNum type="arabicPeriod"/>
            </a:pPr>
            <a:r>
              <a:rPr lang="en-GB" sz="7998" dirty="0">
                <a:solidFill>
                  <a:srgbClr val="000000"/>
                </a:solidFill>
                <a:latin typeface="HP Simplified Light (Body)"/>
              </a:rPr>
              <a:t>Quote files’ Path</a:t>
            </a:r>
          </a:p>
          <a:p>
            <a:pPr marL="514196" indent="-514196">
              <a:buAutoNum type="arabicPeriod"/>
            </a:pPr>
            <a:r>
              <a:rPr lang="en-GB" sz="7998" dirty="0">
                <a:solidFill>
                  <a:srgbClr val="000000"/>
                </a:solidFill>
                <a:latin typeface="HP Simplified Light (Body)"/>
              </a:rPr>
              <a:t>CPCT files’ Path</a:t>
            </a:r>
          </a:p>
          <a:p>
            <a:pPr marL="514196" indent="-514196">
              <a:buAutoNum type="arabicPeriod"/>
            </a:pPr>
            <a:r>
              <a:rPr lang="en-GB" sz="7998" dirty="0">
                <a:solidFill>
                  <a:srgbClr val="000000"/>
                </a:solidFill>
                <a:latin typeface="HP Simplified Light (Body)"/>
              </a:rPr>
              <a:t>(1) CKIT filer's Path – NB, Media       </a:t>
            </a:r>
          </a:p>
          <a:p>
            <a:pPr marL="0" indent="0">
              <a:buNone/>
            </a:pPr>
            <a:r>
              <a:rPr lang="en-GB" sz="7998" dirty="0">
                <a:solidFill>
                  <a:srgbClr val="000000"/>
                </a:solidFill>
                <a:latin typeface="HP Simplified Light (Body)"/>
              </a:rPr>
              <a:t>       (2) Sell Pricing file's Path</a:t>
            </a:r>
          </a:p>
          <a:p>
            <a:pPr marL="514196" indent="-514196">
              <a:buAutoNum type="arabicPeriod"/>
            </a:pPr>
            <a:endParaRPr lang="en-GB" sz="2799" dirty="0">
              <a:solidFill>
                <a:srgbClr val="000000"/>
              </a:solidFill>
              <a:latin typeface="HP Simplified Light (Body)"/>
            </a:endParaRPr>
          </a:p>
          <a:p>
            <a:pPr marL="514196" indent="-514196">
              <a:buAutoNum type="arabicPeriod"/>
            </a:pPr>
            <a:endParaRPr lang="en-GB" sz="2799" dirty="0">
              <a:solidFill>
                <a:srgbClr val="000000"/>
              </a:solidFill>
              <a:latin typeface="HP Simplified Light (Body)"/>
            </a:endParaRPr>
          </a:p>
          <a:p>
            <a:pPr marL="514196" indent="-514196">
              <a:buAutoNum type="arabicPeriod"/>
            </a:pPr>
            <a:endParaRPr lang="en-GB" sz="2799" dirty="0">
              <a:solidFill>
                <a:srgbClr val="000000"/>
              </a:solidFill>
              <a:latin typeface="HP Simplified Light (Body)"/>
            </a:endParaRPr>
          </a:p>
          <a:p>
            <a:pPr marL="0" indent="0">
              <a:buNone/>
            </a:pPr>
            <a:endParaRPr lang="en-GB" altLang="zh-TW" sz="2799" dirty="0">
              <a:latin typeface="HP Simplified Light (Body)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8B0D94F-3C89-4B08-BDBF-3415C760680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8FAFB"/>
              </a:clrFrom>
              <a:clrTo>
                <a:srgbClr val="F8FA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0335" y="4861572"/>
            <a:ext cx="973337" cy="95217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8B348CA-B443-4D9A-896F-0B4E28B53468}"/>
              </a:ext>
            </a:extLst>
          </p:cNvPr>
          <p:cNvSpPr/>
          <p:nvPr/>
        </p:nvSpPr>
        <p:spPr>
          <a:xfrm>
            <a:off x="562457" y="3529428"/>
            <a:ext cx="795822" cy="2822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799" dirty="0">
                <a:latin typeface="HP Simplified Light (Body)"/>
                <a:cs typeface="Times New Roman" panose="02020603050405020304" pitchFamily="18" charset="0"/>
              </a:rPr>
              <a:t>User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B5FB76C-BD17-48F6-866B-E8EEBC5629C2}"/>
              </a:ext>
            </a:extLst>
          </p:cNvPr>
          <p:cNvSpPr/>
          <p:nvPr/>
        </p:nvSpPr>
        <p:spPr>
          <a:xfrm>
            <a:off x="577946" y="5810278"/>
            <a:ext cx="795822" cy="2822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799" dirty="0">
                <a:latin typeface="HP Simplified Light (Body)"/>
                <a:cs typeface="Times New Roman" panose="02020603050405020304" pitchFamily="18" charset="0"/>
              </a:rPr>
              <a:t>Tool</a:t>
            </a:r>
          </a:p>
        </p:txBody>
      </p:sp>
      <p:sp>
        <p:nvSpPr>
          <p:cNvPr id="22" name="內容版面配置區 2">
            <a:extLst>
              <a:ext uri="{FF2B5EF4-FFF2-40B4-BE49-F238E27FC236}">
                <a16:creationId xmlns:a16="http://schemas.microsoft.com/office/drawing/2014/main" id="{51E503BA-F247-4002-AA86-25F0FC14D2E7}"/>
              </a:ext>
            </a:extLst>
          </p:cNvPr>
          <p:cNvSpPr txBox="1">
            <a:spLocks/>
          </p:cNvSpPr>
          <p:nvPr/>
        </p:nvSpPr>
        <p:spPr>
          <a:xfrm>
            <a:off x="9253751" y="4747466"/>
            <a:ext cx="2601512" cy="444145"/>
          </a:xfrm>
          <a:prstGeom prst="rect">
            <a:avLst/>
          </a:prstGeom>
        </p:spPr>
        <p:txBody>
          <a:bodyPr vert="horz" lIns="91416" tIns="45708" rIns="91416" bIns="45708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799" dirty="0">
                <a:solidFill>
                  <a:srgbClr val="157CB8"/>
                </a:solidFill>
                <a:latin typeface="HP Simplified Light (Body)"/>
                <a:cs typeface="Times New Roman" panose="02020603050405020304" pitchFamily="18" charset="0"/>
              </a:rPr>
              <a:t>Click ‘Run Quote’ button</a:t>
            </a:r>
            <a:endParaRPr lang="en-GB" altLang="zh-TW" sz="1799" dirty="0">
              <a:solidFill>
                <a:srgbClr val="157CB8"/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17800-2811-4516-9D65-DB1F26E061B2}"/>
              </a:ext>
            </a:extLst>
          </p:cNvPr>
          <p:cNvCxnSpPr>
            <a:endCxn id="3" idx="3"/>
          </p:cNvCxnSpPr>
          <p:nvPr/>
        </p:nvCxnSpPr>
        <p:spPr>
          <a:xfrm>
            <a:off x="6029089" y="1344946"/>
            <a:ext cx="0" cy="459977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B1FB3D8-DC7D-4A53-8F1D-BF5C48FE49E9}"/>
              </a:ext>
            </a:extLst>
          </p:cNvPr>
          <p:cNvSpPr/>
          <p:nvPr/>
        </p:nvSpPr>
        <p:spPr>
          <a:xfrm>
            <a:off x="6591343" y="1019029"/>
            <a:ext cx="4073789" cy="707694"/>
          </a:xfrm>
          <a:prstGeom prst="rect">
            <a:avLst/>
          </a:prstGeom>
          <a:solidFill>
            <a:srgbClr val="1156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399" b="1" dirty="0">
                <a:latin typeface="HP Simplified Light (Body)"/>
                <a:cs typeface="Times New Roman" panose="02020603050405020304" pitchFamily="18" charset="0"/>
              </a:rPr>
              <a:t>Quote Validation</a:t>
            </a:r>
          </a:p>
        </p:txBody>
      </p:sp>
    </p:spTree>
    <p:extLst>
      <p:ext uri="{BB962C8B-B14F-4D97-AF65-F5344CB8AC3E}">
        <p14:creationId xmlns:p14="http://schemas.microsoft.com/office/powerpoint/2010/main" val="1120077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6170F-6A36-4E40-9574-C397F8B0B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>
                <a:latin typeface="HP Simplified Light (Body)"/>
              </a:rPr>
              <a:t>5</a:t>
            </a:fld>
            <a:endParaRPr lang="zh-TW" altLang="en-US">
              <a:latin typeface="HP Simplified Light (Body)"/>
            </a:endParaRPr>
          </a:p>
        </p:txBody>
      </p:sp>
      <p:sp>
        <p:nvSpPr>
          <p:cNvPr id="5" name="前言">
            <a:extLst>
              <a:ext uri="{FF2B5EF4-FFF2-40B4-BE49-F238E27FC236}">
                <a16:creationId xmlns:a16="http://schemas.microsoft.com/office/drawing/2014/main" id="{CC67964C-8C40-4AE4-BA25-41ACFCE9F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Quote Tool Introduction</a:t>
            </a:r>
            <a:endParaRPr lang="zh-TW" altLang="en-US" sz="3799" b="1" dirty="0">
              <a:latin typeface="HP Simplified Light (Body)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A123FDE-1AB0-4314-AE59-BC072867D15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8FAFB"/>
              </a:clrFrom>
              <a:clrTo>
                <a:srgbClr val="F8FA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8205" y="2752841"/>
            <a:ext cx="973337" cy="71395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B0F6C6D-EFB0-43D4-BE40-24F58A59A175}"/>
              </a:ext>
            </a:extLst>
          </p:cNvPr>
          <p:cNvSpPr/>
          <p:nvPr/>
        </p:nvSpPr>
        <p:spPr>
          <a:xfrm>
            <a:off x="1523692" y="1029727"/>
            <a:ext cx="4073789" cy="707694"/>
          </a:xfrm>
          <a:prstGeom prst="rect">
            <a:avLst/>
          </a:prstGeom>
          <a:solidFill>
            <a:srgbClr val="1156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399" b="1" dirty="0">
                <a:latin typeface="HP Simplified Light (Body)"/>
                <a:cs typeface="Times New Roman" panose="02020603050405020304" pitchFamily="18" charset="0"/>
              </a:rPr>
              <a:t>CPCT Consolidation</a:t>
            </a:r>
          </a:p>
        </p:txBody>
      </p:sp>
      <p:sp>
        <p:nvSpPr>
          <p:cNvPr id="18" name="內容版面配置區 2">
            <a:extLst>
              <a:ext uri="{FF2B5EF4-FFF2-40B4-BE49-F238E27FC236}">
                <a16:creationId xmlns:a16="http://schemas.microsoft.com/office/drawing/2014/main" id="{CC976F45-9BBB-42D2-BF5B-C55EAB17086D}"/>
              </a:ext>
            </a:extLst>
          </p:cNvPr>
          <p:cNvSpPr txBox="1">
            <a:spLocks/>
          </p:cNvSpPr>
          <p:nvPr/>
        </p:nvSpPr>
        <p:spPr>
          <a:xfrm>
            <a:off x="7078133" y="5231211"/>
            <a:ext cx="4073790" cy="1648289"/>
          </a:xfrm>
          <a:prstGeom prst="rect">
            <a:avLst/>
          </a:prstGeom>
        </p:spPr>
        <p:txBody>
          <a:bodyPr vert="horz" lIns="91416" tIns="45708" rIns="91416" bIns="45708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799" dirty="0">
                <a:solidFill>
                  <a:srgbClr val="157CB8"/>
                </a:solidFill>
                <a:latin typeface="HP Simplified Light (Body)"/>
                <a:cs typeface="Times New Roman" panose="02020603050405020304" pitchFamily="18" charset="0"/>
              </a:rPr>
              <a:t>Consolidate</a:t>
            </a:r>
          </a:p>
          <a:p>
            <a:pPr marL="0" indent="0">
              <a:buNone/>
            </a:pPr>
            <a:r>
              <a:rPr lang="en-GB" altLang="zh-TW" sz="2799" dirty="0">
                <a:latin typeface="HP Simplified Light (Body)"/>
                <a:cs typeface="Times New Roman" panose="02020603050405020304" pitchFamily="18" charset="0"/>
              </a:rPr>
              <a:t>CKIT, Master Data, BUSA, OP</a:t>
            </a:r>
            <a:endParaRPr lang="zh-TW" altLang="en-US" sz="2799" dirty="0"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19" name="箭號: 向下 16">
            <a:extLst>
              <a:ext uri="{FF2B5EF4-FFF2-40B4-BE49-F238E27FC236}">
                <a16:creationId xmlns:a16="http://schemas.microsoft.com/office/drawing/2014/main" id="{2315ED84-4A9A-475C-89C0-AF64854465AF}"/>
              </a:ext>
            </a:extLst>
          </p:cNvPr>
          <p:cNvSpPr/>
          <p:nvPr/>
        </p:nvSpPr>
        <p:spPr>
          <a:xfrm>
            <a:off x="8409949" y="4673602"/>
            <a:ext cx="705079" cy="591873"/>
          </a:xfrm>
          <a:prstGeom prst="downArrow">
            <a:avLst/>
          </a:prstGeom>
          <a:solidFill>
            <a:srgbClr val="1156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799" dirty="0">
              <a:latin typeface="HP Simplified Light (Body)"/>
            </a:endParaRPr>
          </a:p>
        </p:txBody>
      </p:sp>
      <p:sp>
        <p:nvSpPr>
          <p:cNvPr id="20" name="內容版面配置區 2">
            <a:extLst>
              <a:ext uri="{FF2B5EF4-FFF2-40B4-BE49-F238E27FC236}">
                <a16:creationId xmlns:a16="http://schemas.microsoft.com/office/drawing/2014/main" id="{672E15C8-DF05-4A6F-AF13-1D99E11016F1}"/>
              </a:ext>
            </a:extLst>
          </p:cNvPr>
          <p:cNvSpPr txBox="1">
            <a:spLocks/>
          </p:cNvSpPr>
          <p:nvPr/>
        </p:nvSpPr>
        <p:spPr>
          <a:xfrm>
            <a:off x="7004222" y="1837089"/>
            <a:ext cx="4073790" cy="2842521"/>
          </a:xfrm>
          <a:prstGeom prst="rect">
            <a:avLst/>
          </a:prstGeom>
        </p:spPr>
        <p:txBody>
          <a:bodyPr vert="horz" lIns="91416" tIns="45708" rIns="91416" bIns="45708" rtlCol="0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1197" dirty="0">
                <a:solidFill>
                  <a:srgbClr val="157CB8"/>
                </a:solidFill>
                <a:latin typeface="HP Simplified Light (Body)"/>
                <a:cs typeface="Times New Roman" panose="02020603050405020304" pitchFamily="18" charset="0"/>
              </a:rPr>
              <a:t>Enter</a:t>
            </a:r>
          </a:p>
          <a:p>
            <a:pPr marL="514196" indent="-514196">
              <a:buFont typeface="Arial" panose="020B0604020202020204" pitchFamily="34" charset="0"/>
              <a:buAutoNum type="arabicPeriod"/>
            </a:pPr>
            <a:r>
              <a:rPr lang="en-GB" altLang="zh-TW" sz="8000" dirty="0">
                <a:latin typeface="HP Simplified Light (Body)"/>
                <a:cs typeface="Times New Roman" panose="02020603050405020304" pitchFamily="18" charset="0"/>
              </a:rPr>
              <a:t>Validation Date</a:t>
            </a:r>
            <a:endParaRPr lang="en-GB" sz="7998" dirty="0">
              <a:solidFill>
                <a:srgbClr val="000000"/>
              </a:solidFill>
              <a:latin typeface="HP Simplified Light (Body)"/>
            </a:endParaRPr>
          </a:p>
          <a:p>
            <a:pPr marL="514196" indent="-514196">
              <a:buAutoNum type="arabicPeriod"/>
            </a:pPr>
            <a:r>
              <a:rPr lang="en-GB" sz="7998" dirty="0">
                <a:solidFill>
                  <a:srgbClr val="000000"/>
                </a:solidFill>
                <a:latin typeface="HP Simplified Light (Body)"/>
              </a:rPr>
              <a:t>CPCT files’ Path</a:t>
            </a:r>
          </a:p>
          <a:p>
            <a:pPr marL="514196" indent="-514196">
              <a:buAutoNum type="arabicPeriod"/>
            </a:pPr>
            <a:r>
              <a:rPr lang="en-GB" sz="7998" dirty="0">
                <a:solidFill>
                  <a:srgbClr val="000000"/>
                </a:solidFill>
                <a:latin typeface="HP Simplified Light (Body)"/>
              </a:rPr>
              <a:t>(1) CKIT filer's Path – NB, Media       </a:t>
            </a:r>
          </a:p>
          <a:p>
            <a:pPr marL="0" indent="0">
              <a:buNone/>
            </a:pPr>
            <a:r>
              <a:rPr lang="en-GB" sz="7998" dirty="0">
                <a:solidFill>
                  <a:srgbClr val="000000"/>
                </a:solidFill>
                <a:latin typeface="HP Simplified Light (Body)"/>
              </a:rPr>
              <a:t>       (2) Sell Pricing file's Path</a:t>
            </a:r>
          </a:p>
          <a:p>
            <a:pPr marL="514196" indent="-514196">
              <a:buAutoNum type="arabicPeriod"/>
            </a:pPr>
            <a:endParaRPr lang="en-GB" sz="2799" dirty="0">
              <a:solidFill>
                <a:srgbClr val="000000"/>
              </a:solidFill>
              <a:latin typeface="HP Simplified Light (Body)"/>
            </a:endParaRPr>
          </a:p>
          <a:p>
            <a:pPr marL="514196" indent="-514196">
              <a:buAutoNum type="arabicPeriod"/>
            </a:pPr>
            <a:endParaRPr lang="en-GB" sz="2799" dirty="0">
              <a:solidFill>
                <a:srgbClr val="000000"/>
              </a:solidFill>
              <a:latin typeface="HP Simplified Light (Body)"/>
            </a:endParaRPr>
          </a:p>
          <a:p>
            <a:pPr marL="514196" indent="-514196">
              <a:buAutoNum type="arabicPeriod"/>
            </a:pPr>
            <a:endParaRPr lang="en-GB" sz="2799" dirty="0">
              <a:solidFill>
                <a:srgbClr val="000000"/>
              </a:solidFill>
              <a:latin typeface="HP Simplified Light (Body)"/>
            </a:endParaRPr>
          </a:p>
          <a:p>
            <a:pPr marL="0" indent="0">
              <a:buNone/>
            </a:pPr>
            <a:endParaRPr lang="en-GB" altLang="zh-TW" sz="2799" dirty="0">
              <a:latin typeface="HP Simplified Light (Body)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8B0D94F-3C89-4B08-BDBF-3415C760680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8FAFB"/>
              </a:clrFrom>
              <a:clrTo>
                <a:srgbClr val="F8FA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0335" y="4861572"/>
            <a:ext cx="973337" cy="95217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8B348CA-B443-4D9A-896F-0B4E28B53468}"/>
              </a:ext>
            </a:extLst>
          </p:cNvPr>
          <p:cNvSpPr/>
          <p:nvPr/>
        </p:nvSpPr>
        <p:spPr>
          <a:xfrm>
            <a:off x="562457" y="3529428"/>
            <a:ext cx="795822" cy="2822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799" dirty="0">
                <a:latin typeface="HP Simplified Light (Body)"/>
                <a:cs typeface="Times New Roman" panose="02020603050405020304" pitchFamily="18" charset="0"/>
              </a:rPr>
              <a:t>User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B5FB76C-BD17-48F6-866B-E8EEBC5629C2}"/>
              </a:ext>
            </a:extLst>
          </p:cNvPr>
          <p:cNvSpPr/>
          <p:nvPr/>
        </p:nvSpPr>
        <p:spPr>
          <a:xfrm>
            <a:off x="577946" y="5810278"/>
            <a:ext cx="795822" cy="2822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799" dirty="0">
                <a:latin typeface="HP Simplified Light (Body)"/>
                <a:cs typeface="Times New Roman" panose="02020603050405020304" pitchFamily="18" charset="0"/>
              </a:rPr>
              <a:t>Tool</a:t>
            </a:r>
          </a:p>
        </p:txBody>
      </p:sp>
      <p:sp>
        <p:nvSpPr>
          <p:cNvPr id="22" name="內容版面配置區 2">
            <a:extLst>
              <a:ext uri="{FF2B5EF4-FFF2-40B4-BE49-F238E27FC236}">
                <a16:creationId xmlns:a16="http://schemas.microsoft.com/office/drawing/2014/main" id="{51E503BA-F247-4002-AA86-25F0FC14D2E7}"/>
              </a:ext>
            </a:extLst>
          </p:cNvPr>
          <p:cNvSpPr txBox="1">
            <a:spLocks/>
          </p:cNvSpPr>
          <p:nvPr/>
        </p:nvSpPr>
        <p:spPr>
          <a:xfrm>
            <a:off x="9253750" y="4747466"/>
            <a:ext cx="3229067" cy="444145"/>
          </a:xfrm>
          <a:prstGeom prst="rect">
            <a:avLst/>
          </a:prstGeom>
        </p:spPr>
        <p:txBody>
          <a:bodyPr vert="horz" lIns="91416" tIns="45708" rIns="91416" bIns="45708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799" dirty="0">
                <a:solidFill>
                  <a:srgbClr val="157CB8"/>
                </a:solidFill>
                <a:latin typeface="HP Simplified Light (Body)"/>
                <a:cs typeface="Times New Roman" panose="02020603050405020304" pitchFamily="18" charset="0"/>
              </a:rPr>
              <a:t>Click ‘HP Price Consolidation’ button</a:t>
            </a:r>
            <a:endParaRPr lang="en-GB" altLang="zh-TW" sz="1799" dirty="0">
              <a:solidFill>
                <a:srgbClr val="157CB8"/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17800-2811-4516-9D65-DB1F26E061B2}"/>
              </a:ext>
            </a:extLst>
          </p:cNvPr>
          <p:cNvCxnSpPr>
            <a:cxnSpLocks/>
          </p:cNvCxnSpPr>
          <p:nvPr/>
        </p:nvCxnSpPr>
        <p:spPr>
          <a:xfrm>
            <a:off x="6029089" y="1344946"/>
            <a:ext cx="0" cy="459977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B1FB3D8-DC7D-4A53-8F1D-BF5C48FE49E9}"/>
              </a:ext>
            </a:extLst>
          </p:cNvPr>
          <p:cNvSpPr/>
          <p:nvPr/>
        </p:nvSpPr>
        <p:spPr>
          <a:xfrm>
            <a:off x="6591343" y="1019029"/>
            <a:ext cx="4073789" cy="707694"/>
          </a:xfrm>
          <a:prstGeom prst="rect">
            <a:avLst/>
          </a:prstGeom>
          <a:solidFill>
            <a:srgbClr val="1156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399" b="1" dirty="0">
                <a:latin typeface="HP Simplified Light (Body)"/>
                <a:cs typeface="Times New Roman" panose="02020603050405020304" pitchFamily="18" charset="0"/>
              </a:rPr>
              <a:t>HP Price Consolidation</a:t>
            </a:r>
          </a:p>
        </p:txBody>
      </p:sp>
      <p:sp>
        <p:nvSpPr>
          <p:cNvPr id="29" name="內容版面配置區 2">
            <a:extLst>
              <a:ext uri="{FF2B5EF4-FFF2-40B4-BE49-F238E27FC236}">
                <a16:creationId xmlns:a16="http://schemas.microsoft.com/office/drawing/2014/main" id="{84AF6FEF-11A0-45DC-8614-9A07D5D5B39C}"/>
              </a:ext>
            </a:extLst>
          </p:cNvPr>
          <p:cNvSpPr txBox="1">
            <a:spLocks/>
          </p:cNvSpPr>
          <p:nvPr/>
        </p:nvSpPr>
        <p:spPr>
          <a:xfrm>
            <a:off x="1702243" y="5191611"/>
            <a:ext cx="4073790" cy="1648289"/>
          </a:xfrm>
          <a:prstGeom prst="rect">
            <a:avLst/>
          </a:prstGeom>
        </p:spPr>
        <p:txBody>
          <a:bodyPr vert="horz" lIns="91416" tIns="45708" rIns="91416" bIns="45708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799" dirty="0">
                <a:solidFill>
                  <a:srgbClr val="157CB8"/>
                </a:solidFill>
                <a:latin typeface="HP Simplified Light (Body)"/>
                <a:cs typeface="Times New Roman" panose="02020603050405020304" pitchFamily="18" charset="0"/>
              </a:rPr>
              <a:t>Consolidate</a:t>
            </a:r>
          </a:p>
          <a:p>
            <a:pPr marL="0" indent="0">
              <a:buNone/>
            </a:pPr>
            <a:r>
              <a:rPr lang="en-GB" altLang="zh-TW" sz="2799" dirty="0">
                <a:latin typeface="HP Simplified Light (Body)"/>
                <a:cs typeface="Times New Roman" panose="02020603050405020304" pitchFamily="18" charset="0"/>
              </a:rPr>
              <a:t>BUSA, option sum</a:t>
            </a:r>
            <a:endParaRPr lang="zh-TW" altLang="en-US" sz="2799" dirty="0"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30" name="箭號: 向下 16">
            <a:extLst>
              <a:ext uri="{FF2B5EF4-FFF2-40B4-BE49-F238E27FC236}">
                <a16:creationId xmlns:a16="http://schemas.microsoft.com/office/drawing/2014/main" id="{66D16C68-EC86-41A2-97EE-4DC750C5E3CA}"/>
              </a:ext>
            </a:extLst>
          </p:cNvPr>
          <p:cNvSpPr/>
          <p:nvPr/>
        </p:nvSpPr>
        <p:spPr>
          <a:xfrm>
            <a:off x="3034059" y="4634002"/>
            <a:ext cx="705079" cy="591873"/>
          </a:xfrm>
          <a:prstGeom prst="downArrow">
            <a:avLst/>
          </a:prstGeom>
          <a:solidFill>
            <a:srgbClr val="1156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799" dirty="0">
              <a:latin typeface="HP Simplified Light (Body)"/>
            </a:endParaRPr>
          </a:p>
        </p:txBody>
      </p:sp>
      <p:sp>
        <p:nvSpPr>
          <p:cNvPr id="31" name="內容版面配置區 2">
            <a:extLst>
              <a:ext uri="{FF2B5EF4-FFF2-40B4-BE49-F238E27FC236}">
                <a16:creationId xmlns:a16="http://schemas.microsoft.com/office/drawing/2014/main" id="{6D1CECD6-8693-4AA8-BF4A-19FCC1C80CFE}"/>
              </a:ext>
            </a:extLst>
          </p:cNvPr>
          <p:cNvSpPr txBox="1">
            <a:spLocks/>
          </p:cNvSpPr>
          <p:nvPr/>
        </p:nvSpPr>
        <p:spPr>
          <a:xfrm>
            <a:off x="1628332" y="1797489"/>
            <a:ext cx="4073790" cy="2842521"/>
          </a:xfrm>
          <a:prstGeom prst="rect">
            <a:avLst/>
          </a:prstGeom>
        </p:spPr>
        <p:txBody>
          <a:bodyPr vert="horz" lIns="91416" tIns="45708" rIns="91416" bIns="45708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3300" dirty="0">
                <a:solidFill>
                  <a:srgbClr val="157CB8"/>
                </a:solidFill>
                <a:latin typeface="HP Simplified Light (Body)"/>
                <a:cs typeface="Times New Roman" panose="02020603050405020304" pitchFamily="18" charset="0"/>
              </a:rPr>
              <a:t>Enter</a:t>
            </a:r>
          </a:p>
          <a:p>
            <a:pPr marL="514196" indent="-514196">
              <a:buFont typeface="Arial" panose="020B0604020202020204" pitchFamily="34" charset="0"/>
              <a:buAutoNum type="arabicPeriod"/>
            </a:pPr>
            <a:r>
              <a:rPr lang="en-GB" altLang="zh-TW" sz="3300" dirty="0">
                <a:latin typeface="HP Simplified Light (Body)"/>
                <a:cs typeface="Times New Roman" panose="02020603050405020304" pitchFamily="18" charset="0"/>
              </a:rPr>
              <a:t>CPCT files’ path</a:t>
            </a:r>
          </a:p>
          <a:p>
            <a:pPr marL="514196" indent="-514196">
              <a:buAutoNum type="arabicPeriod"/>
            </a:pPr>
            <a:endParaRPr lang="en-GB" sz="2799" dirty="0">
              <a:solidFill>
                <a:srgbClr val="000000"/>
              </a:solidFill>
              <a:latin typeface="HP Simplified Light (Body)"/>
            </a:endParaRPr>
          </a:p>
          <a:p>
            <a:pPr marL="514196" indent="-514196">
              <a:buAutoNum type="arabicPeriod"/>
            </a:pPr>
            <a:endParaRPr lang="en-GB" sz="2799" dirty="0">
              <a:solidFill>
                <a:srgbClr val="000000"/>
              </a:solidFill>
              <a:latin typeface="HP Simplified Light (Body)"/>
            </a:endParaRPr>
          </a:p>
          <a:p>
            <a:pPr marL="514196" indent="-514196">
              <a:buAutoNum type="arabicPeriod"/>
            </a:pPr>
            <a:endParaRPr lang="en-GB" sz="2799" dirty="0">
              <a:solidFill>
                <a:srgbClr val="000000"/>
              </a:solidFill>
              <a:latin typeface="HP Simplified Light (Body)"/>
            </a:endParaRPr>
          </a:p>
          <a:p>
            <a:pPr marL="0" indent="0">
              <a:buNone/>
            </a:pPr>
            <a:endParaRPr lang="en-GB" altLang="zh-TW" sz="2799" dirty="0">
              <a:latin typeface="HP Simplified Light (Body)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143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F7642-F77C-4B2A-9459-C2F80345F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02348" y="5627833"/>
            <a:ext cx="175018" cy="219456"/>
          </a:xfrm>
        </p:spPr>
        <p:txBody>
          <a:bodyPr/>
          <a:lstStyle/>
          <a:p>
            <a:fld id="{FD6B5799-8FC1-42F8-8027-C838789F0933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0C1B327C-C619-46DB-9C25-CBD65842CE84}"/>
              </a:ext>
            </a:extLst>
          </p:cNvPr>
          <p:cNvSpPr txBox="1">
            <a:spLocks/>
          </p:cNvSpPr>
          <p:nvPr/>
        </p:nvSpPr>
        <p:spPr bwMode="gray">
          <a:xfrm>
            <a:off x="2502348" y="5627833"/>
            <a:ext cx="175018" cy="21945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D6B5799-8FC1-42F8-8027-C838789F0933}" type="slidenum">
              <a:rPr lang="zh-TW" altLang="en-US" smtClean="0">
                <a:latin typeface="HP Simplified Light (Body)"/>
              </a:rPr>
              <a:pPr/>
              <a:t>6</a:t>
            </a:fld>
            <a:endParaRPr lang="zh-TW" altLang="en-US">
              <a:latin typeface="HP Simplified Light (Body)"/>
            </a:endParaRPr>
          </a:p>
        </p:txBody>
      </p:sp>
      <p:sp>
        <p:nvSpPr>
          <p:cNvPr id="6" name="前言">
            <a:extLst>
              <a:ext uri="{FF2B5EF4-FFF2-40B4-BE49-F238E27FC236}">
                <a16:creationId xmlns:a16="http://schemas.microsoft.com/office/drawing/2014/main" id="{1CD3500B-E8AD-46D7-B30B-D8914831B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Quote Tool Introduction</a:t>
            </a:r>
            <a:endParaRPr lang="zh-TW" altLang="en-US" sz="3799" b="1" dirty="0">
              <a:latin typeface="HP Simplified Light (Body)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7" name="圖片 7">
            <a:extLst>
              <a:ext uri="{FF2B5EF4-FFF2-40B4-BE49-F238E27FC236}">
                <a16:creationId xmlns:a16="http://schemas.microsoft.com/office/drawing/2014/main" id="{6DFEC4B8-90B6-46D4-9D1D-1F407BD5A3F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8FAFB"/>
              </a:clrFrom>
              <a:clrTo>
                <a:srgbClr val="F8FA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340" y="2114666"/>
            <a:ext cx="973337" cy="71395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1305EE2-75A2-4C7D-B589-4272E109B445}"/>
              </a:ext>
            </a:extLst>
          </p:cNvPr>
          <p:cNvSpPr/>
          <p:nvPr/>
        </p:nvSpPr>
        <p:spPr>
          <a:xfrm>
            <a:off x="3878966" y="1106498"/>
            <a:ext cx="4073789" cy="707694"/>
          </a:xfrm>
          <a:prstGeom prst="rect">
            <a:avLst/>
          </a:prstGeom>
          <a:solidFill>
            <a:srgbClr val="1156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399" b="1" dirty="0">
                <a:latin typeface="HP Simplified Light (Body)"/>
                <a:cs typeface="Times New Roman" panose="02020603050405020304" pitchFamily="18" charset="0"/>
              </a:rPr>
              <a:t>TW Quote Consolidation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183065-196A-4237-8E35-D7324209408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8FAFB"/>
              </a:clrFrom>
              <a:clrTo>
                <a:srgbClr val="F8FA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48470" y="4223397"/>
            <a:ext cx="973337" cy="95217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8E9CA50-B440-4647-BA2B-9FDC2C3ACD68}"/>
              </a:ext>
            </a:extLst>
          </p:cNvPr>
          <p:cNvSpPr/>
          <p:nvPr/>
        </p:nvSpPr>
        <p:spPr>
          <a:xfrm>
            <a:off x="2380592" y="2891253"/>
            <a:ext cx="795822" cy="2822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799" dirty="0">
                <a:latin typeface="HP Simplified Light (Body)"/>
                <a:cs typeface="Times New Roman" panose="02020603050405020304" pitchFamily="18" charset="0"/>
              </a:rPr>
              <a:t>User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0ED2DA-A240-4354-960D-51C094C044F0}"/>
              </a:ext>
            </a:extLst>
          </p:cNvPr>
          <p:cNvSpPr/>
          <p:nvPr/>
        </p:nvSpPr>
        <p:spPr>
          <a:xfrm>
            <a:off x="2396081" y="5172103"/>
            <a:ext cx="795822" cy="2822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799" dirty="0">
                <a:latin typeface="HP Simplified Light (Body)"/>
                <a:cs typeface="Times New Roman" panose="02020603050405020304" pitchFamily="18" charset="0"/>
              </a:rPr>
              <a:t>Tool</a:t>
            </a: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2719064B-4960-4C3D-8464-430BFB80CADA}"/>
              </a:ext>
            </a:extLst>
          </p:cNvPr>
          <p:cNvSpPr txBox="1">
            <a:spLocks/>
          </p:cNvSpPr>
          <p:nvPr/>
        </p:nvSpPr>
        <p:spPr>
          <a:xfrm>
            <a:off x="4057517" y="5268382"/>
            <a:ext cx="6672002" cy="1648289"/>
          </a:xfrm>
          <a:prstGeom prst="rect">
            <a:avLst/>
          </a:prstGeom>
        </p:spPr>
        <p:txBody>
          <a:bodyPr vert="horz" lIns="91416" tIns="45708" rIns="91416" bIns="45708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799" dirty="0">
                <a:solidFill>
                  <a:srgbClr val="157CB8"/>
                </a:solidFill>
                <a:latin typeface="HP Simplified Light (Body)"/>
                <a:cs typeface="Times New Roman" panose="02020603050405020304" pitchFamily="18" charset="0"/>
              </a:rPr>
              <a:t>Consolidate/Separate</a:t>
            </a:r>
          </a:p>
          <a:p>
            <a:pPr marL="0" indent="0">
              <a:buNone/>
            </a:pPr>
            <a:r>
              <a:rPr lang="en-GB" altLang="zh-TW" sz="2799" dirty="0">
                <a:latin typeface="HP Simplified Light (Body)"/>
                <a:cs typeface="Times New Roman" panose="02020603050405020304" pitchFamily="18" charset="0"/>
              </a:rPr>
              <a:t>AV, SKU</a:t>
            </a:r>
          </a:p>
          <a:p>
            <a:pPr marL="0" indent="0">
              <a:buNone/>
            </a:pPr>
            <a:r>
              <a:rPr lang="en-GB" altLang="zh-TW" sz="2799" dirty="0">
                <a:solidFill>
                  <a:srgbClr val="007F7D"/>
                </a:solidFill>
                <a:latin typeface="HP Simplified Light (Body)"/>
                <a:cs typeface="Times New Roman" panose="02020603050405020304" pitchFamily="18" charset="0"/>
              </a:rPr>
              <a:t>check</a:t>
            </a:r>
            <a:r>
              <a:rPr lang="en-GB" altLang="zh-TW" sz="2799" dirty="0">
                <a:latin typeface="HP Simplified Light (Body)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GB" altLang="zh-TW" sz="2799" dirty="0">
                <a:latin typeface="HP Simplified Light (Body)"/>
                <a:cs typeface="Times New Roman" panose="02020603050405020304" pitchFamily="18" charset="0"/>
              </a:rPr>
              <a:t>if ‘SKU’ sheet has repetitive SKU+PN</a:t>
            </a:r>
          </a:p>
        </p:txBody>
      </p:sp>
      <p:sp>
        <p:nvSpPr>
          <p:cNvPr id="13" name="箭號: 向下 16">
            <a:extLst>
              <a:ext uri="{FF2B5EF4-FFF2-40B4-BE49-F238E27FC236}">
                <a16:creationId xmlns:a16="http://schemas.microsoft.com/office/drawing/2014/main" id="{D2512850-6A2E-4424-BFFF-D65844EE7F7D}"/>
              </a:ext>
            </a:extLst>
          </p:cNvPr>
          <p:cNvSpPr/>
          <p:nvPr/>
        </p:nvSpPr>
        <p:spPr>
          <a:xfrm>
            <a:off x="5389333" y="4710773"/>
            <a:ext cx="705079" cy="591873"/>
          </a:xfrm>
          <a:prstGeom prst="downArrow">
            <a:avLst/>
          </a:prstGeom>
          <a:solidFill>
            <a:srgbClr val="1156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799" dirty="0">
              <a:latin typeface="HP Simplified Light (Body)"/>
            </a:endParaRPr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BD2B98C7-DDB1-4B32-809F-BF5982E0C8BB}"/>
              </a:ext>
            </a:extLst>
          </p:cNvPr>
          <p:cNvSpPr txBox="1">
            <a:spLocks/>
          </p:cNvSpPr>
          <p:nvPr/>
        </p:nvSpPr>
        <p:spPr>
          <a:xfrm>
            <a:off x="3983606" y="1874260"/>
            <a:ext cx="5503294" cy="2842521"/>
          </a:xfrm>
          <a:prstGeom prst="rect">
            <a:avLst/>
          </a:prstGeom>
        </p:spPr>
        <p:txBody>
          <a:bodyPr vert="horz" lIns="91416" tIns="45708" rIns="91416" bIns="45708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3300" dirty="0">
                <a:solidFill>
                  <a:srgbClr val="157CB8"/>
                </a:solidFill>
                <a:latin typeface="HP Simplified Light (Body)"/>
                <a:cs typeface="Times New Roman" panose="02020603050405020304" pitchFamily="18" charset="0"/>
              </a:rPr>
              <a:t>Enter</a:t>
            </a:r>
          </a:p>
          <a:p>
            <a:pPr marL="514196" indent="-514196">
              <a:buFont typeface="Arial" panose="020B0604020202020204" pitchFamily="34" charset="0"/>
              <a:buAutoNum type="arabicPeriod"/>
            </a:pPr>
            <a:r>
              <a:rPr lang="en-GB" altLang="zh-TW" sz="3600" dirty="0">
                <a:latin typeface="HP Simplified Light (Body)"/>
                <a:cs typeface="Times New Roman" panose="02020603050405020304" pitchFamily="18" charset="0"/>
              </a:rPr>
              <a:t>Consolidation Date</a:t>
            </a:r>
            <a:endParaRPr lang="en-GB" altLang="zh-TW" sz="3300" dirty="0">
              <a:latin typeface="HP Simplified Light (Body)"/>
              <a:cs typeface="Times New Roman" panose="02020603050405020304" pitchFamily="18" charset="0"/>
            </a:endParaRPr>
          </a:p>
          <a:p>
            <a:pPr marL="514196" indent="-514196">
              <a:buFont typeface="Arial" panose="020B0604020202020204" pitchFamily="34" charset="0"/>
              <a:buAutoNum type="arabicPeriod"/>
            </a:pPr>
            <a:r>
              <a:rPr lang="en-GB" altLang="zh-TW" sz="3300" dirty="0">
                <a:latin typeface="HP Simplified Light (Body)"/>
                <a:cs typeface="Times New Roman" panose="02020603050405020304" pitchFamily="18" charset="0"/>
              </a:rPr>
              <a:t>TW CM files’ path</a:t>
            </a:r>
          </a:p>
          <a:p>
            <a:pPr marL="514196" indent="-514196">
              <a:buAutoNum type="arabicPeriod"/>
            </a:pPr>
            <a:endParaRPr lang="en-GB" sz="2799" dirty="0">
              <a:solidFill>
                <a:srgbClr val="000000"/>
              </a:solidFill>
              <a:latin typeface="HP Simplified Light (Body)"/>
            </a:endParaRPr>
          </a:p>
          <a:p>
            <a:pPr marL="514196" indent="-514196">
              <a:buAutoNum type="arabicPeriod"/>
            </a:pPr>
            <a:endParaRPr lang="en-GB" sz="2799" dirty="0">
              <a:solidFill>
                <a:srgbClr val="000000"/>
              </a:solidFill>
              <a:latin typeface="HP Simplified Light (Body)"/>
            </a:endParaRPr>
          </a:p>
          <a:p>
            <a:pPr marL="514196" indent="-514196">
              <a:buAutoNum type="arabicPeriod"/>
            </a:pPr>
            <a:endParaRPr lang="en-GB" sz="2799" dirty="0">
              <a:solidFill>
                <a:srgbClr val="000000"/>
              </a:solidFill>
              <a:latin typeface="HP Simplified Light (Body)"/>
            </a:endParaRPr>
          </a:p>
          <a:p>
            <a:pPr marL="0" indent="0">
              <a:buNone/>
            </a:pPr>
            <a:endParaRPr lang="en-GB" altLang="zh-TW" sz="2799" dirty="0">
              <a:latin typeface="HP Simplified Light (Body)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247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92262-9AC1-42BA-BF07-18BBEE22C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5" name="前言">
            <a:extLst>
              <a:ext uri="{FF2B5EF4-FFF2-40B4-BE49-F238E27FC236}">
                <a16:creationId xmlns:a16="http://schemas.microsoft.com/office/drawing/2014/main" id="{E910DB7D-7B78-454B-BA42-E92008336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Quote Tool Introduction</a:t>
            </a:r>
            <a:endParaRPr lang="zh-TW" altLang="en-US" sz="3799" b="1" dirty="0">
              <a:latin typeface="HP Simplified Light (Body)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5BF808-2D55-46E3-90F9-0E48168C2694}"/>
              </a:ext>
            </a:extLst>
          </p:cNvPr>
          <p:cNvSpPr/>
          <p:nvPr/>
        </p:nvSpPr>
        <p:spPr>
          <a:xfrm>
            <a:off x="859232" y="2776163"/>
            <a:ext cx="2723646" cy="707694"/>
          </a:xfrm>
          <a:prstGeom prst="rect">
            <a:avLst/>
          </a:prstGeom>
          <a:solidFill>
            <a:srgbClr val="2144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399" dirty="0">
                <a:latin typeface="HP Simplified Light (Body)"/>
                <a:cs typeface="Times New Roman" panose="02020603050405020304" pitchFamily="18" charset="0"/>
              </a:rPr>
              <a:t>Delete CPCT </a:t>
            </a:r>
          </a:p>
          <a:p>
            <a:pPr algn="ctr"/>
            <a:r>
              <a:rPr lang="en-GB" sz="2399" dirty="0">
                <a:latin typeface="HP Simplified Light (Body)"/>
                <a:cs typeface="Times New Roman" panose="02020603050405020304" pitchFamily="18" charset="0"/>
              </a:rPr>
              <a:t>non-effectively date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A5C1DC-8644-4ACE-8C71-8506EFA2D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061" y="2067088"/>
            <a:ext cx="7391033" cy="2463677"/>
          </a:xfrm>
          <a:prstGeom prst="rect">
            <a:avLst/>
          </a:prstGeom>
        </p:spPr>
      </p:pic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599FCBEB-C16A-4E91-963D-EF83FA197EE2}"/>
              </a:ext>
            </a:extLst>
          </p:cNvPr>
          <p:cNvSpPr txBox="1">
            <a:spLocks/>
          </p:cNvSpPr>
          <p:nvPr/>
        </p:nvSpPr>
        <p:spPr>
          <a:xfrm>
            <a:off x="859231" y="3646897"/>
            <a:ext cx="2723646" cy="444145"/>
          </a:xfrm>
          <a:prstGeom prst="rect">
            <a:avLst/>
          </a:prstGeom>
        </p:spPr>
        <p:txBody>
          <a:bodyPr vert="horz" lIns="91416" tIns="45708" rIns="91416" bIns="45708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799" dirty="0">
                <a:latin typeface="HP Simplified Light (Body)"/>
                <a:cs typeface="Times New Roman" panose="02020603050405020304" pitchFamily="18" charset="0"/>
              </a:rPr>
              <a:t>Deleted part will be filled in </a:t>
            </a:r>
            <a:r>
              <a:rPr lang="en-US" altLang="zh-TW" sz="3099" b="1" dirty="0">
                <a:solidFill>
                  <a:srgbClr val="C00000"/>
                </a:solidFill>
                <a:latin typeface="HP Simplified Light (Body)"/>
                <a:cs typeface="Times New Roman" panose="02020603050405020304" pitchFamily="18" charset="0"/>
              </a:rPr>
              <a:t>Red</a:t>
            </a:r>
            <a:endParaRPr lang="en-GB" altLang="zh-TW" sz="1799" b="1" dirty="0">
              <a:solidFill>
                <a:srgbClr val="C00000"/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EE4FDA-0964-4A00-814A-ACA1C56122AE}"/>
              </a:ext>
            </a:extLst>
          </p:cNvPr>
          <p:cNvSpPr/>
          <p:nvPr/>
        </p:nvSpPr>
        <p:spPr>
          <a:xfrm>
            <a:off x="7142144" y="3107911"/>
            <a:ext cx="1134691" cy="695635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351DA3-6109-43C1-AFE7-B296B1A35D0B}"/>
              </a:ext>
            </a:extLst>
          </p:cNvPr>
          <p:cNvSpPr/>
          <p:nvPr/>
        </p:nvSpPr>
        <p:spPr>
          <a:xfrm>
            <a:off x="9615069" y="4196011"/>
            <a:ext cx="1757025" cy="334753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43ED99-56F3-4920-8B25-04DB0F726EC7}"/>
              </a:ext>
            </a:extLst>
          </p:cNvPr>
          <p:cNvSpPr txBox="1"/>
          <p:nvPr/>
        </p:nvSpPr>
        <p:spPr>
          <a:xfrm>
            <a:off x="4441756" y="4748684"/>
            <a:ext cx="72327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Check both 'CPC Tracker-pricing update’ &amp; 'CPC Tracker-spec change‘</a:t>
            </a:r>
            <a:r>
              <a:rPr lang="zh-TW" altLang="en-US" sz="2000" dirty="0"/>
              <a:t> </a:t>
            </a:r>
            <a:r>
              <a:rPr lang="en-GB" altLang="zh-TW" sz="2000" dirty="0"/>
              <a:t>sheet</a:t>
            </a:r>
            <a:r>
              <a:rPr lang="en-GB" sz="20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19541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C0909-A0EF-4441-9733-85AB6FC05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AE9648-407B-48ED-80E1-F57C55DDB05E}"/>
              </a:ext>
            </a:extLst>
          </p:cNvPr>
          <p:cNvSpPr/>
          <p:nvPr/>
        </p:nvSpPr>
        <p:spPr>
          <a:xfrm>
            <a:off x="593678" y="1193032"/>
            <a:ext cx="2723645" cy="705079"/>
          </a:xfrm>
          <a:prstGeom prst="rect">
            <a:avLst/>
          </a:prstGeom>
          <a:solidFill>
            <a:srgbClr val="1156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399" dirty="0">
                <a:latin typeface="HP Simplified Light (Body)"/>
                <a:cs typeface="Times New Roman" panose="02020603050405020304" pitchFamily="18" charset="0"/>
              </a:rPr>
              <a:t>Quote Validation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04C3A2E-F112-4DC2-9EF0-1E81D88899E4}"/>
              </a:ext>
            </a:extLst>
          </p:cNvPr>
          <p:cNvSpPr txBox="1">
            <a:spLocks/>
          </p:cNvSpPr>
          <p:nvPr/>
        </p:nvSpPr>
        <p:spPr>
          <a:xfrm>
            <a:off x="537416" y="2067234"/>
            <a:ext cx="9755875" cy="444145"/>
          </a:xfrm>
          <a:prstGeom prst="rect">
            <a:avLst/>
          </a:prstGeom>
        </p:spPr>
        <p:txBody>
          <a:bodyPr vert="horz" lIns="91416" tIns="45708" rIns="91416" bIns="45708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HP Simplified Light (Body)"/>
                <a:cs typeface="Times New Roman" panose="02020603050405020304" pitchFamily="18" charset="0"/>
              </a:rPr>
              <a:t>Create a folder named  as ‘</a:t>
            </a:r>
            <a:r>
              <a:rPr lang="en-US" altLang="zh-TW" sz="1400" dirty="0" err="1">
                <a:latin typeface="HP Simplified Light (Body)"/>
                <a:cs typeface="Times New Roman" panose="02020603050405020304" pitchFamily="18" charset="0"/>
              </a:rPr>
              <a:t>Quote_Validation</a:t>
            </a:r>
            <a:r>
              <a:rPr lang="en-US" altLang="zh-TW" sz="1400" dirty="0">
                <a:latin typeface="HP Simplified Light (Body)"/>
                <a:cs typeface="Times New Roman" panose="02020603050405020304" pitchFamily="18" charset="0"/>
              </a:rPr>
              <a:t>‘  and a file that validate </a:t>
            </a:r>
            <a:r>
              <a:rPr lang="en-GB" altLang="zh-TW" sz="1400" dirty="0">
                <a:latin typeface="HP Simplified Light (Body)"/>
                <a:cs typeface="Times New Roman" panose="02020603050405020304" pitchFamily="18" charset="0"/>
              </a:rPr>
              <a:t>CKIT, </a:t>
            </a:r>
            <a:r>
              <a:rPr lang="en-US" altLang="zh-TW" sz="1400" dirty="0">
                <a:latin typeface="HP Simplified Light (Body)"/>
                <a:cs typeface="Times New Roman" panose="02020603050405020304" pitchFamily="18" charset="0"/>
              </a:rPr>
              <a:t>Sell Price</a:t>
            </a:r>
            <a:r>
              <a:rPr lang="en-GB" altLang="zh-TW" sz="1400" dirty="0">
                <a:latin typeface="HP Simplified Light (Body)"/>
                <a:cs typeface="Times New Roman" panose="02020603050405020304" pitchFamily="18" charset="0"/>
              </a:rPr>
              <a:t>, and BUSA. Also, it would consolidate all BUSA, OP, CKIT, and sell price HP quotes in ‘HP Price’ sheet.</a:t>
            </a:r>
            <a:endParaRPr lang="zh-TW" altLang="en-US" sz="1400" dirty="0">
              <a:latin typeface="HP Simplified Light (Body)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altLang="zh-TW" sz="1400" b="1" dirty="0">
              <a:solidFill>
                <a:srgbClr val="FF64FF"/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9" name="前言">
            <a:extLst>
              <a:ext uri="{FF2B5EF4-FFF2-40B4-BE49-F238E27FC236}">
                <a16:creationId xmlns:a16="http://schemas.microsoft.com/office/drawing/2014/main" id="{0B9D4E56-4CB1-49E7-B306-94F585559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Quote Tool Introduction</a:t>
            </a:r>
            <a:endParaRPr lang="zh-TW" altLang="en-US" sz="3799" b="1" dirty="0">
              <a:latin typeface="HP Simplified Light (Body)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A69E72-F3BE-4F10-97B0-E2682243E8BD}"/>
              </a:ext>
            </a:extLst>
          </p:cNvPr>
          <p:cNvSpPr/>
          <p:nvPr/>
        </p:nvSpPr>
        <p:spPr>
          <a:xfrm>
            <a:off x="684213" y="2438234"/>
            <a:ext cx="1327166" cy="23567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HP Simplified Light (Body)"/>
                <a:cs typeface="Times New Roman" panose="02020603050405020304" pitchFamily="18" charset="0"/>
              </a:rPr>
              <a:t>CKIT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7708AA-897A-4FC2-8EBB-D350353690F5}"/>
              </a:ext>
            </a:extLst>
          </p:cNvPr>
          <p:cNvSpPr/>
          <p:nvPr/>
        </p:nvSpPr>
        <p:spPr>
          <a:xfrm>
            <a:off x="684213" y="5059648"/>
            <a:ext cx="1327166" cy="23567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TW" sz="1600" dirty="0">
                <a:latin typeface="HP Simplified Light (Body)"/>
                <a:cs typeface="Times New Roman" panose="02020603050405020304" pitchFamily="18" charset="0"/>
              </a:rPr>
              <a:t>Master Data</a:t>
            </a:r>
            <a:endParaRPr lang="en-GB" sz="1600" dirty="0"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956B81-4649-40E7-ADE3-414930DDD953}"/>
              </a:ext>
            </a:extLst>
          </p:cNvPr>
          <p:cNvSpPr/>
          <p:nvPr/>
        </p:nvSpPr>
        <p:spPr>
          <a:xfrm>
            <a:off x="684213" y="3708375"/>
            <a:ext cx="1327166" cy="23567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HP Simplified Light (Body)"/>
                <a:cs typeface="Times New Roman" panose="02020603050405020304" pitchFamily="18" charset="0"/>
              </a:rPr>
              <a:t>BU SA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CB3FCC-972E-4F19-ACE4-788463594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2766118"/>
            <a:ext cx="11253457" cy="8038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399ACE-2E6F-42DD-A046-A38C2E225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12" y="4091085"/>
            <a:ext cx="11253457" cy="9328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B019BB-0D87-4F4A-AC47-3FD1A5337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12" y="5379762"/>
            <a:ext cx="11253457" cy="81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C8701-7557-4460-A3CA-39ECD1B42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DD79CE-72B7-45EF-B909-42FA37F3FAFA}"/>
              </a:ext>
            </a:extLst>
          </p:cNvPr>
          <p:cNvSpPr/>
          <p:nvPr/>
        </p:nvSpPr>
        <p:spPr>
          <a:xfrm>
            <a:off x="593678" y="1193032"/>
            <a:ext cx="2723645" cy="705079"/>
          </a:xfrm>
          <a:prstGeom prst="rect">
            <a:avLst/>
          </a:prstGeom>
          <a:solidFill>
            <a:srgbClr val="1156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399" dirty="0">
                <a:latin typeface="HP Simplified Light (Body)"/>
                <a:cs typeface="Times New Roman" panose="02020603050405020304" pitchFamily="18" charset="0"/>
              </a:rPr>
              <a:t>CPCT Consolidation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58BB58B5-3ADF-4C1C-8F72-4FA978FEFC15}"/>
              </a:ext>
            </a:extLst>
          </p:cNvPr>
          <p:cNvSpPr txBox="1">
            <a:spLocks/>
          </p:cNvSpPr>
          <p:nvPr/>
        </p:nvSpPr>
        <p:spPr>
          <a:xfrm>
            <a:off x="537416" y="2067234"/>
            <a:ext cx="9755875" cy="444145"/>
          </a:xfrm>
          <a:prstGeom prst="rect">
            <a:avLst/>
          </a:prstGeom>
        </p:spPr>
        <p:txBody>
          <a:bodyPr vert="horz" lIns="91416" tIns="45708" rIns="91416" bIns="45708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HP Simplified Light (Body)"/>
                <a:cs typeface="Times New Roman" panose="02020603050405020304" pitchFamily="18" charset="0"/>
              </a:rPr>
              <a:t>Create a folder named as ‘</a:t>
            </a:r>
            <a:r>
              <a:rPr lang="en-US" altLang="zh-TW" sz="1400" dirty="0" err="1">
                <a:latin typeface="HP Simplified Light (Body)"/>
                <a:cs typeface="Times New Roman" panose="02020603050405020304" pitchFamily="18" charset="0"/>
              </a:rPr>
              <a:t>CPCT_Consolidation</a:t>
            </a:r>
            <a:r>
              <a:rPr lang="en-US" altLang="zh-TW" sz="1400" dirty="0">
                <a:latin typeface="HP Simplified Light (Body)"/>
                <a:cs typeface="Times New Roman" panose="02020603050405020304" pitchFamily="18" charset="0"/>
              </a:rPr>
              <a:t>’ and a file that consolidating BU SA &amp; Option</a:t>
            </a:r>
            <a:endParaRPr lang="en-GB" altLang="zh-TW" sz="1400" b="1" dirty="0">
              <a:solidFill>
                <a:srgbClr val="FF64FF"/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7" name="前言">
            <a:extLst>
              <a:ext uri="{FF2B5EF4-FFF2-40B4-BE49-F238E27FC236}">
                <a16:creationId xmlns:a16="http://schemas.microsoft.com/office/drawing/2014/main" id="{21BA8C00-5B03-4B44-B039-F8F61F617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Quote Tool Introduction</a:t>
            </a:r>
            <a:endParaRPr lang="zh-TW" altLang="en-US" sz="3799" b="1" dirty="0">
              <a:latin typeface="HP Simplified Light (Body)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3E9830-AF73-4EA5-B09E-4016B7167DE3}"/>
              </a:ext>
            </a:extLst>
          </p:cNvPr>
          <p:cNvSpPr/>
          <p:nvPr/>
        </p:nvSpPr>
        <p:spPr>
          <a:xfrm>
            <a:off x="684213" y="2556225"/>
            <a:ext cx="1327166" cy="23567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HP Simplified Light (Body)"/>
                <a:cs typeface="Times New Roman" panose="02020603050405020304" pitchFamily="18" charset="0"/>
              </a:rPr>
              <a:t>BU SA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600ABE-7382-436B-8169-F7D9FB9EDF2A}"/>
              </a:ext>
            </a:extLst>
          </p:cNvPr>
          <p:cNvSpPr/>
          <p:nvPr/>
        </p:nvSpPr>
        <p:spPr>
          <a:xfrm>
            <a:off x="684213" y="4594183"/>
            <a:ext cx="1327166" cy="23567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HP Simplified Light (Body)"/>
                <a:cs typeface="Times New Roman" panose="02020603050405020304" pitchFamily="18" charset="0"/>
              </a:rPr>
              <a:t>Option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F6CA69-0148-4755-BC7E-CC3D5572B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2955655"/>
            <a:ext cx="9048750" cy="12287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B55697-8519-4FF7-B6EA-E9B52F16F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12" y="5077807"/>
            <a:ext cx="723900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18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9102E-9619-481F-9081-38DDE8898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03242F-A9B3-4E5A-A3C2-6EB26F470DF9}"/>
              </a:ext>
            </a:extLst>
          </p:cNvPr>
          <p:cNvSpPr/>
          <p:nvPr/>
        </p:nvSpPr>
        <p:spPr>
          <a:xfrm>
            <a:off x="593678" y="1193032"/>
            <a:ext cx="3139423" cy="705079"/>
          </a:xfrm>
          <a:prstGeom prst="rect">
            <a:avLst/>
          </a:prstGeom>
          <a:solidFill>
            <a:srgbClr val="1156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HP Simplified Light (Body)"/>
                <a:cs typeface="Times New Roman" panose="02020603050405020304" pitchFamily="18" charset="0"/>
              </a:rPr>
              <a:t>HP </a:t>
            </a:r>
            <a:r>
              <a:rPr lang="en-US" altLang="zh-TW" sz="2400" dirty="0" err="1">
                <a:latin typeface="HP Simplified Light (Body)"/>
                <a:cs typeface="Times New Roman" panose="02020603050405020304" pitchFamily="18" charset="0"/>
              </a:rPr>
              <a:t>Price_Consolidation</a:t>
            </a:r>
            <a:endParaRPr lang="en-GB" sz="2399" dirty="0"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A4DACD4-3820-4C3B-AFA1-EEF360339982}"/>
              </a:ext>
            </a:extLst>
          </p:cNvPr>
          <p:cNvSpPr txBox="1">
            <a:spLocks/>
          </p:cNvSpPr>
          <p:nvPr/>
        </p:nvSpPr>
        <p:spPr>
          <a:xfrm>
            <a:off x="537416" y="2067234"/>
            <a:ext cx="10594775" cy="444145"/>
          </a:xfrm>
          <a:prstGeom prst="rect">
            <a:avLst/>
          </a:prstGeom>
        </p:spPr>
        <p:txBody>
          <a:bodyPr vert="horz" lIns="91416" tIns="45708" rIns="91416" bIns="45708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HP Simplified Light (Body)"/>
                <a:cs typeface="Times New Roman" panose="02020603050405020304" pitchFamily="18" charset="0"/>
              </a:rPr>
              <a:t>Create a folder named as ‘HP </a:t>
            </a:r>
            <a:r>
              <a:rPr lang="en-US" altLang="zh-TW" sz="1400" dirty="0" err="1">
                <a:latin typeface="HP Simplified Light (Body)"/>
                <a:cs typeface="Times New Roman" panose="02020603050405020304" pitchFamily="18" charset="0"/>
              </a:rPr>
              <a:t>Price_Consolidation</a:t>
            </a:r>
            <a:r>
              <a:rPr lang="en-US" altLang="zh-TW" sz="1400" dirty="0">
                <a:latin typeface="HP Simplified Light (Body)"/>
                <a:cs typeface="Times New Roman" panose="02020603050405020304" pitchFamily="18" charset="0"/>
              </a:rPr>
              <a:t> ‘ and a file that </a:t>
            </a:r>
            <a:r>
              <a:rPr lang="en-GB" altLang="zh-TW" sz="1400" dirty="0">
                <a:latin typeface="HP Simplified Light (Body)"/>
                <a:cs typeface="Times New Roman" panose="02020603050405020304" pitchFamily="18" charset="0"/>
              </a:rPr>
              <a:t>consolidate all BUSA, OP, CKIT, and sell price HP quotes in ‘HP Price’  sheet.</a:t>
            </a:r>
            <a:endParaRPr lang="en-GB" altLang="zh-TW" sz="1400" b="1" dirty="0">
              <a:solidFill>
                <a:srgbClr val="FF64FF"/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7" name="前言">
            <a:extLst>
              <a:ext uri="{FF2B5EF4-FFF2-40B4-BE49-F238E27FC236}">
                <a16:creationId xmlns:a16="http://schemas.microsoft.com/office/drawing/2014/main" id="{AED6F068-85A6-4506-A35A-22C73A812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Quote Tool Introduction</a:t>
            </a:r>
            <a:endParaRPr lang="zh-TW" altLang="en-US" sz="3799" b="1" dirty="0">
              <a:latin typeface="HP Simplified Light (Body)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F2440C-B695-496A-8FC8-7A7992E57D46}"/>
              </a:ext>
            </a:extLst>
          </p:cNvPr>
          <p:cNvSpPr/>
          <p:nvPr/>
        </p:nvSpPr>
        <p:spPr>
          <a:xfrm>
            <a:off x="684213" y="2438234"/>
            <a:ext cx="1327166" cy="23567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HP Simplified Light (Body)"/>
                <a:cs typeface="Times New Roman" panose="02020603050405020304" pitchFamily="18" charset="0"/>
              </a:rPr>
              <a:t>HP Price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B60C0F1-F716-4F56-A430-A5AC04443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231" y="3166111"/>
            <a:ext cx="909637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476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13E57-BA18-4620-BF27-DE7F491DD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0FEF6E-1ADC-4FE3-B018-B671D88BD949}"/>
              </a:ext>
            </a:extLst>
          </p:cNvPr>
          <p:cNvSpPr/>
          <p:nvPr/>
        </p:nvSpPr>
        <p:spPr>
          <a:xfrm>
            <a:off x="593678" y="1193032"/>
            <a:ext cx="3139423" cy="705079"/>
          </a:xfrm>
          <a:prstGeom prst="rect">
            <a:avLst/>
          </a:prstGeom>
          <a:solidFill>
            <a:srgbClr val="1156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HP Simplified Light (Body)"/>
                <a:cs typeface="Times New Roman" panose="02020603050405020304" pitchFamily="18" charset="0"/>
              </a:rPr>
              <a:t>TW Quote Consolidation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E81D5AC9-1D4C-4A29-9CB1-6E39892857C0}"/>
              </a:ext>
            </a:extLst>
          </p:cNvPr>
          <p:cNvSpPr txBox="1">
            <a:spLocks/>
          </p:cNvSpPr>
          <p:nvPr/>
        </p:nvSpPr>
        <p:spPr>
          <a:xfrm>
            <a:off x="537416" y="2067234"/>
            <a:ext cx="10594775" cy="793163"/>
          </a:xfrm>
          <a:prstGeom prst="rect">
            <a:avLst/>
          </a:prstGeom>
        </p:spPr>
        <p:txBody>
          <a:bodyPr vert="horz" lIns="91416" tIns="45708" rIns="91416" bIns="45708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HP Simplified Light (Body)"/>
                <a:cs typeface="Times New Roman" panose="02020603050405020304" pitchFamily="18" charset="0"/>
              </a:rPr>
              <a:t>Create a folder named as ‘TW Quote Consolidation‘ and a file that </a:t>
            </a:r>
            <a:r>
              <a:rPr lang="en-GB" altLang="zh-TW" sz="1400" dirty="0">
                <a:latin typeface="HP Simplified Light (Body)"/>
                <a:cs typeface="Times New Roman" panose="02020603050405020304" pitchFamily="18" charset="0"/>
              </a:rPr>
              <a:t>consolidate/ separate all AV, SKU.(All PN contain ‘AV’ would be put in ‘AV’ sheet)</a:t>
            </a:r>
            <a:endParaRPr lang="en-GB" altLang="zh-TW" sz="1400" b="1" dirty="0">
              <a:solidFill>
                <a:srgbClr val="FF64FF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altLang="zh-TW" sz="1400" b="1" dirty="0">
                <a:latin typeface="HP Simplified Light (Body)"/>
                <a:cs typeface="Times New Roman" panose="02020603050405020304" pitchFamily="18" charset="0"/>
              </a:rPr>
              <a:t>Also, it will check if ‘SKU’ sheet has repetitive SKU+PN</a:t>
            </a:r>
            <a:endParaRPr lang="en-GB" altLang="zh-TW" sz="1400" dirty="0"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9" name="前言">
            <a:extLst>
              <a:ext uri="{FF2B5EF4-FFF2-40B4-BE49-F238E27FC236}">
                <a16:creationId xmlns:a16="http://schemas.microsoft.com/office/drawing/2014/main" id="{664EED9E-D9C2-4D19-88DD-0A224C0EE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Quote Tool Introduction</a:t>
            </a:r>
            <a:endParaRPr lang="zh-TW" altLang="en-US" sz="3799" b="1" dirty="0">
              <a:latin typeface="HP Simplified Light (Body)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E1C3E2-48B7-445D-84A3-38FC7E5B0FB5}"/>
              </a:ext>
            </a:extLst>
          </p:cNvPr>
          <p:cNvSpPr/>
          <p:nvPr/>
        </p:nvSpPr>
        <p:spPr>
          <a:xfrm>
            <a:off x="684213" y="2750558"/>
            <a:ext cx="1327166" cy="23567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HP Simplified Light (Body)"/>
                <a:cs typeface="Times New Roman" panose="02020603050405020304" pitchFamily="18" charset="0"/>
              </a:rPr>
              <a:t>AV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7C2799-3917-4C72-8C2A-D1514F4431A3}"/>
              </a:ext>
            </a:extLst>
          </p:cNvPr>
          <p:cNvSpPr/>
          <p:nvPr/>
        </p:nvSpPr>
        <p:spPr>
          <a:xfrm>
            <a:off x="684213" y="4637987"/>
            <a:ext cx="1327166" cy="23567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HP Simplified Light (Body)"/>
                <a:cs typeface="Times New Roman" panose="02020603050405020304" pitchFamily="18" charset="0"/>
              </a:rPr>
              <a:t>SKU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A5089EC-C2FB-4A33-8271-5A321643B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391" y="3119805"/>
            <a:ext cx="10210800" cy="12807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47EC357-AFE9-4924-9336-0484B2AB6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91" y="4993605"/>
            <a:ext cx="10309283" cy="107358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FF7C130-AFEC-4A21-8544-2D10496071C8}"/>
              </a:ext>
            </a:extLst>
          </p:cNvPr>
          <p:cNvSpPr txBox="1"/>
          <p:nvPr/>
        </p:nvSpPr>
        <p:spPr>
          <a:xfrm>
            <a:off x="5193347" y="768358"/>
            <a:ext cx="57247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C00000"/>
                </a:solidFill>
                <a:latin typeface="HP Simplified Light (Body)"/>
                <a:cs typeface="Times New Roman" panose="02020603050405020304" pitchFamily="18" charset="0"/>
              </a:rPr>
              <a:t>Alert might pop up </a:t>
            </a:r>
          </a:p>
          <a:p>
            <a:r>
              <a:rPr lang="en-US" altLang="zh-TW" sz="1800" dirty="0">
                <a:solidFill>
                  <a:srgbClr val="C00000"/>
                </a:solidFill>
                <a:latin typeface="HP Simplified Light (Body)"/>
                <a:cs typeface="Times New Roman" panose="02020603050405020304" pitchFamily="18" charset="0"/>
              </a:rPr>
              <a:t>if</a:t>
            </a:r>
            <a:r>
              <a:rPr lang="en-GB" altLang="zh-TW" sz="1800" dirty="0">
                <a:solidFill>
                  <a:srgbClr val="C00000"/>
                </a:solidFill>
                <a:latin typeface="HP Simplified Light (Body)"/>
                <a:cs typeface="Times New Roman" panose="02020603050405020304" pitchFamily="18" charset="0"/>
              </a:rPr>
              <a:t> ‘SKU’ sheet has repetitive SKU+PN</a:t>
            </a:r>
            <a:r>
              <a:rPr lang="en-US" altLang="zh-TW" sz="1800" dirty="0">
                <a:solidFill>
                  <a:srgbClr val="C00000"/>
                </a:solidFill>
                <a:latin typeface="HP Simplified Light (Body)"/>
                <a:cs typeface="Times New Roman" panose="02020603050405020304" pitchFamily="18" charset="0"/>
              </a:rPr>
              <a:t> </a:t>
            </a:r>
            <a:endParaRPr lang="en-GB" dirty="0">
              <a:solidFill>
                <a:srgbClr val="C00000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E0282DB-DB4D-41FB-96CB-38D9659F5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8500" y="692310"/>
            <a:ext cx="2454626" cy="100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727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C737863-F1EA-4E37-B97D-D9F690C38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9116" y="707870"/>
            <a:ext cx="2442600" cy="812588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359F848-A4BE-41F2-8A85-B876E588E5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89117" y="1934043"/>
            <a:ext cx="5001760" cy="2123658"/>
          </a:xfrm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Quote Tool Introduction</a:t>
            </a:r>
          </a:p>
          <a:p>
            <a:r>
              <a:rPr lang="en-US" dirty="0"/>
              <a:t>Quote Tool Instruction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Limitation and Restriction of Tool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Quote Tool installation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630D4-A336-42D2-BA35-577AA5024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8" name="Picture Placeholder 7" descr="A picture containing person, appliance&#10;&#10;Description automatically generated">
            <a:extLst>
              <a:ext uri="{FF2B5EF4-FFF2-40B4-BE49-F238E27FC236}">
                <a16:creationId xmlns:a16="http://schemas.microsoft.com/office/drawing/2014/main" id="{4C3F8C36-3AC6-41D1-A7B5-14D94121A8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" r="440"/>
          <a:stretch>
            <a:fillRect/>
          </a:stretch>
        </p:blipFill>
        <p:spPr bwMode="gray">
          <a:xfrm>
            <a:off x="561874" y="297923"/>
            <a:ext cx="5552695" cy="62484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767299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E161210-8142-4758-BE49-822D8712D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778" y="3621175"/>
            <a:ext cx="7535834" cy="301723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71F5E-F70C-4D3E-9458-82EE143CB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9FC3B1A-EB45-48B3-9B1E-8768A6011F57}"/>
              </a:ext>
            </a:extLst>
          </p:cNvPr>
          <p:cNvSpPr txBox="1">
            <a:spLocks/>
          </p:cNvSpPr>
          <p:nvPr/>
        </p:nvSpPr>
        <p:spPr>
          <a:xfrm>
            <a:off x="522612" y="1174183"/>
            <a:ext cx="5032505" cy="2372895"/>
          </a:xfrm>
          <a:prstGeom prst="rect">
            <a:avLst/>
          </a:prstGeom>
        </p:spPr>
        <p:txBody>
          <a:bodyPr vert="horz" lIns="91416" tIns="45708" rIns="91416" bIns="45708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999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Step1: Click “CPCT Checker” Button</a:t>
            </a:r>
            <a:endParaRPr lang="en-GB" altLang="zh-TW" sz="1999" dirty="0">
              <a:solidFill>
                <a:srgbClr val="0096D6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Step2: Enter Effective Month</a:t>
            </a:r>
          </a:p>
          <a:p>
            <a:pPr marL="0" indent="0">
              <a:buNone/>
            </a:pPr>
            <a:r>
              <a:rPr lang="en-GB" sz="1400" dirty="0"/>
              <a:t>as in format like </a:t>
            </a:r>
            <a:r>
              <a:rPr lang="en-US" altLang="zh-TW" sz="1400" dirty="0"/>
              <a:t>“</a:t>
            </a:r>
            <a:r>
              <a:rPr lang="en-GB" altLang="zh-TW" sz="1400" dirty="0"/>
              <a:t>01/</a:t>
            </a:r>
            <a:r>
              <a:rPr lang="en-GB" sz="1400" dirty="0"/>
              <a:t>2022</a:t>
            </a:r>
            <a:r>
              <a:rPr lang="en-US" altLang="zh-TW" sz="1400" dirty="0"/>
              <a:t>”</a:t>
            </a:r>
            <a:endParaRPr lang="en-GB" altLang="zh-TW" sz="1999" dirty="0">
              <a:latin typeface="HP Simplified Light (Body)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altLang="zh-TW" sz="1999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Step3: Choose CPCT file Path</a:t>
            </a:r>
          </a:p>
          <a:p>
            <a:pPr marL="0" indent="0">
              <a:buNone/>
            </a:pPr>
            <a:r>
              <a:rPr lang="en-GB" altLang="zh-TW" sz="1999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(The file output path will in the below cell)</a:t>
            </a:r>
          </a:p>
        </p:txBody>
      </p:sp>
      <p:sp>
        <p:nvSpPr>
          <p:cNvPr id="9" name="前言">
            <a:extLst>
              <a:ext uri="{FF2B5EF4-FFF2-40B4-BE49-F238E27FC236}">
                <a16:creationId xmlns:a16="http://schemas.microsoft.com/office/drawing/2014/main" id="{BEDB67D3-0EA4-41B9-BED2-472107709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Delete CPCT non-effective date</a:t>
            </a:r>
          </a:p>
        </p:txBody>
      </p:sp>
      <p:sp>
        <p:nvSpPr>
          <p:cNvPr id="12" name="Arrow: Bent-Up 11">
            <a:extLst>
              <a:ext uri="{FF2B5EF4-FFF2-40B4-BE49-F238E27FC236}">
                <a16:creationId xmlns:a16="http://schemas.microsoft.com/office/drawing/2014/main" id="{BE8C80AE-6C2F-4178-B395-3A8570F538BF}"/>
              </a:ext>
            </a:extLst>
          </p:cNvPr>
          <p:cNvSpPr/>
          <p:nvPr/>
        </p:nvSpPr>
        <p:spPr>
          <a:xfrm>
            <a:off x="7748798" y="2312974"/>
            <a:ext cx="493487" cy="3213408"/>
          </a:xfrm>
          <a:prstGeom prst="bentUpArrow">
            <a:avLst/>
          </a:prstGeom>
          <a:solidFill>
            <a:srgbClr val="009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31430EED-1270-4AEB-BD61-E2571D133AC1}"/>
              </a:ext>
            </a:extLst>
          </p:cNvPr>
          <p:cNvSpPr txBox="1">
            <a:spLocks/>
          </p:cNvSpPr>
          <p:nvPr/>
        </p:nvSpPr>
        <p:spPr>
          <a:xfrm>
            <a:off x="416288" y="2756898"/>
            <a:ext cx="3641615" cy="444145"/>
          </a:xfrm>
          <a:prstGeom prst="rect">
            <a:avLst/>
          </a:prstGeom>
        </p:spPr>
        <p:txBody>
          <a:bodyPr vert="horz" lIns="91416" tIns="45708" rIns="91416" bIns="45708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altLang="zh-TW" sz="1799" dirty="0">
              <a:solidFill>
                <a:srgbClr val="157CB8"/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47A43B5-1E66-4A55-AEDF-FFA346C58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973" y="1349461"/>
            <a:ext cx="2875575" cy="13109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5CF88A4-671D-4352-9A1E-48D4FB46A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564" y="1322979"/>
            <a:ext cx="2822411" cy="132127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0DB7982-33F8-422A-95A4-2242FE56CBFF}"/>
              </a:ext>
            </a:extLst>
          </p:cNvPr>
          <p:cNvSpPr txBox="1"/>
          <p:nvPr/>
        </p:nvSpPr>
        <p:spPr>
          <a:xfrm>
            <a:off x="3670136" y="5014592"/>
            <a:ext cx="769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Step1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722833-E0B5-4124-B162-091A4071132A}"/>
              </a:ext>
            </a:extLst>
          </p:cNvPr>
          <p:cNvSpPr txBox="1"/>
          <p:nvPr/>
        </p:nvSpPr>
        <p:spPr>
          <a:xfrm>
            <a:off x="4694028" y="953647"/>
            <a:ext cx="769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Step2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03D517-F1FC-445D-8FEE-9A4714C4A480}"/>
              </a:ext>
            </a:extLst>
          </p:cNvPr>
          <p:cNvSpPr txBox="1"/>
          <p:nvPr/>
        </p:nvSpPr>
        <p:spPr>
          <a:xfrm>
            <a:off x="8059411" y="916599"/>
            <a:ext cx="769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1625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6DD6E-F68C-446B-8155-EC345CB15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9F5D91FD-CDBF-4188-B5A2-7A7655FB3027}"/>
              </a:ext>
            </a:extLst>
          </p:cNvPr>
          <p:cNvSpPr txBox="1">
            <a:spLocks/>
          </p:cNvSpPr>
          <p:nvPr/>
        </p:nvSpPr>
        <p:spPr>
          <a:xfrm>
            <a:off x="208448" y="953023"/>
            <a:ext cx="11888301" cy="5904977"/>
          </a:xfrm>
          <a:prstGeom prst="rect">
            <a:avLst/>
          </a:prstGeom>
        </p:spPr>
        <p:txBody>
          <a:bodyPr vert="horz" lIns="91416" tIns="45708" rIns="91416" bIns="45708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196" indent="-514196">
              <a:buFont typeface="Arial" panose="020B0604020202020204" pitchFamily="34" charset="0"/>
              <a:buAutoNum type="arabicPeriod"/>
            </a:pPr>
            <a:r>
              <a:rPr lang="en-GB" altLang="zh-TW" sz="1999" dirty="0">
                <a:latin typeface="HP Simplified Light (Body)"/>
                <a:cs typeface="Times New Roman" panose="02020603050405020304" pitchFamily="18" charset="0"/>
              </a:rPr>
              <a:t>Delete the subcategory: Effectivity Date &gt; validate date </a:t>
            </a:r>
          </a:p>
          <a:p>
            <a:pPr marL="514196" indent="-514196">
              <a:buFont typeface="Arial" panose="020B0604020202020204" pitchFamily="34" charset="0"/>
              <a:buAutoNum type="arabicPeriod"/>
            </a:pPr>
            <a:endParaRPr lang="en-GB" altLang="zh-TW" sz="1999" dirty="0">
              <a:latin typeface="HP Simplified Light (Body)"/>
              <a:cs typeface="Times New Roman" panose="02020603050405020304" pitchFamily="18" charset="0"/>
            </a:endParaRPr>
          </a:p>
          <a:p>
            <a:pPr marL="514196" indent="-514196">
              <a:buFont typeface="Arial" panose="020B0604020202020204" pitchFamily="34" charset="0"/>
              <a:buAutoNum type="arabicPeriod"/>
            </a:pPr>
            <a:endParaRPr lang="en-GB" altLang="zh-TW" sz="1999" dirty="0">
              <a:latin typeface="HP Simplified Light (Body)"/>
              <a:cs typeface="Times New Roman" panose="02020603050405020304" pitchFamily="18" charset="0"/>
            </a:endParaRPr>
          </a:p>
          <a:p>
            <a:pPr marL="514196" indent="-514196">
              <a:buFont typeface="Arial" panose="020B0604020202020204" pitchFamily="34" charset="0"/>
              <a:buAutoNum type="arabicPeriod"/>
            </a:pPr>
            <a:endParaRPr lang="en-GB" altLang="zh-TW" sz="1999" dirty="0">
              <a:latin typeface="HP Simplified Light (Body)"/>
              <a:cs typeface="Times New Roman" panose="02020603050405020304" pitchFamily="18" charset="0"/>
            </a:endParaRPr>
          </a:p>
          <a:p>
            <a:pPr marL="514196" indent="-514196">
              <a:buFont typeface="Arial" panose="020B0604020202020204" pitchFamily="34" charset="0"/>
              <a:buAutoNum type="arabicPeriod"/>
            </a:pPr>
            <a:r>
              <a:rPr lang="en-GB" altLang="zh-TW" sz="1999" dirty="0">
                <a:latin typeface="HP Simplified Light (Body)"/>
                <a:cs typeface="Times New Roman" panose="02020603050405020304" pitchFamily="18" charset="0"/>
              </a:rPr>
              <a:t>Delete the subcategory: Effectivity Date = </a:t>
            </a:r>
            <a:r>
              <a:rPr lang="en-GB" altLang="zh-TW" sz="1999" dirty="0" err="1">
                <a:latin typeface="HP Simplified Light (Body)"/>
                <a:cs typeface="Times New Roman" panose="02020603050405020304" pitchFamily="18" charset="0"/>
              </a:rPr>
              <a:t>Imme</a:t>
            </a:r>
            <a:r>
              <a:rPr lang="en-GB" altLang="zh-TW" sz="1999" dirty="0">
                <a:latin typeface="HP Simplified Light (Body)"/>
                <a:cs typeface="Times New Roman" panose="02020603050405020304" pitchFamily="18" charset="0"/>
              </a:rPr>
              <a:t>, and  Request Date &gt; validate date</a:t>
            </a:r>
          </a:p>
          <a:p>
            <a:pPr marL="514196" indent="-514196">
              <a:buFont typeface="Arial" panose="020B0604020202020204" pitchFamily="34" charset="0"/>
              <a:buAutoNum type="arabicPeriod"/>
            </a:pPr>
            <a:endParaRPr lang="en-GB" altLang="zh-TW" sz="1999" dirty="0">
              <a:latin typeface="HP Simplified Light (Body)"/>
              <a:cs typeface="Times New Roman" panose="02020603050405020304" pitchFamily="18" charset="0"/>
            </a:endParaRPr>
          </a:p>
          <a:p>
            <a:pPr marL="514196" indent="-514196">
              <a:buFont typeface="Arial" panose="020B0604020202020204" pitchFamily="34" charset="0"/>
              <a:buAutoNum type="arabicPeriod"/>
            </a:pPr>
            <a:endParaRPr lang="en-GB" altLang="zh-TW" sz="1999" dirty="0">
              <a:latin typeface="HP Simplified Light (Body)"/>
              <a:cs typeface="Times New Roman" panose="02020603050405020304" pitchFamily="18" charset="0"/>
            </a:endParaRPr>
          </a:p>
          <a:p>
            <a:pPr marL="514196" indent="-514196">
              <a:buFont typeface="Arial" panose="020B0604020202020204" pitchFamily="34" charset="0"/>
              <a:buAutoNum type="arabicPeriod"/>
            </a:pPr>
            <a:endParaRPr lang="en-GB" altLang="zh-TW" sz="1999" dirty="0">
              <a:latin typeface="HP Simplified Light (Body)"/>
              <a:cs typeface="Times New Roman" panose="02020603050405020304" pitchFamily="18" charset="0"/>
            </a:endParaRPr>
          </a:p>
          <a:p>
            <a:pPr marL="514196" indent="-514196">
              <a:buFont typeface="Arial" panose="020B0604020202020204" pitchFamily="34" charset="0"/>
              <a:buAutoNum type="arabicPeriod"/>
            </a:pPr>
            <a:r>
              <a:rPr lang="en-GB" altLang="zh-TW" sz="1999" dirty="0">
                <a:latin typeface="HP Simplified Light (Body)"/>
                <a:cs typeface="Times New Roman" panose="02020603050405020304" pitchFamily="18" charset="0"/>
              </a:rPr>
              <a:t>Delete the subcategory: Effectivity Date = TBD </a:t>
            </a:r>
            <a:r>
              <a:rPr lang="en-US" altLang="zh-TW" sz="1999" dirty="0">
                <a:latin typeface="HP Simplified Light (Body)"/>
                <a:cs typeface="Times New Roman" panose="02020603050405020304" pitchFamily="18" charset="0"/>
              </a:rPr>
              <a:t>(</a:t>
            </a:r>
            <a:r>
              <a:rPr lang="en-GB" altLang="zh-TW" sz="1999" dirty="0">
                <a:latin typeface="HP Simplified Light (Body)"/>
                <a:cs typeface="Times New Roman" panose="02020603050405020304" pitchFamily="18" charset="0"/>
              </a:rPr>
              <a:t>but the </a:t>
            </a:r>
            <a:r>
              <a:rPr lang="en-GB" altLang="zh-TW" sz="1999" dirty="0" err="1">
                <a:latin typeface="HP Simplified Light (Body)"/>
                <a:cs typeface="Times New Roman" panose="02020603050405020304" pitchFamily="18" charset="0"/>
              </a:rPr>
              <a:t>subcatexxx</a:t>
            </a:r>
            <a:r>
              <a:rPr lang="en-GB" altLang="zh-TW" sz="1999" dirty="0">
                <a:latin typeface="HP Simplified Light (Body)"/>
                <a:cs typeface="Times New Roman" panose="02020603050405020304" pitchFamily="18" charset="0"/>
              </a:rPr>
              <a:t> is not null</a:t>
            </a:r>
            <a:r>
              <a:rPr lang="en-US" altLang="zh-TW" sz="1999" dirty="0">
                <a:latin typeface="HP Simplified Light (Body)"/>
                <a:cs typeface="Times New Roman" panose="02020603050405020304" pitchFamily="18" charset="0"/>
              </a:rPr>
              <a:t>)</a:t>
            </a:r>
            <a:r>
              <a:rPr lang="zh-TW" altLang="en-US" sz="1999" dirty="0">
                <a:latin typeface="HP Simplified Light (Body)"/>
                <a:cs typeface="Times New Roman" panose="02020603050405020304" pitchFamily="18" charset="0"/>
              </a:rPr>
              <a:t> </a:t>
            </a:r>
            <a:r>
              <a:rPr lang="en-US" altLang="zh-TW" sz="1999" dirty="0">
                <a:latin typeface="HP Simplified Light (Body)"/>
                <a:cs typeface="Times New Roman" panose="02020603050405020304" pitchFamily="18" charset="0"/>
              </a:rPr>
              <a:t>&gt;</a:t>
            </a:r>
            <a:r>
              <a:rPr lang="en-GB" altLang="zh-TW" sz="1999" dirty="0">
                <a:latin typeface="HP Simplified Light (Body)"/>
                <a:cs typeface="Times New Roman" panose="02020603050405020304" pitchFamily="18" charset="0"/>
              </a:rPr>
              <a:t>pop out Alert</a:t>
            </a:r>
          </a:p>
          <a:p>
            <a:pPr marL="0" indent="0">
              <a:buNone/>
            </a:pPr>
            <a:r>
              <a:rPr lang="en-GB" altLang="zh-TW" sz="1999" dirty="0">
                <a:latin typeface="HP Simplified Light (Body)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5CD6BA-2559-4D14-9697-AAE75E706983}"/>
              </a:ext>
            </a:extLst>
          </p:cNvPr>
          <p:cNvSpPr/>
          <p:nvPr/>
        </p:nvSpPr>
        <p:spPr>
          <a:xfrm>
            <a:off x="3945622" y="480081"/>
            <a:ext cx="6092825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GB" dirty="0"/>
          </a:p>
        </p:txBody>
      </p:sp>
      <p:sp>
        <p:nvSpPr>
          <p:cNvPr id="6" name="前言">
            <a:extLst>
              <a:ext uri="{FF2B5EF4-FFF2-40B4-BE49-F238E27FC236}">
                <a16:creationId xmlns:a16="http://schemas.microsoft.com/office/drawing/2014/main" id="{7936F798-A7BA-41C3-A4FB-6B66E8BF3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1292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Delete CPCT non-effectively date</a:t>
            </a:r>
          </a:p>
          <a:p>
            <a:pPr lvl="0">
              <a:spcBef>
                <a:spcPct val="0"/>
              </a:spcBef>
              <a:buNone/>
              <a:defRPr/>
            </a:pPr>
            <a:endParaRPr lang="en-US" altLang="zh-TW" sz="3799" b="1" dirty="0">
              <a:latin typeface="HP Simplified Light (Body)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7E945C-AC1C-45FE-B525-F5711BEEE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715" y="3334791"/>
            <a:ext cx="3886200" cy="7905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46B0F0-8388-4FD3-9666-1FC67FD75DE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4" r="-1"/>
          <a:stretch/>
        </p:blipFill>
        <p:spPr>
          <a:xfrm>
            <a:off x="5487739" y="4534249"/>
            <a:ext cx="3008590" cy="962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1AC912-E717-46D0-A8BE-7A50A4CD0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6525" y="1780729"/>
            <a:ext cx="2990850" cy="7524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822BE8-C993-4D7A-874A-716B92E08CE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46" t="-6283"/>
          <a:stretch/>
        </p:blipFill>
        <p:spPr>
          <a:xfrm>
            <a:off x="960260" y="1731645"/>
            <a:ext cx="2990850" cy="8301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9A2572-9F17-4732-B084-6ED3958A59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260" y="3344317"/>
            <a:ext cx="3895725" cy="7715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DAAC82C-675D-4A78-9FC7-999DDCE812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785" y="4534249"/>
            <a:ext cx="2981325" cy="1009650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95D4A881-E324-4ACB-B610-C51ABBA7A02E}"/>
              </a:ext>
            </a:extLst>
          </p:cNvPr>
          <p:cNvSpPr/>
          <p:nvPr/>
        </p:nvSpPr>
        <p:spPr>
          <a:xfrm>
            <a:off x="4553299" y="2076372"/>
            <a:ext cx="605372" cy="267216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001D4C0-845F-48FB-8399-9A56EE2FD1BE}"/>
              </a:ext>
            </a:extLst>
          </p:cNvPr>
          <p:cNvSpPr/>
          <p:nvPr/>
        </p:nvSpPr>
        <p:spPr>
          <a:xfrm>
            <a:off x="5263455" y="3596471"/>
            <a:ext cx="605372" cy="267216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714B6AE-DF72-4F5E-8444-35FE977E3DAC}"/>
              </a:ext>
            </a:extLst>
          </p:cNvPr>
          <p:cNvSpPr/>
          <p:nvPr/>
        </p:nvSpPr>
        <p:spPr>
          <a:xfrm>
            <a:off x="4328298" y="4905342"/>
            <a:ext cx="605372" cy="267216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4C456F-3FE8-44C2-8950-8527F7CBF6C0}"/>
              </a:ext>
            </a:extLst>
          </p:cNvPr>
          <p:cNvSpPr/>
          <p:nvPr/>
        </p:nvSpPr>
        <p:spPr>
          <a:xfrm>
            <a:off x="8819731" y="4232935"/>
            <a:ext cx="6279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TW" b="1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Alert</a:t>
            </a:r>
            <a:endParaRPr lang="en-GB" b="1" dirty="0">
              <a:solidFill>
                <a:srgbClr val="0096D6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B4A247-3ECB-479D-BE20-EF72624058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770" y="5734828"/>
            <a:ext cx="8999657" cy="78316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803224D-B793-4B38-92CE-9983A6528BB6}"/>
              </a:ext>
            </a:extLst>
          </p:cNvPr>
          <p:cNvSpPr/>
          <p:nvPr/>
        </p:nvSpPr>
        <p:spPr>
          <a:xfrm flipH="1">
            <a:off x="969785" y="6261410"/>
            <a:ext cx="8954642" cy="2240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solidFill>
                <a:srgbClr val="FF0000"/>
              </a:solidFill>
              <a:latin typeface="HP Simplified Light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FE656F-5B72-4141-9E84-E1081486AB6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2448" b="2376"/>
          <a:stretch/>
        </p:blipFill>
        <p:spPr>
          <a:xfrm>
            <a:off x="8974201" y="4615381"/>
            <a:ext cx="3008590" cy="128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780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95D431-98E6-4468-AF57-4AFD1C26D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60" y="3379711"/>
            <a:ext cx="6545263" cy="25700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E8314-50A6-4051-95C8-CCEB3696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7" name="前言">
            <a:extLst>
              <a:ext uri="{FF2B5EF4-FFF2-40B4-BE49-F238E27FC236}">
                <a16:creationId xmlns:a16="http://schemas.microsoft.com/office/drawing/2014/main" id="{8DB5C3A4-870C-411E-AC14-4D27E7757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CPCT Consolidation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D2D79A6B-24CC-4852-9160-8F21DBFCF951}"/>
              </a:ext>
            </a:extLst>
          </p:cNvPr>
          <p:cNvSpPr txBox="1">
            <a:spLocks/>
          </p:cNvSpPr>
          <p:nvPr/>
        </p:nvSpPr>
        <p:spPr>
          <a:xfrm>
            <a:off x="8303258" y="3749527"/>
            <a:ext cx="4489863" cy="1525238"/>
          </a:xfrm>
          <a:prstGeom prst="rect">
            <a:avLst/>
          </a:prstGeom>
        </p:spPr>
        <p:txBody>
          <a:bodyPr vert="horz" lIns="91416" tIns="45708" rIns="91416" bIns="45708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Step1: Click “Quote Validation”</a:t>
            </a:r>
            <a:endParaRPr lang="en-GB" sz="1800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Step2: Choose CPCT file's Path</a:t>
            </a:r>
            <a:endParaRPr lang="en-GB" sz="2799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GB" altLang="zh-TW" sz="27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rrow: Bent-Up 10">
            <a:extLst>
              <a:ext uri="{FF2B5EF4-FFF2-40B4-BE49-F238E27FC236}">
                <a16:creationId xmlns:a16="http://schemas.microsoft.com/office/drawing/2014/main" id="{191B2168-294C-4F9D-823E-A86C3801703A}"/>
              </a:ext>
            </a:extLst>
          </p:cNvPr>
          <p:cNvSpPr/>
          <p:nvPr/>
        </p:nvSpPr>
        <p:spPr>
          <a:xfrm>
            <a:off x="5435773" y="2553894"/>
            <a:ext cx="493487" cy="2391265"/>
          </a:xfrm>
          <a:prstGeom prst="bentUpArrow">
            <a:avLst/>
          </a:prstGeom>
          <a:solidFill>
            <a:srgbClr val="009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EC04C8-7D94-4DD4-852A-DCDAE614EF61}"/>
              </a:ext>
            </a:extLst>
          </p:cNvPr>
          <p:cNvSpPr txBox="1"/>
          <p:nvPr/>
        </p:nvSpPr>
        <p:spPr>
          <a:xfrm>
            <a:off x="2361254" y="4661474"/>
            <a:ext cx="6274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Step1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CA8079-0F85-4701-9160-32C9CC2F433A}"/>
              </a:ext>
            </a:extLst>
          </p:cNvPr>
          <p:cNvSpPr txBox="1"/>
          <p:nvPr/>
        </p:nvSpPr>
        <p:spPr>
          <a:xfrm>
            <a:off x="522415" y="853510"/>
            <a:ext cx="769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Step2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DC244B-3AF9-4684-9491-71757F3C7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652" y="1075246"/>
            <a:ext cx="3504707" cy="16056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FA1901-CF26-43CD-8879-1F374870F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845" y="1027853"/>
            <a:ext cx="3504707" cy="168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346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D1B12-C741-4660-8319-0EE8696A2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87D353-FB10-43E3-80FB-68E803398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262" y="1780007"/>
            <a:ext cx="3325813" cy="16379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5F2B78-D51A-4AA0-A900-94584A5AD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749" y="4315503"/>
            <a:ext cx="8612188" cy="16572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685C09A-EDB0-46F3-8A2F-F94AC7202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562" y="6120239"/>
            <a:ext cx="9420225" cy="323850"/>
          </a:xfrm>
          <a:prstGeom prst="rect">
            <a:avLst/>
          </a:prstGeom>
        </p:spPr>
      </p:pic>
      <p:sp>
        <p:nvSpPr>
          <p:cNvPr id="14" name="前言">
            <a:extLst>
              <a:ext uri="{FF2B5EF4-FFF2-40B4-BE49-F238E27FC236}">
                <a16:creationId xmlns:a16="http://schemas.microsoft.com/office/drawing/2014/main" id="{C167BAA5-635B-4BB2-9A01-2E8F47B44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CPCT Consolidation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8C083E-EDCD-4C78-B254-B49EFD7EAABB}"/>
              </a:ext>
            </a:extLst>
          </p:cNvPr>
          <p:cNvSpPr txBox="1"/>
          <p:nvPr/>
        </p:nvSpPr>
        <p:spPr>
          <a:xfrm>
            <a:off x="943172" y="1026864"/>
            <a:ext cx="11006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96D6"/>
                </a:solidFill>
              </a:rPr>
              <a:t>Alert:</a:t>
            </a:r>
          </a:p>
          <a:p>
            <a:r>
              <a:rPr lang="en-GB" dirty="0"/>
              <a:t>If one of CPCT doesn’t have </a:t>
            </a:r>
            <a:r>
              <a:rPr lang="en-GB" dirty="0" err="1"/>
              <a:t>OptionSA_SUM_xxxx</a:t>
            </a:r>
            <a:r>
              <a:rPr lang="en-GB" dirty="0"/>
              <a:t> sheet, the waring below would pop up.</a:t>
            </a:r>
            <a:endParaRPr lang="en-GB" dirty="0">
              <a:solidFill>
                <a:srgbClr val="0096D6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36B2E1-B70D-4BE9-9732-7E88FF8D5A82}"/>
              </a:ext>
            </a:extLst>
          </p:cNvPr>
          <p:cNvSpPr txBox="1"/>
          <p:nvPr/>
        </p:nvSpPr>
        <p:spPr>
          <a:xfrm>
            <a:off x="943171" y="3946171"/>
            <a:ext cx="11544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Also, the CPCT that miss </a:t>
            </a:r>
            <a:r>
              <a:rPr lang="en-GB" dirty="0" err="1"/>
              <a:t>OptionSA_SUM_xxxx</a:t>
            </a:r>
            <a:r>
              <a:rPr lang="en-GB" dirty="0"/>
              <a:t> sheet would show in Quote tool ‘CPCT Consolidation’ sheet </a:t>
            </a:r>
          </a:p>
        </p:txBody>
      </p:sp>
    </p:spTree>
    <p:extLst>
      <p:ext uri="{BB962C8B-B14F-4D97-AF65-F5344CB8AC3E}">
        <p14:creationId xmlns:p14="http://schemas.microsoft.com/office/powerpoint/2010/main" val="2504067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E8314-50A6-4051-95C8-CCEB3696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7" name="前言">
            <a:extLst>
              <a:ext uri="{FF2B5EF4-FFF2-40B4-BE49-F238E27FC236}">
                <a16:creationId xmlns:a16="http://schemas.microsoft.com/office/drawing/2014/main" id="{8DB5C3A4-870C-411E-AC14-4D27E7757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Quote Validation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D2D79A6B-24CC-4852-9160-8F21DBFCF951}"/>
              </a:ext>
            </a:extLst>
          </p:cNvPr>
          <p:cNvSpPr txBox="1">
            <a:spLocks/>
          </p:cNvSpPr>
          <p:nvPr/>
        </p:nvSpPr>
        <p:spPr>
          <a:xfrm>
            <a:off x="8057080" y="2675365"/>
            <a:ext cx="4489863" cy="3834698"/>
          </a:xfrm>
          <a:prstGeom prst="rect">
            <a:avLst/>
          </a:prstGeom>
        </p:spPr>
        <p:txBody>
          <a:bodyPr vert="horz" lIns="91416" tIns="45708" rIns="91416" bIns="45708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Step1: Click “Quote Validation”</a:t>
            </a:r>
            <a:endParaRPr lang="en-GB" sz="1800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Step2: Choose Quote file’s path</a:t>
            </a:r>
          </a:p>
          <a:p>
            <a:pPr marL="514196" indent="-514196">
              <a:buAutoNum type="arabicPeriod"/>
            </a:pPr>
            <a:r>
              <a:rPr lang="en-GB" sz="1800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Quote file's Path</a:t>
            </a:r>
          </a:p>
          <a:p>
            <a:pPr marL="514196" indent="-514196">
              <a:buAutoNum type="arabicPeriod"/>
            </a:pPr>
            <a:r>
              <a:rPr lang="en-GB" sz="1800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CPCT file's Path</a:t>
            </a:r>
          </a:p>
          <a:p>
            <a:pPr marL="514196" indent="-514196">
              <a:buAutoNum type="arabicPeriod"/>
            </a:pPr>
            <a:endParaRPr lang="en-GB" sz="1800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Step3: </a:t>
            </a:r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Choose CPCT file’s path</a:t>
            </a:r>
            <a:endParaRPr lang="en-GB" sz="1800" dirty="0">
              <a:solidFill>
                <a:srgbClr val="0096D6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800" dirty="0">
              <a:solidFill>
                <a:srgbClr val="0096D6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Step4: </a:t>
            </a:r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Choose Sell Price file, CKIT-NB, and CKIT-Media’s path</a:t>
            </a:r>
            <a:endParaRPr lang="en-GB" sz="1800" dirty="0">
              <a:solidFill>
                <a:srgbClr val="000000"/>
              </a:solidFill>
              <a:latin typeface="HP Simplified Light (Body)"/>
            </a:endParaRPr>
          </a:p>
          <a:p>
            <a:pPr marL="514196" indent="-514196">
              <a:buAutoNum type="arabicPeriod"/>
            </a:pPr>
            <a:endParaRPr lang="en-GB" sz="2799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514196" indent="-514196">
              <a:buAutoNum type="arabicPeriod"/>
            </a:pPr>
            <a:endParaRPr lang="en-GB" sz="2799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514196" indent="-514196">
              <a:buAutoNum type="arabicPeriod"/>
            </a:pPr>
            <a:endParaRPr lang="en-GB" sz="2799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GB" altLang="zh-TW" sz="27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8BAB96-25DC-4A99-9EA8-B99AF0382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24" y="3029598"/>
            <a:ext cx="7616913" cy="3089532"/>
          </a:xfrm>
          <a:prstGeom prst="rect">
            <a:avLst/>
          </a:prstGeom>
        </p:spPr>
      </p:pic>
      <p:sp>
        <p:nvSpPr>
          <p:cNvPr id="11" name="Arrow: Bent-Up 10">
            <a:extLst>
              <a:ext uri="{FF2B5EF4-FFF2-40B4-BE49-F238E27FC236}">
                <a16:creationId xmlns:a16="http://schemas.microsoft.com/office/drawing/2014/main" id="{191B2168-294C-4F9D-823E-A86C3801703A}"/>
              </a:ext>
            </a:extLst>
          </p:cNvPr>
          <p:cNvSpPr/>
          <p:nvPr/>
        </p:nvSpPr>
        <p:spPr>
          <a:xfrm>
            <a:off x="5663022" y="2605672"/>
            <a:ext cx="493487" cy="2391265"/>
          </a:xfrm>
          <a:prstGeom prst="bentUpArrow">
            <a:avLst/>
          </a:prstGeom>
          <a:solidFill>
            <a:srgbClr val="009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BBC550A-0DD2-4BE7-95AF-AB1FEB473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85" y="1271441"/>
            <a:ext cx="2726892" cy="13231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0C3F1C7-D04A-4183-93A4-6C55FC96C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273" y="1263948"/>
            <a:ext cx="2900523" cy="13757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641EF2F-51AC-4441-AEE8-C33F36246A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4923" y="1193225"/>
            <a:ext cx="2886976" cy="151724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5EC04C8-7D94-4DD4-852A-DCDAE614EF61}"/>
              </a:ext>
            </a:extLst>
          </p:cNvPr>
          <p:cNvSpPr txBox="1"/>
          <p:nvPr/>
        </p:nvSpPr>
        <p:spPr>
          <a:xfrm>
            <a:off x="2441197" y="4327480"/>
            <a:ext cx="6274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Step1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CA8079-0F85-4701-9160-32C9CC2F433A}"/>
              </a:ext>
            </a:extLst>
          </p:cNvPr>
          <p:cNvSpPr txBox="1"/>
          <p:nvPr/>
        </p:nvSpPr>
        <p:spPr>
          <a:xfrm>
            <a:off x="522415" y="853510"/>
            <a:ext cx="769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Step2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B7BC8C-9FEC-4210-B387-D7D6B831D099}"/>
              </a:ext>
            </a:extLst>
          </p:cNvPr>
          <p:cNvSpPr txBox="1"/>
          <p:nvPr/>
        </p:nvSpPr>
        <p:spPr>
          <a:xfrm>
            <a:off x="3340524" y="836678"/>
            <a:ext cx="769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Step3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3988ED-2DB7-4CBD-8A7E-925D721358E6}"/>
              </a:ext>
            </a:extLst>
          </p:cNvPr>
          <p:cNvSpPr txBox="1"/>
          <p:nvPr/>
        </p:nvSpPr>
        <p:spPr>
          <a:xfrm>
            <a:off x="6543578" y="845706"/>
            <a:ext cx="769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2976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EEA69-1071-4E4E-8505-B28004883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/>
              <a:t>18</a:t>
            </a:fld>
            <a:endParaRPr lang="zh-TW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121739-E384-4419-ACD0-BE0EE5457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287" y="1780007"/>
            <a:ext cx="3848100" cy="1943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43CB3B-A101-4695-BE39-5B84DF5E74CF}"/>
              </a:ext>
            </a:extLst>
          </p:cNvPr>
          <p:cNvSpPr txBox="1"/>
          <p:nvPr/>
        </p:nvSpPr>
        <p:spPr>
          <a:xfrm>
            <a:off x="943172" y="1026864"/>
            <a:ext cx="11006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96D6"/>
                </a:solidFill>
              </a:rPr>
              <a:t>Alert:</a:t>
            </a:r>
          </a:p>
          <a:p>
            <a:r>
              <a:rPr lang="en-GB" dirty="0"/>
              <a:t>If one of CPCT doesn’t have </a:t>
            </a:r>
            <a:r>
              <a:rPr lang="en-GB" dirty="0" err="1"/>
              <a:t>OptionSA_SUM_xxxx</a:t>
            </a:r>
            <a:r>
              <a:rPr lang="en-GB" dirty="0"/>
              <a:t> sheet, the waring below would pop up.</a:t>
            </a:r>
            <a:endParaRPr lang="en-GB" dirty="0">
              <a:solidFill>
                <a:srgbClr val="0096D6"/>
              </a:solidFill>
            </a:endParaRPr>
          </a:p>
        </p:txBody>
      </p:sp>
      <p:sp>
        <p:nvSpPr>
          <p:cNvPr id="9" name="前言">
            <a:extLst>
              <a:ext uri="{FF2B5EF4-FFF2-40B4-BE49-F238E27FC236}">
                <a16:creationId xmlns:a16="http://schemas.microsoft.com/office/drawing/2014/main" id="{EB325771-E514-4061-BDE8-A3E0FF116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Quote Validation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E9FB2D-45B6-4F65-ABDA-0065C712F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93" y="4269338"/>
            <a:ext cx="11792308" cy="15109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F935BAB-68AE-4DBC-83D2-48E06FDF88C2}"/>
              </a:ext>
            </a:extLst>
          </p:cNvPr>
          <p:cNvSpPr txBox="1"/>
          <p:nvPr/>
        </p:nvSpPr>
        <p:spPr>
          <a:xfrm>
            <a:off x="943171" y="3946171"/>
            <a:ext cx="10467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Also, the CPCT that miss </a:t>
            </a:r>
            <a:r>
              <a:rPr lang="en-GB" dirty="0" err="1"/>
              <a:t>OptionSA_SUM_xxxx</a:t>
            </a:r>
            <a:r>
              <a:rPr lang="en-GB" dirty="0"/>
              <a:t> sheet would show in Quote tool ‘Quote validation’ sheet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2C4197D-65C0-47E3-92F6-AB38023E57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87" y="5894533"/>
            <a:ext cx="904875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420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8B0EF2-DE41-4C8E-8262-1A3489A86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3" y="3212408"/>
            <a:ext cx="7632077" cy="296880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E8314-50A6-4051-95C8-CCEB3696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7" name="前言">
            <a:extLst>
              <a:ext uri="{FF2B5EF4-FFF2-40B4-BE49-F238E27FC236}">
                <a16:creationId xmlns:a16="http://schemas.microsoft.com/office/drawing/2014/main" id="{8DB5C3A4-870C-411E-AC14-4D27E7757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HP Price Consolidate</a:t>
            </a:r>
            <a:endParaRPr lang="en-US" altLang="zh-TW" sz="3799" b="1" dirty="0">
              <a:latin typeface="HP Simplified Light (Body)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D2D79A6B-24CC-4852-9160-8F21DBFCF951}"/>
              </a:ext>
            </a:extLst>
          </p:cNvPr>
          <p:cNvSpPr txBox="1">
            <a:spLocks/>
          </p:cNvSpPr>
          <p:nvPr/>
        </p:nvSpPr>
        <p:spPr>
          <a:xfrm>
            <a:off x="8057080" y="2675365"/>
            <a:ext cx="4489863" cy="3834698"/>
          </a:xfrm>
          <a:prstGeom prst="rect">
            <a:avLst/>
          </a:prstGeom>
        </p:spPr>
        <p:txBody>
          <a:bodyPr vert="horz" lIns="91416" tIns="45708" rIns="91416" bIns="45708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Step1: Click “HP Price Consolidate”</a:t>
            </a:r>
            <a:endParaRPr lang="en-GB" sz="1800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800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Step2: </a:t>
            </a:r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Choose CPCT file’s path</a:t>
            </a:r>
            <a:endParaRPr lang="en-GB" sz="1800" dirty="0">
              <a:solidFill>
                <a:srgbClr val="0096D6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800" dirty="0">
              <a:solidFill>
                <a:srgbClr val="0096D6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Step3: </a:t>
            </a:r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Choose Sell Price file, CKIT-NB, and CKIT-Media’s path</a:t>
            </a:r>
            <a:endParaRPr lang="en-GB" sz="1800" dirty="0">
              <a:solidFill>
                <a:srgbClr val="000000"/>
              </a:solidFill>
              <a:latin typeface="HP Simplified Light (Body)"/>
            </a:endParaRPr>
          </a:p>
          <a:p>
            <a:pPr marL="514196" indent="-514196">
              <a:buAutoNum type="arabicPeriod"/>
            </a:pPr>
            <a:endParaRPr lang="en-GB" sz="2799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514196" indent="-514196">
              <a:buAutoNum type="arabicPeriod"/>
            </a:pPr>
            <a:endParaRPr lang="en-GB" sz="2799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514196" indent="-514196">
              <a:buAutoNum type="arabicPeriod"/>
            </a:pPr>
            <a:endParaRPr lang="en-GB" sz="2799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GB" altLang="zh-TW" sz="27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rrow: Bent-Up 10">
            <a:extLst>
              <a:ext uri="{FF2B5EF4-FFF2-40B4-BE49-F238E27FC236}">
                <a16:creationId xmlns:a16="http://schemas.microsoft.com/office/drawing/2014/main" id="{191B2168-294C-4F9D-823E-A86C3801703A}"/>
              </a:ext>
            </a:extLst>
          </p:cNvPr>
          <p:cNvSpPr/>
          <p:nvPr/>
        </p:nvSpPr>
        <p:spPr>
          <a:xfrm>
            <a:off x="5663022" y="2605672"/>
            <a:ext cx="493487" cy="2391265"/>
          </a:xfrm>
          <a:prstGeom prst="bentUpArrow">
            <a:avLst/>
          </a:prstGeom>
          <a:solidFill>
            <a:srgbClr val="009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0C3F1C7-D04A-4183-93A4-6C55FC96C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585" y="1272976"/>
            <a:ext cx="2900523" cy="13757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641EF2F-51AC-4441-AEE8-C33F36246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923" y="1193225"/>
            <a:ext cx="2886976" cy="151724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5EC04C8-7D94-4DD4-852A-DCDAE614EF61}"/>
              </a:ext>
            </a:extLst>
          </p:cNvPr>
          <p:cNvSpPr txBox="1"/>
          <p:nvPr/>
        </p:nvSpPr>
        <p:spPr>
          <a:xfrm>
            <a:off x="2592199" y="4646144"/>
            <a:ext cx="6274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Step1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B7BC8C-9FEC-4210-B387-D7D6B831D099}"/>
              </a:ext>
            </a:extLst>
          </p:cNvPr>
          <p:cNvSpPr txBox="1"/>
          <p:nvPr/>
        </p:nvSpPr>
        <p:spPr>
          <a:xfrm>
            <a:off x="1578836" y="845706"/>
            <a:ext cx="769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Step2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3988ED-2DB7-4CBD-8A7E-925D721358E6}"/>
              </a:ext>
            </a:extLst>
          </p:cNvPr>
          <p:cNvSpPr txBox="1"/>
          <p:nvPr/>
        </p:nvSpPr>
        <p:spPr>
          <a:xfrm>
            <a:off x="6543578" y="845706"/>
            <a:ext cx="769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1793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528B2-D202-4540-AD40-66AF9D242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5" name="前言">
            <a:extLst>
              <a:ext uri="{FF2B5EF4-FFF2-40B4-BE49-F238E27FC236}">
                <a16:creationId xmlns:a16="http://schemas.microsoft.com/office/drawing/2014/main" id="{D8CE9D08-390F-4AF0-B82F-822AB2AE7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Quote Consolidation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0BBDED-7BFE-46F4-9EDB-46BC55B67D4D}"/>
              </a:ext>
            </a:extLst>
          </p:cNvPr>
          <p:cNvSpPr txBox="1"/>
          <p:nvPr/>
        </p:nvSpPr>
        <p:spPr>
          <a:xfrm>
            <a:off x="1112837" y="1096212"/>
            <a:ext cx="60929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96D6"/>
                </a:solidFill>
              </a:rPr>
              <a:t>Step1: Click Quote Consolidation button</a:t>
            </a:r>
          </a:p>
          <a:p>
            <a:endParaRPr lang="en-GB" dirty="0">
              <a:solidFill>
                <a:srgbClr val="0096D6"/>
              </a:solidFill>
            </a:endParaRPr>
          </a:p>
          <a:p>
            <a:r>
              <a:rPr lang="en-GB" dirty="0">
                <a:solidFill>
                  <a:srgbClr val="0096D6"/>
                </a:solidFill>
              </a:rPr>
              <a:t>Step2: Enter Effective Month </a:t>
            </a:r>
          </a:p>
          <a:p>
            <a:r>
              <a:rPr lang="en-GB" dirty="0"/>
              <a:t>as in format like </a:t>
            </a:r>
            <a:r>
              <a:rPr lang="en-US" altLang="zh-TW" dirty="0"/>
              <a:t>“</a:t>
            </a:r>
            <a:r>
              <a:rPr lang="en-GB" dirty="0"/>
              <a:t>Sep-2021</a:t>
            </a:r>
            <a:r>
              <a:rPr lang="en-US" altLang="zh-TW" dirty="0"/>
              <a:t>”</a:t>
            </a:r>
            <a:endParaRPr lang="en-GB" dirty="0"/>
          </a:p>
          <a:p>
            <a:r>
              <a:rPr lang="en-GB" dirty="0">
                <a:solidFill>
                  <a:srgbClr val="0096D6"/>
                </a:solidFill>
              </a:rPr>
              <a:t>Step3: Choose quote file path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F20DDA-D96A-4559-B4A1-BE8ABC385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532" y="2622697"/>
            <a:ext cx="9934575" cy="4019550"/>
          </a:xfrm>
          <a:prstGeom prst="rect">
            <a:avLst/>
          </a:prstGeom>
        </p:spPr>
      </p:pic>
      <p:sp>
        <p:nvSpPr>
          <p:cNvPr id="13" name="Arrow: Bent-Up 12">
            <a:extLst>
              <a:ext uri="{FF2B5EF4-FFF2-40B4-BE49-F238E27FC236}">
                <a16:creationId xmlns:a16="http://schemas.microsoft.com/office/drawing/2014/main" id="{77E941CC-30CE-4419-9F08-7ED442C5661C}"/>
              </a:ext>
            </a:extLst>
          </p:cNvPr>
          <p:cNvSpPr/>
          <p:nvPr/>
        </p:nvSpPr>
        <p:spPr>
          <a:xfrm>
            <a:off x="7110227" y="2622697"/>
            <a:ext cx="493487" cy="2391265"/>
          </a:xfrm>
          <a:prstGeom prst="bentUpArrow">
            <a:avLst/>
          </a:prstGeom>
          <a:solidFill>
            <a:srgbClr val="009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B96496-FBF8-4CD7-9070-A1CC68676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587" y="136803"/>
            <a:ext cx="3164550" cy="24613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4CD484-B0B6-43D7-AF07-187FBA2E72C1}"/>
              </a:ext>
            </a:extLst>
          </p:cNvPr>
          <p:cNvSpPr txBox="1"/>
          <p:nvPr/>
        </p:nvSpPr>
        <p:spPr>
          <a:xfrm>
            <a:off x="4159328" y="4447806"/>
            <a:ext cx="769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Step1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3CA24F-BB54-49D1-9174-726F92904D37}"/>
              </a:ext>
            </a:extLst>
          </p:cNvPr>
          <p:cNvSpPr txBox="1"/>
          <p:nvPr/>
        </p:nvSpPr>
        <p:spPr>
          <a:xfrm>
            <a:off x="5972071" y="39591"/>
            <a:ext cx="769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Step2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E09665-AF29-46FB-8637-48207D5DDF0D}"/>
              </a:ext>
            </a:extLst>
          </p:cNvPr>
          <p:cNvSpPr txBox="1"/>
          <p:nvPr/>
        </p:nvSpPr>
        <p:spPr>
          <a:xfrm>
            <a:off x="9527116" y="483065"/>
            <a:ext cx="769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Step3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73CA4B-FFB1-4F37-9632-BD161DE8F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887" y="914428"/>
            <a:ext cx="2561938" cy="12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181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9A205-B8DC-4D52-96F2-75E2A042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5" name="前言">
            <a:extLst>
              <a:ext uri="{FF2B5EF4-FFF2-40B4-BE49-F238E27FC236}">
                <a16:creationId xmlns:a16="http://schemas.microsoft.com/office/drawing/2014/main" id="{1C056743-68E5-4357-BC7D-429CB5F9F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Quote Consolidation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575641-E8B4-4A11-82A2-EDE8733638E6}"/>
              </a:ext>
            </a:extLst>
          </p:cNvPr>
          <p:cNvSpPr txBox="1"/>
          <p:nvPr/>
        </p:nvSpPr>
        <p:spPr>
          <a:xfrm>
            <a:off x="771722" y="3208089"/>
            <a:ext cx="110068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96D6"/>
                </a:solidFill>
              </a:rPr>
              <a:t>Alert:</a:t>
            </a:r>
          </a:p>
          <a:p>
            <a:endParaRPr lang="en-GB" dirty="0">
              <a:solidFill>
                <a:srgbClr val="0096D6"/>
              </a:solidFill>
            </a:endParaRPr>
          </a:p>
          <a:p>
            <a:r>
              <a:rPr lang="en-GB" dirty="0"/>
              <a:t>Condition 1: price </a:t>
            </a:r>
            <a:r>
              <a:rPr lang="en-US" altLang="zh-TW" dirty="0"/>
              <a:t>=</a:t>
            </a:r>
            <a:r>
              <a:rPr lang="en-GB" dirty="0"/>
              <a:t>= 0 </a:t>
            </a:r>
            <a:r>
              <a:rPr lang="zh-TW" altLang="en-US" dirty="0"/>
              <a:t> → </a:t>
            </a:r>
            <a:r>
              <a:rPr lang="en-GB" altLang="zh-TW" dirty="0"/>
              <a:t>comment showed 'AV Cost Not Updated’, ‘SKU Cost Not Updated’</a:t>
            </a:r>
            <a:endParaRPr lang="en-GB" dirty="0"/>
          </a:p>
          <a:p>
            <a:endParaRPr lang="en-GB" dirty="0"/>
          </a:p>
          <a:p>
            <a:r>
              <a:rPr lang="en-GB" dirty="0"/>
              <a:t>Condition 2 : same AV or with different Price</a:t>
            </a:r>
            <a:r>
              <a:rPr lang="zh-TW" altLang="en-US" dirty="0"/>
              <a:t> → </a:t>
            </a:r>
            <a:r>
              <a:rPr lang="en-GB" altLang="zh-TW" dirty="0"/>
              <a:t>comment showed ‘Same AV With Different Cost’, ‘Same SKU With Different Cost'</a:t>
            </a:r>
            <a:endParaRPr lang="en-GB" dirty="0"/>
          </a:p>
          <a:p>
            <a:endParaRPr lang="en-GB" dirty="0"/>
          </a:p>
          <a:p>
            <a:endParaRPr lang="en-GB" dirty="0">
              <a:solidFill>
                <a:srgbClr val="0096D6"/>
              </a:solidFill>
            </a:endParaRPr>
          </a:p>
          <a:p>
            <a:endParaRPr lang="en-GB" dirty="0">
              <a:solidFill>
                <a:srgbClr val="0096D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685F80-2482-45B9-B632-60DB7BA37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61" y="1560219"/>
            <a:ext cx="11226297" cy="100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4314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DC827B1-CB5E-4A0F-A498-FBFC93BEB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42" y="2598119"/>
            <a:ext cx="10637306" cy="41495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D8A86-152A-4CA3-9201-50752055E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D97E736-AECB-4E52-9EC1-F72DB8EDCE02}"/>
              </a:ext>
            </a:extLst>
          </p:cNvPr>
          <p:cNvSpPr txBox="1">
            <a:spLocks/>
          </p:cNvSpPr>
          <p:nvPr/>
        </p:nvSpPr>
        <p:spPr bwMode="gray">
          <a:xfrm>
            <a:off x="684213" y="6266008"/>
            <a:ext cx="175018" cy="21945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D6B5799-8FC1-42F8-8027-C838789F0933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6" name="前言">
            <a:extLst>
              <a:ext uri="{FF2B5EF4-FFF2-40B4-BE49-F238E27FC236}">
                <a16:creationId xmlns:a16="http://schemas.microsoft.com/office/drawing/2014/main" id="{45947983-D92B-405C-8204-FBA4A1FF9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TW Quote Consolidation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36FE0-6C35-4423-8DEE-47862DA42DBA}"/>
              </a:ext>
            </a:extLst>
          </p:cNvPr>
          <p:cNvSpPr txBox="1"/>
          <p:nvPr/>
        </p:nvSpPr>
        <p:spPr>
          <a:xfrm>
            <a:off x="1112837" y="1096212"/>
            <a:ext cx="60929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96D6"/>
                </a:solidFill>
              </a:rPr>
              <a:t>Step1: Click TW Quote Consolidation button</a:t>
            </a:r>
          </a:p>
          <a:p>
            <a:endParaRPr lang="en-GB" dirty="0">
              <a:solidFill>
                <a:srgbClr val="0096D6"/>
              </a:solidFill>
            </a:endParaRPr>
          </a:p>
          <a:p>
            <a:r>
              <a:rPr lang="en-GB" dirty="0">
                <a:solidFill>
                  <a:srgbClr val="0096D6"/>
                </a:solidFill>
              </a:rPr>
              <a:t>Step2: Enter Effective Month </a:t>
            </a:r>
          </a:p>
          <a:p>
            <a:r>
              <a:rPr lang="en-GB" dirty="0"/>
              <a:t>as in format like </a:t>
            </a:r>
            <a:r>
              <a:rPr lang="en-US" altLang="zh-TW" dirty="0"/>
              <a:t>“</a:t>
            </a:r>
            <a:r>
              <a:rPr lang="en-GB" dirty="0"/>
              <a:t>Sep-2021</a:t>
            </a:r>
            <a:r>
              <a:rPr lang="en-US" altLang="zh-TW" dirty="0"/>
              <a:t>”</a:t>
            </a:r>
            <a:endParaRPr lang="en-GB" dirty="0"/>
          </a:p>
          <a:p>
            <a:r>
              <a:rPr lang="en-GB" dirty="0">
                <a:solidFill>
                  <a:srgbClr val="0096D6"/>
                </a:solidFill>
              </a:rPr>
              <a:t>Step3: Choose TW quote file path</a:t>
            </a:r>
          </a:p>
        </p:txBody>
      </p:sp>
      <p:sp>
        <p:nvSpPr>
          <p:cNvPr id="9" name="Arrow: Bent-Up 8">
            <a:extLst>
              <a:ext uri="{FF2B5EF4-FFF2-40B4-BE49-F238E27FC236}">
                <a16:creationId xmlns:a16="http://schemas.microsoft.com/office/drawing/2014/main" id="{13564087-DA4A-4A18-97C7-3E6EA1E36BE6}"/>
              </a:ext>
            </a:extLst>
          </p:cNvPr>
          <p:cNvSpPr/>
          <p:nvPr/>
        </p:nvSpPr>
        <p:spPr>
          <a:xfrm>
            <a:off x="7110227" y="2622697"/>
            <a:ext cx="493487" cy="2391265"/>
          </a:xfrm>
          <a:prstGeom prst="bentUpArrow">
            <a:avLst/>
          </a:prstGeom>
          <a:solidFill>
            <a:srgbClr val="009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4CC28D-BBE7-44C9-86F4-8BC6B4593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587" y="136803"/>
            <a:ext cx="3164550" cy="24613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2BFDD5-40BB-4F89-A776-76AD74BF9E8D}"/>
              </a:ext>
            </a:extLst>
          </p:cNvPr>
          <p:cNvSpPr txBox="1"/>
          <p:nvPr/>
        </p:nvSpPr>
        <p:spPr>
          <a:xfrm>
            <a:off x="4159328" y="4447806"/>
            <a:ext cx="769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Step1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21C4FB-0B2A-4D36-9D30-A9B04B9F0BE6}"/>
              </a:ext>
            </a:extLst>
          </p:cNvPr>
          <p:cNvSpPr txBox="1"/>
          <p:nvPr/>
        </p:nvSpPr>
        <p:spPr>
          <a:xfrm>
            <a:off x="5972071" y="39591"/>
            <a:ext cx="769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Step2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28B534-9724-4F0A-B6BF-EBB9EAB8163A}"/>
              </a:ext>
            </a:extLst>
          </p:cNvPr>
          <p:cNvSpPr txBox="1"/>
          <p:nvPr/>
        </p:nvSpPr>
        <p:spPr>
          <a:xfrm>
            <a:off x="9527116" y="483065"/>
            <a:ext cx="769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Step3</a:t>
            </a:r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A0D16B-B3AA-430D-963A-FDCDD7A5B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887" y="914428"/>
            <a:ext cx="2561938" cy="12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810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C737863-F1EA-4E37-B97D-D9F690C38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9116" y="707870"/>
            <a:ext cx="2442600" cy="812588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359F848-A4BE-41F2-8A85-B876E588E5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89117" y="1934043"/>
            <a:ext cx="5001760" cy="2123658"/>
          </a:xfrm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Quote Tool Introduction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Quote Tool Instruction</a:t>
            </a:r>
          </a:p>
          <a:p>
            <a:r>
              <a:rPr lang="en-GB" dirty="0"/>
              <a:t>Limitation and Restriction of Tool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Quote Tool installation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630D4-A336-42D2-BA35-577AA5024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8" name="Picture Placeholder 7" descr="A picture containing person, appliance&#10;&#10;Description automatically generated">
            <a:extLst>
              <a:ext uri="{FF2B5EF4-FFF2-40B4-BE49-F238E27FC236}">
                <a16:creationId xmlns:a16="http://schemas.microsoft.com/office/drawing/2014/main" id="{4C3F8C36-3AC6-41D1-A7B5-14D94121A8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" r="440"/>
          <a:stretch>
            <a:fillRect/>
          </a:stretch>
        </p:blipFill>
        <p:spPr bwMode="gray">
          <a:xfrm>
            <a:off x="561874" y="297923"/>
            <a:ext cx="5552695" cy="62484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47456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D38E1E-9DD8-42CE-AF76-A423A2C94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/>
              <a:t>24</a:t>
            </a:fld>
            <a:endParaRPr lang="zh-TW" altLang="en-US" dirty="0"/>
          </a:p>
        </p:txBody>
      </p:sp>
      <p:sp>
        <p:nvSpPr>
          <p:cNvPr id="24" name="前言">
            <a:extLst>
              <a:ext uri="{FF2B5EF4-FFF2-40B4-BE49-F238E27FC236}">
                <a16:creationId xmlns:a16="http://schemas.microsoft.com/office/drawing/2014/main" id="{4F6C26EB-0607-4B05-ACCA-D684D1BCB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Limitation and Restriction </a:t>
            </a:r>
            <a:endParaRPr lang="zh-TW" altLang="en-US" sz="3799" b="1" dirty="0">
              <a:latin typeface="HP Simplified Light (Body)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979D13-602F-4BE3-9726-DF8CA6746E46}"/>
              </a:ext>
            </a:extLst>
          </p:cNvPr>
          <p:cNvSpPr/>
          <p:nvPr/>
        </p:nvSpPr>
        <p:spPr>
          <a:xfrm>
            <a:off x="2032147" y="2495623"/>
            <a:ext cx="3128202" cy="707694"/>
          </a:xfrm>
          <a:prstGeom prst="rect">
            <a:avLst/>
          </a:prstGeom>
          <a:solidFill>
            <a:srgbClr val="1156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399" dirty="0">
                <a:latin typeface="HP Simplified Light (Body)"/>
                <a:cs typeface="Times New Roman" panose="02020603050405020304" pitchFamily="18" charset="0"/>
              </a:rPr>
              <a:t>Restriction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ED6FA3-9D94-4475-B02A-EDCD622833D8}"/>
              </a:ext>
            </a:extLst>
          </p:cNvPr>
          <p:cNvSpPr/>
          <p:nvPr/>
        </p:nvSpPr>
        <p:spPr>
          <a:xfrm>
            <a:off x="7028476" y="2495623"/>
            <a:ext cx="3128202" cy="707694"/>
          </a:xfrm>
          <a:prstGeom prst="rect">
            <a:avLst/>
          </a:prstGeom>
          <a:solidFill>
            <a:srgbClr val="1156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399" dirty="0">
                <a:latin typeface="HP Simplified Light (Body)"/>
                <a:cs typeface="Times New Roman" panose="02020603050405020304" pitchFamily="18" charset="0"/>
              </a:rPr>
              <a:t>Limitation</a:t>
            </a:r>
            <a:endParaRPr lang="en-GB" sz="2399" dirty="0"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A391E7-33F9-4057-AB9A-4A69B9F6ABCA}"/>
              </a:ext>
            </a:extLst>
          </p:cNvPr>
          <p:cNvSpPr txBox="1"/>
          <p:nvPr/>
        </p:nvSpPr>
        <p:spPr>
          <a:xfrm>
            <a:off x="7100236" y="3484789"/>
            <a:ext cx="4104872" cy="646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799" dirty="0">
                <a:latin typeface="HP Simplified Light (Body)"/>
              </a:rPr>
              <a:t>1. Time-consuming</a:t>
            </a:r>
          </a:p>
          <a:p>
            <a:r>
              <a:rPr lang="en-GB" sz="1799" dirty="0">
                <a:latin typeface="HP Simplified Light (Body)"/>
              </a:rPr>
              <a:t>2. </a:t>
            </a:r>
            <a:r>
              <a:rPr lang="en-US" sz="1799" dirty="0">
                <a:latin typeface="HP Simplified Light (Body)"/>
              </a:rPr>
              <a:t>KBD should be cleaned</a:t>
            </a:r>
            <a:endParaRPr lang="en-GB" sz="1799" dirty="0">
              <a:latin typeface="HP Simplified Light (Body)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293AB9-6929-4A5B-B459-4970D77C7574}"/>
              </a:ext>
            </a:extLst>
          </p:cNvPr>
          <p:cNvSpPr txBox="1"/>
          <p:nvPr/>
        </p:nvSpPr>
        <p:spPr>
          <a:xfrm>
            <a:off x="1580346" y="3484788"/>
            <a:ext cx="7357139" cy="369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799" dirty="0">
                <a:latin typeface="HP Simplified Light (Body)"/>
              </a:rPr>
              <a:t>1. Should set up the python environment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273154-2B2C-4C48-9606-74371735CABA}"/>
              </a:ext>
            </a:extLst>
          </p:cNvPr>
          <p:cNvSpPr txBox="1"/>
          <p:nvPr/>
        </p:nvSpPr>
        <p:spPr>
          <a:xfrm>
            <a:off x="1580346" y="3903338"/>
            <a:ext cx="5928207" cy="369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799" dirty="0">
                <a:latin typeface="HP Simplified Light (Body)"/>
              </a:rPr>
              <a:t>2. Data Format is restricted </a:t>
            </a:r>
            <a:r>
              <a:rPr lang="en-GB" sz="1799" dirty="0" err="1">
                <a:latin typeface="HP Simplified Light (Body)"/>
              </a:rPr>
              <a:t>ex:sheet’s</a:t>
            </a:r>
            <a:r>
              <a:rPr lang="en-GB" sz="1799" dirty="0">
                <a:latin typeface="HP Simplified Light (Body)"/>
              </a:rPr>
              <a:t> name, column</a:t>
            </a:r>
          </a:p>
        </p:txBody>
      </p:sp>
    </p:spTree>
    <p:extLst>
      <p:ext uri="{BB962C8B-B14F-4D97-AF65-F5344CB8AC3E}">
        <p14:creationId xmlns:p14="http://schemas.microsoft.com/office/powerpoint/2010/main" val="27905265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98AFF-4997-492A-9C1F-BA2A1CC29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>
                <a:latin typeface="HP Simplified Light (Body)"/>
              </a:rPr>
              <a:t>25</a:t>
            </a:fld>
            <a:endParaRPr lang="zh-TW" altLang="en-US">
              <a:latin typeface="HP Simplified Light (Body)"/>
            </a:endParaRPr>
          </a:p>
        </p:txBody>
      </p:sp>
      <p:sp>
        <p:nvSpPr>
          <p:cNvPr id="9" name="前言">
            <a:extLst>
              <a:ext uri="{FF2B5EF4-FFF2-40B4-BE49-F238E27FC236}">
                <a16:creationId xmlns:a16="http://schemas.microsoft.com/office/drawing/2014/main" id="{2C276293-E0CA-4DCB-A641-CE105D62C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Restriction </a:t>
            </a:r>
            <a:endParaRPr lang="zh-TW" altLang="en-US" sz="3799" b="1" dirty="0">
              <a:latin typeface="HP Simplified Light (Body)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952FF7C-F7FF-424D-843E-96195D04FF94}"/>
              </a:ext>
            </a:extLst>
          </p:cNvPr>
          <p:cNvSpPr txBox="1">
            <a:spLocks/>
          </p:cNvSpPr>
          <p:nvPr/>
        </p:nvSpPr>
        <p:spPr>
          <a:xfrm>
            <a:off x="242017" y="1039230"/>
            <a:ext cx="5032505" cy="1513089"/>
          </a:xfrm>
          <a:prstGeom prst="rect">
            <a:avLst/>
          </a:prstGeom>
        </p:spPr>
        <p:txBody>
          <a:bodyPr vert="horz" lIns="91416" tIns="45708" rIns="91416" bIns="45708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196" indent="-514196">
              <a:buFont typeface="Arial" panose="020B0604020202020204" pitchFamily="34" charset="0"/>
              <a:buAutoNum type="arabicPeriod"/>
            </a:pPr>
            <a:r>
              <a:rPr lang="en-GB" altLang="zh-TW" sz="1999" b="1" dirty="0">
                <a:solidFill>
                  <a:schemeClr val="accent1"/>
                </a:solidFill>
                <a:latin typeface="HP Simplified Light (Body)"/>
                <a:cs typeface="Times New Roman" panose="02020603050405020304" pitchFamily="18" charset="0"/>
              </a:rPr>
              <a:t>Run “CPCT Checker”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26F505-969C-4069-B74D-DE196D31AABF}"/>
              </a:ext>
            </a:extLst>
          </p:cNvPr>
          <p:cNvSpPr txBox="1"/>
          <p:nvPr/>
        </p:nvSpPr>
        <p:spPr>
          <a:xfrm>
            <a:off x="953030" y="2026650"/>
            <a:ext cx="8830952" cy="11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799" dirty="0">
                <a:latin typeface="HP Simplified Light (Body)"/>
                <a:cs typeface="Times New Roman" panose="02020603050405020304" pitchFamily="18" charset="0"/>
              </a:rPr>
              <a:t>2. “</a:t>
            </a:r>
            <a:r>
              <a:rPr lang="en-GB" sz="1799" dirty="0">
                <a:latin typeface="HP Simplified Light (Body)"/>
                <a:cs typeface="Times New Roman" panose="02020603050405020304" pitchFamily="18" charset="0"/>
              </a:rPr>
              <a:t>CPC Tracker-pricing update</a:t>
            </a:r>
            <a:r>
              <a:rPr lang="en-US" altLang="zh-TW" sz="1799" dirty="0">
                <a:latin typeface="HP Simplified Light (Body)"/>
                <a:cs typeface="Times New Roman" panose="02020603050405020304" pitchFamily="18" charset="0"/>
              </a:rPr>
              <a:t>”, “</a:t>
            </a:r>
            <a:r>
              <a:rPr lang="en-GB" sz="1799" dirty="0">
                <a:latin typeface="HP Simplified Light (Body)"/>
                <a:cs typeface="Times New Roman" panose="02020603050405020304" pitchFamily="18" charset="0"/>
              </a:rPr>
              <a:t>CPC Tracker-Pricing update</a:t>
            </a:r>
            <a:r>
              <a:rPr lang="en-US" altLang="zh-TW" sz="1799" dirty="0">
                <a:latin typeface="HP Simplified Light (Body)"/>
                <a:cs typeface="Times New Roman" panose="02020603050405020304" pitchFamily="18" charset="0"/>
              </a:rPr>
              <a:t>”, or “</a:t>
            </a:r>
            <a:r>
              <a:rPr lang="en-GB" sz="1799" dirty="0">
                <a:latin typeface="HP Simplified Light (Body)"/>
                <a:cs typeface="Times New Roman" panose="02020603050405020304" pitchFamily="18" charset="0"/>
              </a:rPr>
              <a:t>CPC Tracker-Pricing Update</a:t>
            </a:r>
            <a:r>
              <a:rPr lang="en-US" altLang="zh-TW" sz="1799" dirty="0">
                <a:latin typeface="HP Simplified Light (Body)"/>
                <a:cs typeface="Times New Roman" panose="02020603050405020304" pitchFamily="18" charset="0"/>
              </a:rPr>
              <a:t>” </a:t>
            </a:r>
            <a:r>
              <a:rPr lang="en-US" altLang="zh-TW" sz="1400" dirty="0">
                <a:latin typeface="HP Simplified Light (Body)"/>
                <a:cs typeface="Times New Roman" panose="02020603050405020304" pitchFamily="18" charset="0"/>
              </a:rPr>
              <a:t>or</a:t>
            </a:r>
            <a:r>
              <a:rPr lang="en-US" altLang="zh-TW" sz="1799" dirty="0">
                <a:latin typeface="HP Simplified Light (Body)"/>
                <a:cs typeface="Times New Roman" panose="02020603050405020304" pitchFamily="18" charset="0"/>
              </a:rPr>
              <a:t> “CPC (GTK)Tracker-pricing update”</a:t>
            </a:r>
            <a:endParaRPr lang="en-GB" sz="1799" dirty="0">
              <a:latin typeface="HP Simplified Light (Body)"/>
              <a:cs typeface="Times New Roman" panose="02020603050405020304" pitchFamily="18" charset="0"/>
            </a:endParaRPr>
          </a:p>
          <a:p>
            <a:endParaRPr lang="en-GB" sz="1799" dirty="0">
              <a:latin typeface="HP Simplified Light (Body)"/>
              <a:cs typeface="Times New Roman" panose="02020603050405020304" pitchFamily="18" charset="0"/>
            </a:endParaRPr>
          </a:p>
          <a:p>
            <a:endParaRPr lang="en-GB" sz="1799" dirty="0"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CD6130-2268-47F7-8096-938D3F6CA9B0}"/>
              </a:ext>
            </a:extLst>
          </p:cNvPr>
          <p:cNvSpPr txBox="1"/>
          <p:nvPr/>
        </p:nvSpPr>
        <p:spPr>
          <a:xfrm>
            <a:off x="953029" y="1658501"/>
            <a:ext cx="11781896" cy="369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799" dirty="0">
                <a:latin typeface="HP Simplified Light (Body)"/>
                <a:cs typeface="Times New Roman" panose="02020603050405020304" pitchFamily="18" charset="0"/>
              </a:rPr>
              <a:t>1. “</a:t>
            </a:r>
            <a:r>
              <a:rPr lang="en-GB" sz="1799" dirty="0">
                <a:latin typeface="HP Simplified Light (Body)"/>
                <a:cs typeface="Times New Roman" panose="02020603050405020304" pitchFamily="18" charset="0"/>
              </a:rPr>
              <a:t>CPC Tracker-spec change</a:t>
            </a:r>
            <a:r>
              <a:rPr lang="en-US" altLang="zh-TW" sz="1799" dirty="0">
                <a:latin typeface="HP Simplified Light (Body)"/>
                <a:cs typeface="Times New Roman" panose="02020603050405020304" pitchFamily="18" charset="0"/>
              </a:rPr>
              <a:t>”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HP Simplified Light (Body)"/>
                <a:cs typeface="Times New Roman" panose="02020603050405020304" pitchFamily="18" charset="0"/>
              </a:rPr>
              <a:t> , </a:t>
            </a:r>
            <a:r>
              <a:rPr lang="en-US" altLang="zh-TW" sz="1799" dirty="0">
                <a:latin typeface="HP Simplified Light (Body)"/>
                <a:cs typeface="Times New Roman" panose="02020603050405020304" pitchFamily="18" charset="0"/>
              </a:rPr>
              <a:t>“</a:t>
            </a:r>
            <a:r>
              <a:rPr lang="en-GB" sz="1799" dirty="0">
                <a:latin typeface="HP Simplified Light (Body)"/>
                <a:cs typeface="Times New Roman" panose="02020603050405020304" pitchFamily="18" charset="0"/>
              </a:rPr>
              <a:t>CPC Tracker-Spec change</a:t>
            </a:r>
            <a:r>
              <a:rPr lang="en-US" altLang="zh-TW" sz="1799" dirty="0">
                <a:latin typeface="HP Simplified Light (Body)"/>
                <a:cs typeface="Times New Roman" panose="02020603050405020304" pitchFamily="18" charset="0"/>
              </a:rPr>
              <a:t>”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HP Simplified Light (Body)"/>
                <a:cs typeface="Times New Roman" panose="02020603050405020304" pitchFamily="18" charset="0"/>
              </a:rPr>
              <a:t>,  or </a:t>
            </a:r>
            <a:r>
              <a:rPr lang="en-US" altLang="zh-TW" sz="1799" dirty="0">
                <a:latin typeface="HP Simplified Light (Body)"/>
                <a:cs typeface="Times New Roman" panose="02020603050405020304" pitchFamily="18" charset="0"/>
              </a:rPr>
              <a:t>“</a:t>
            </a:r>
            <a:r>
              <a:rPr lang="en-GB" sz="1799" dirty="0">
                <a:latin typeface="HP Simplified Light (Body)"/>
                <a:cs typeface="Times New Roman" panose="02020603050405020304" pitchFamily="18" charset="0"/>
              </a:rPr>
              <a:t>CPC Tracker-Spec Change</a:t>
            </a:r>
            <a:r>
              <a:rPr lang="en-US" altLang="zh-TW" sz="1799" dirty="0">
                <a:latin typeface="HP Simplified Light (Body)"/>
                <a:cs typeface="Times New Roman" panose="02020603050405020304" pitchFamily="18" charset="0"/>
              </a:rPr>
              <a:t>”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HP Simplified Light (Body)"/>
                <a:cs typeface="Times New Roman" panose="02020603050405020304" pitchFamily="18" charset="0"/>
              </a:rPr>
              <a:t>, (CPC Tracker-spec </a:t>
            </a:r>
            <a:r>
              <a:rPr lang="en-US" altLang="zh-TW" sz="1400" dirty="0" err="1">
                <a:solidFill>
                  <a:schemeClr val="bg1">
                    <a:lumMod val="50000"/>
                  </a:schemeClr>
                </a:solidFill>
                <a:latin typeface="HP Simplified Light (Body)"/>
                <a:cs typeface="Times New Roman" panose="02020603050405020304" pitchFamily="18" charset="0"/>
              </a:rPr>
              <a:t>changeXXX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HP Simplified Light (Body)"/>
                <a:cs typeface="Times New Roman" panose="02020603050405020304" pitchFamily="18" charset="0"/>
              </a:rPr>
              <a:t> </a:t>
            </a:r>
            <a:r>
              <a:rPr lang="en-GB" altLang="zh-TW" sz="1400" dirty="0">
                <a:solidFill>
                  <a:schemeClr val="bg1">
                    <a:lumMod val="50000"/>
                  </a:schemeClr>
                </a:solidFill>
                <a:latin typeface="HP Simplified Light (Body)"/>
                <a:cs typeface="Times New Roman" panose="02020603050405020304" pitchFamily="18" charset="0"/>
              </a:rPr>
              <a:t>is fine), 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HP Simplified Light (Body)"/>
                <a:cs typeface="Times New Roman" panose="02020603050405020304" pitchFamily="18" charset="0"/>
              </a:rPr>
              <a:t> </a:t>
            </a:r>
            <a:endParaRPr lang="en-GB" sz="1799" dirty="0">
              <a:solidFill>
                <a:schemeClr val="bg1">
                  <a:lumMod val="50000"/>
                </a:schemeClr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BE7E11-94AF-4EC5-BAEB-9AD09B111A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982" t="-33707" r="26558" b="-1"/>
          <a:stretch/>
        </p:blipFill>
        <p:spPr>
          <a:xfrm>
            <a:off x="6602497" y="1313433"/>
            <a:ext cx="4663149" cy="36923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3F49331-5164-496D-A183-46FBA72D4F97}"/>
              </a:ext>
            </a:extLst>
          </p:cNvPr>
          <p:cNvSpPr/>
          <p:nvPr/>
        </p:nvSpPr>
        <p:spPr>
          <a:xfrm>
            <a:off x="7716922" y="1356650"/>
            <a:ext cx="3548724" cy="354869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C59BBA-CCA0-4863-9F13-3D39A895A92D}"/>
              </a:ext>
            </a:extLst>
          </p:cNvPr>
          <p:cNvSpPr txBox="1"/>
          <p:nvPr/>
        </p:nvSpPr>
        <p:spPr>
          <a:xfrm>
            <a:off x="750102" y="1366435"/>
            <a:ext cx="5346242" cy="369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S</a:t>
            </a:r>
            <a:r>
              <a:rPr lang="en-GB" sz="1799" b="1" dirty="0" err="1">
                <a:latin typeface="HP Simplified Light (Body)"/>
                <a:cs typeface="Times New Roman" panose="02020603050405020304" pitchFamily="18" charset="0"/>
              </a:rPr>
              <a:t>heet</a:t>
            </a:r>
            <a:r>
              <a:rPr lang="en-GB" sz="1799" b="1" dirty="0">
                <a:latin typeface="HP Simplified Light (Body)"/>
                <a:cs typeface="Times New Roman" panose="02020603050405020304" pitchFamily="18" charset="0"/>
              </a:rPr>
              <a:t> name</a:t>
            </a:r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:</a:t>
            </a:r>
            <a:r>
              <a:rPr lang="en-GB" sz="1799" b="1" dirty="0">
                <a:latin typeface="HP Simplified Light (Body)"/>
                <a:cs typeface="Times New Roman" panose="02020603050405020304" pitchFamily="18" charset="0"/>
              </a:rPr>
              <a:t> </a:t>
            </a:r>
            <a:r>
              <a:rPr lang="en-GB" sz="1799" dirty="0">
                <a:latin typeface="HP Simplified Light (Body)"/>
                <a:cs typeface="Times New Roman" panose="02020603050405020304" pitchFamily="18" charset="0"/>
              </a:rPr>
              <a:t>should contain the below word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6615B7-B597-4C98-AAA2-8CB24E78D73D}"/>
              </a:ext>
            </a:extLst>
          </p:cNvPr>
          <p:cNvSpPr txBox="1"/>
          <p:nvPr/>
        </p:nvSpPr>
        <p:spPr>
          <a:xfrm>
            <a:off x="414754" y="3155010"/>
            <a:ext cx="6094413" cy="3414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799" b="1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Header: -</a:t>
            </a:r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 </a:t>
            </a:r>
            <a:r>
              <a:rPr lang="en-US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“</a:t>
            </a:r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CPC Tracker-spec change</a:t>
            </a:r>
            <a:r>
              <a:rPr lang="en-US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”</a:t>
            </a:r>
            <a:r>
              <a:rPr lang="zh-TW" altLang="en-US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 </a:t>
            </a:r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sheet n</a:t>
            </a:r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eeds to have “Requestor”, </a:t>
            </a:r>
            <a:r>
              <a:rPr lang="en-GB" sz="1799" dirty="0">
                <a:solidFill>
                  <a:srgbClr val="FF0000"/>
                </a:solidFill>
                <a:latin typeface="HP Simplified Light (Body)"/>
                <a:cs typeface="Times New Roman" panose="02020603050405020304" pitchFamily="18" charset="0"/>
              </a:rPr>
              <a:t>“Description</a:t>
            </a:r>
            <a:r>
              <a:rPr lang="en-GB" sz="1799" b="1" dirty="0">
                <a:solidFill>
                  <a:srgbClr val="FF0000"/>
                </a:solidFill>
                <a:latin typeface="HP Simplified Light (Body)"/>
                <a:cs typeface="Times New Roman" panose="02020603050405020304" pitchFamily="18" charset="0"/>
              </a:rPr>
              <a:t>”, </a:t>
            </a:r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“Request Date”, and “</a:t>
            </a:r>
            <a:r>
              <a:rPr lang="en-GB" sz="1799" dirty="0">
                <a:latin typeface="HP Simplified Light (Body)"/>
                <a:cs typeface="Times New Roman" panose="02020603050405020304" pitchFamily="18" charset="0"/>
              </a:rPr>
              <a:t>Effectivity Date</a:t>
            </a:r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”</a:t>
            </a:r>
            <a:r>
              <a:rPr lang="zh-TW" altLang="en-US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 </a:t>
            </a:r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on the heading.  </a:t>
            </a:r>
            <a:b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</a:br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Heading needs to be in Row #3</a:t>
            </a:r>
            <a:r>
              <a:rPr lang="zh-TW" altLang="en-US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 </a:t>
            </a:r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or </a:t>
            </a:r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Row #2.</a:t>
            </a:r>
            <a:r>
              <a:rPr lang="en-GB" sz="1799" dirty="0">
                <a:latin typeface="HP Simplified Light (Body)"/>
                <a:cs typeface="Times New Roman" panose="02020603050405020304" pitchFamily="18" charset="0"/>
              </a:rPr>
              <a:t> </a:t>
            </a:r>
          </a:p>
          <a:p>
            <a:endParaRPr lang="en-GB" sz="1799" dirty="0">
              <a:latin typeface="HP Simplified Light (Body)"/>
              <a:cs typeface="Times New Roman" panose="02020603050405020304" pitchFamily="18" charset="0"/>
            </a:endParaRPr>
          </a:p>
          <a:p>
            <a:r>
              <a:rPr lang="en-GB" sz="1799" b="1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Header: -</a:t>
            </a:r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 </a:t>
            </a:r>
            <a:r>
              <a:rPr lang="en-US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“</a:t>
            </a:r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CPC Tracker-pricing update</a:t>
            </a:r>
            <a:r>
              <a:rPr lang="en-US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”</a:t>
            </a:r>
            <a:r>
              <a:rPr lang="zh-TW" altLang="en-US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 </a:t>
            </a:r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sheet n</a:t>
            </a:r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eeds to have “Requestor”, </a:t>
            </a:r>
            <a:r>
              <a:rPr lang="en-GB" sz="1799" dirty="0">
                <a:solidFill>
                  <a:srgbClr val="FF0000"/>
                </a:solidFill>
                <a:latin typeface="HP Simplified Light (Body)"/>
                <a:cs typeface="Times New Roman" panose="02020603050405020304" pitchFamily="18" charset="0"/>
              </a:rPr>
              <a:t>“Description”</a:t>
            </a:r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, “Request Date”, and “</a:t>
            </a:r>
            <a:r>
              <a:rPr lang="en-GB" sz="1799" dirty="0">
                <a:latin typeface="HP Simplified Light (Body)"/>
                <a:cs typeface="Times New Roman" panose="02020603050405020304" pitchFamily="18" charset="0"/>
              </a:rPr>
              <a:t>Effectivity Date</a:t>
            </a:r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”</a:t>
            </a:r>
            <a:r>
              <a:rPr lang="zh-TW" altLang="en-US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 </a:t>
            </a:r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on the heading. </a:t>
            </a:r>
            <a:r>
              <a:rPr lang="en-GB" sz="1799" dirty="0">
                <a:solidFill>
                  <a:srgbClr val="FF0000"/>
                </a:solidFill>
                <a:latin typeface="HP Simplified Light (Body)"/>
                <a:cs typeface="Times New Roman" panose="02020603050405020304" pitchFamily="18" charset="0"/>
              </a:rPr>
              <a:t>(only Description xxx is fine, the other column should be exactly same)</a:t>
            </a:r>
            <a:br>
              <a:rPr lang="en-GB" sz="1799" dirty="0">
                <a:solidFill>
                  <a:srgbClr val="FF0000"/>
                </a:solidFill>
                <a:latin typeface="HP Simplified Light (Body)"/>
                <a:cs typeface="Times New Roman" panose="02020603050405020304" pitchFamily="18" charset="0"/>
              </a:rPr>
            </a:br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Heading needs to be in Row #3 </a:t>
            </a:r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or </a:t>
            </a:r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Row #2.</a:t>
            </a:r>
            <a:r>
              <a:rPr lang="en-GB" sz="1799" dirty="0">
                <a:latin typeface="HP Simplified Light (Body)"/>
                <a:cs typeface="Times New Roman" panose="02020603050405020304" pitchFamily="18" charset="0"/>
              </a:rPr>
              <a:t> </a:t>
            </a:r>
          </a:p>
          <a:p>
            <a:endParaRPr lang="en-GB" sz="1799" dirty="0">
              <a:latin typeface="HP Simplified Light (Body)"/>
              <a:cs typeface="Times New Roman" panose="02020603050405020304" pitchFamily="18" charset="0"/>
            </a:endParaRPr>
          </a:p>
          <a:p>
            <a:endParaRPr lang="en-GB" sz="1799" dirty="0">
              <a:latin typeface="HP Simplified Light (Body)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CACD0B1-03B1-4D2F-B953-B6E58E92C0BC}"/>
              </a:ext>
            </a:extLst>
          </p:cNvPr>
          <p:cNvGrpSpPr/>
          <p:nvPr/>
        </p:nvGrpSpPr>
        <p:grpSpPr>
          <a:xfrm>
            <a:off x="6404816" y="3155010"/>
            <a:ext cx="5717650" cy="1071476"/>
            <a:chOff x="252178" y="1805824"/>
            <a:chExt cx="6728695" cy="124120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6B1C741-F118-40D0-ADCC-D519D47AC2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34538"/>
            <a:stretch/>
          </p:blipFill>
          <p:spPr>
            <a:xfrm>
              <a:off x="252178" y="1805824"/>
              <a:ext cx="6728695" cy="1199816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365E925-8CD5-45CB-A44F-6D80505DA6D1}"/>
                </a:ext>
              </a:extLst>
            </p:cNvPr>
            <p:cNvSpPr/>
            <p:nvPr/>
          </p:nvSpPr>
          <p:spPr>
            <a:xfrm>
              <a:off x="258328" y="2274284"/>
              <a:ext cx="191457" cy="772741"/>
            </a:xfrm>
            <a:prstGeom prst="rect">
              <a:avLst/>
            </a:prstGeom>
            <a:noFill/>
            <a:ln w="38100">
              <a:solidFill>
                <a:srgbClr val="0096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99">
                <a:latin typeface="HP Simplified Light (Body)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B2755BD-F94D-4CA1-B1B5-BCB516827835}"/>
                </a:ext>
              </a:extLst>
            </p:cNvPr>
            <p:cNvSpPr/>
            <p:nvPr/>
          </p:nvSpPr>
          <p:spPr>
            <a:xfrm>
              <a:off x="747951" y="2341879"/>
              <a:ext cx="1877554" cy="656824"/>
            </a:xfrm>
            <a:prstGeom prst="rect">
              <a:avLst/>
            </a:prstGeom>
            <a:noFill/>
            <a:ln w="38100">
              <a:solidFill>
                <a:srgbClr val="0096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99">
                <a:latin typeface="HP Simplified Light (Body)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7E60A6D-B707-4319-BE7E-40CFEE7ED151}"/>
                </a:ext>
              </a:extLst>
            </p:cNvPr>
            <p:cNvSpPr/>
            <p:nvPr/>
          </p:nvSpPr>
          <p:spPr>
            <a:xfrm>
              <a:off x="4106191" y="2294489"/>
              <a:ext cx="2874682" cy="711151"/>
            </a:xfrm>
            <a:prstGeom prst="rect">
              <a:avLst/>
            </a:prstGeom>
            <a:noFill/>
            <a:ln w="38100">
              <a:solidFill>
                <a:srgbClr val="0096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99">
                <a:latin typeface="HP Simplified Light (Body)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C601143-81FF-4309-ABA7-4F94C4992952}"/>
              </a:ext>
            </a:extLst>
          </p:cNvPr>
          <p:cNvGrpSpPr/>
          <p:nvPr/>
        </p:nvGrpSpPr>
        <p:grpSpPr>
          <a:xfrm>
            <a:off x="6395615" y="4669957"/>
            <a:ext cx="5717650" cy="1154077"/>
            <a:chOff x="284798" y="5209755"/>
            <a:chExt cx="6696075" cy="143588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B69BA09-BAEB-49D0-BBE5-3F422FE210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40882"/>
            <a:stretch/>
          </p:blipFill>
          <p:spPr>
            <a:xfrm>
              <a:off x="284798" y="5209755"/>
              <a:ext cx="6696075" cy="1435887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49C12DD-1626-4699-ABC6-73A5D4D2342F}"/>
                </a:ext>
              </a:extLst>
            </p:cNvPr>
            <p:cNvSpPr/>
            <p:nvPr/>
          </p:nvSpPr>
          <p:spPr>
            <a:xfrm>
              <a:off x="295572" y="5802348"/>
              <a:ext cx="175018" cy="843294"/>
            </a:xfrm>
            <a:prstGeom prst="rect">
              <a:avLst/>
            </a:prstGeom>
            <a:noFill/>
            <a:ln w="38100">
              <a:solidFill>
                <a:srgbClr val="0096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99">
                <a:latin typeface="HP Simplified Light (Body)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C35DFB7-AFDE-49B1-9D9E-E8A895186738}"/>
                </a:ext>
              </a:extLst>
            </p:cNvPr>
            <p:cNvSpPr/>
            <p:nvPr/>
          </p:nvSpPr>
          <p:spPr>
            <a:xfrm>
              <a:off x="834124" y="5796477"/>
              <a:ext cx="2425124" cy="843294"/>
            </a:xfrm>
            <a:prstGeom prst="rect">
              <a:avLst/>
            </a:prstGeom>
            <a:noFill/>
            <a:ln w="38100">
              <a:solidFill>
                <a:srgbClr val="0096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99">
                <a:latin typeface="HP Simplified Light (Body)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C97ED5A-83DD-44AB-94A3-24E5B1AEBD0E}"/>
                </a:ext>
              </a:extLst>
            </p:cNvPr>
            <p:cNvSpPr/>
            <p:nvPr/>
          </p:nvSpPr>
          <p:spPr>
            <a:xfrm>
              <a:off x="4272931" y="5796477"/>
              <a:ext cx="2655605" cy="843294"/>
            </a:xfrm>
            <a:prstGeom prst="rect">
              <a:avLst/>
            </a:prstGeom>
            <a:noFill/>
            <a:ln w="38100">
              <a:solidFill>
                <a:srgbClr val="0096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99">
                <a:latin typeface="HP Simplified Light (Body)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5922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DA83D-77C7-415E-84F6-AD453EB58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>
                <a:latin typeface="HP Simplified Light (Body)"/>
              </a:rPr>
              <a:t>26</a:t>
            </a:fld>
            <a:endParaRPr lang="zh-TW" altLang="en-US">
              <a:latin typeface="HP Simplified Light (Body)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2F615B7A-4929-48A7-AFF6-252FC4835A1E}"/>
              </a:ext>
            </a:extLst>
          </p:cNvPr>
          <p:cNvSpPr txBox="1">
            <a:spLocks/>
          </p:cNvSpPr>
          <p:nvPr/>
        </p:nvSpPr>
        <p:spPr>
          <a:xfrm>
            <a:off x="242017" y="1039230"/>
            <a:ext cx="5032505" cy="1513089"/>
          </a:xfrm>
          <a:prstGeom prst="rect">
            <a:avLst/>
          </a:prstGeom>
        </p:spPr>
        <p:txBody>
          <a:bodyPr vert="horz" lIns="91416" tIns="45708" rIns="91416" bIns="45708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zh-TW" sz="1999" b="1" dirty="0">
                <a:solidFill>
                  <a:schemeClr val="accent1"/>
                </a:solidFill>
                <a:latin typeface="HP Simplified Light (Body)"/>
                <a:cs typeface="Times New Roman" panose="02020603050405020304" pitchFamily="18" charset="0"/>
              </a:rPr>
              <a:t>2.      Run “</a:t>
            </a:r>
            <a:r>
              <a:rPr lang="en-US" altLang="zh-TW" sz="1999" b="1" dirty="0">
                <a:solidFill>
                  <a:schemeClr val="accent1"/>
                </a:solidFill>
                <a:latin typeface="HP Simplified Light (Body)"/>
                <a:cs typeface="Times New Roman" panose="02020603050405020304" pitchFamily="18" charset="0"/>
              </a:rPr>
              <a:t>Quote Validation”</a:t>
            </a:r>
            <a:endParaRPr lang="en-GB" altLang="zh-TW" sz="1999" b="1" dirty="0">
              <a:solidFill>
                <a:schemeClr val="accent1"/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10" name="前言">
            <a:extLst>
              <a:ext uri="{FF2B5EF4-FFF2-40B4-BE49-F238E27FC236}">
                <a16:creationId xmlns:a16="http://schemas.microsoft.com/office/drawing/2014/main" id="{065FF6CB-03FE-4D7C-92CD-B720A6A0A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Restriction </a:t>
            </a:r>
            <a:endParaRPr lang="zh-TW" altLang="en-US" sz="3799" b="1" dirty="0">
              <a:latin typeface="HP Simplified Light (Body)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30A111-881B-41B6-8B4B-A2FA69A2D3C2}"/>
              </a:ext>
            </a:extLst>
          </p:cNvPr>
          <p:cNvSpPr txBox="1"/>
          <p:nvPr/>
        </p:nvSpPr>
        <p:spPr>
          <a:xfrm>
            <a:off x="684213" y="3996519"/>
            <a:ext cx="10497940" cy="20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‘Quote’ -“CKIT” </a:t>
            </a:r>
          </a:p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S</a:t>
            </a:r>
            <a:r>
              <a:rPr lang="en-GB" sz="1799" b="1" dirty="0" err="1">
                <a:latin typeface="HP Simplified Light (Body)"/>
                <a:cs typeface="Times New Roman" panose="02020603050405020304" pitchFamily="18" charset="0"/>
              </a:rPr>
              <a:t>heet</a:t>
            </a:r>
            <a:r>
              <a:rPr lang="en-GB" sz="1799" b="1" dirty="0">
                <a:latin typeface="HP Simplified Light (Body)"/>
                <a:cs typeface="Times New Roman" panose="02020603050405020304" pitchFamily="18" charset="0"/>
              </a:rPr>
              <a:t> name</a:t>
            </a:r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: 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should contain “</a:t>
            </a:r>
            <a:r>
              <a:rPr lang="en-US" altLang="zh-TW" sz="1799" dirty="0">
                <a:latin typeface="HP Simplified Light (Body)"/>
                <a:cs typeface="Times New Roman" panose="02020603050405020304" pitchFamily="18" charset="0"/>
              </a:rPr>
              <a:t>CKIT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” </a:t>
            </a:r>
            <a:r>
              <a:rPr lang="en-GB" altLang="zh-TW" sz="1799" dirty="0">
                <a:solidFill>
                  <a:schemeClr val="bg1">
                    <a:lumMod val="50000"/>
                  </a:schemeClr>
                </a:solidFill>
                <a:latin typeface="HP Simplified Light (Body)"/>
                <a:cs typeface="Times New Roman" panose="02020603050405020304" pitchFamily="18" charset="0"/>
              </a:rPr>
              <a:t>(CKIT XXX is fine)</a:t>
            </a:r>
          </a:p>
          <a:p>
            <a:r>
              <a:rPr lang="en-GB" sz="1799" b="1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Header: </a:t>
            </a:r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: 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should be exactly named as </a:t>
            </a:r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'HP Part #', 'Type’ and contain “</a:t>
            </a:r>
            <a:r>
              <a:rPr lang="en-US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Current</a:t>
            </a:r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” (</a:t>
            </a:r>
            <a:r>
              <a:rPr lang="en-US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Current</a:t>
            </a:r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 XXX is fine)</a:t>
            </a: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Heading needs to be in Row #1</a:t>
            </a:r>
            <a:endParaRPr lang="en-GB" altLang="zh-TW" sz="1799" dirty="0">
              <a:solidFill>
                <a:schemeClr val="bg1">
                  <a:lumMod val="50000"/>
                </a:schemeClr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B21F2E-7C93-4258-9388-83BA124A6B22}"/>
              </a:ext>
            </a:extLst>
          </p:cNvPr>
          <p:cNvCxnSpPr/>
          <p:nvPr/>
        </p:nvCxnSpPr>
        <p:spPr>
          <a:xfrm flipV="1">
            <a:off x="590972" y="3431888"/>
            <a:ext cx="10055781" cy="387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34B8A5D-A7BF-4535-B144-7FED1ABE1151}"/>
              </a:ext>
            </a:extLst>
          </p:cNvPr>
          <p:cNvSpPr txBox="1"/>
          <p:nvPr/>
        </p:nvSpPr>
        <p:spPr>
          <a:xfrm>
            <a:off x="748171" y="1347802"/>
            <a:ext cx="7996387" cy="1476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‘Quote’ -“Change Log” </a:t>
            </a:r>
          </a:p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S</a:t>
            </a:r>
            <a:r>
              <a:rPr lang="en-GB" sz="1799" b="1" dirty="0" err="1">
                <a:latin typeface="HP Simplified Light (Body)"/>
                <a:cs typeface="Times New Roman" panose="02020603050405020304" pitchFamily="18" charset="0"/>
              </a:rPr>
              <a:t>heet</a:t>
            </a:r>
            <a:r>
              <a:rPr lang="en-GB" sz="1799" b="1" dirty="0">
                <a:latin typeface="HP Simplified Light (Body)"/>
                <a:cs typeface="Times New Roman" panose="02020603050405020304" pitchFamily="18" charset="0"/>
              </a:rPr>
              <a:t> name</a:t>
            </a:r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: 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should be exactly named as “Change Log” or “Change log”</a:t>
            </a:r>
          </a:p>
          <a:p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Platform name should be exactly at the same locations</a:t>
            </a: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1BB05AA-E2F8-412F-B7F0-2AEA7244A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583" y="2214181"/>
            <a:ext cx="5581650" cy="676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083D06-46BD-4682-83BC-DC6EDB416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28" y="5163744"/>
            <a:ext cx="6573837" cy="46328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3BA5626-73CE-4F11-A996-D22175C0D588}"/>
              </a:ext>
            </a:extLst>
          </p:cNvPr>
          <p:cNvSpPr/>
          <p:nvPr/>
        </p:nvSpPr>
        <p:spPr>
          <a:xfrm>
            <a:off x="834828" y="5110947"/>
            <a:ext cx="374650" cy="567009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C08758-39C1-4605-A574-DEC7CB7E5976}"/>
              </a:ext>
            </a:extLst>
          </p:cNvPr>
          <p:cNvSpPr/>
          <p:nvPr/>
        </p:nvSpPr>
        <p:spPr>
          <a:xfrm>
            <a:off x="2085778" y="5110948"/>
            <a:ext cx="1733550" cy="567008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1F8CD1-EB57-4179-98B6-0B3D4BA8C9BA}"/>
              </a:ext>
            </a:extLst>
          </p:cNvPr>
          <p:cNvSpPr/>
          <p:nvPr/>
        </p:nvSpPr>
        <p:spPr>
          <a:xfrm>
            <a:off x="5536157" y="5128178"/>
            <a:ext cx="1875725" cy="567008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</p:spTree>
    <p:extLst>
      <p:ext uri="{BB962C8B-B14F-4D97-AF65-F5344CB8AC3E}">
        <p14:creationId xmlns:p14="http://schemas.microsoft.com/office/powerpoint/2010/main" val="3539795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6C706-665F-4CFE-8DCE-F173FAF7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5" name="前言">
            <a:extLst>
              <a:ext uri="{FF2B5EF4-FFF2-40B4-BE49-F238E27FC236}">
                <a16:creationId xmlns:a16="http://schemas.microsoft.com/office/drawing/2014/main" id="{10FD7D65-5E1B-4EA6-BC38-6A1C98FA7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Restriction </a:t>
            </a:r>
            <a:endParaRPr lang="zh-TW" altLang="en-US" sz="3799" b="1" dirty="0">
              <a:latin typeface="HP Simplified Light (Body)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B5F61ADD-F7C2-41F3-90D9-BCE9B432081E}"/>
              </a:ext>
            </a:extLst>
          </p:cNvPr>
          <p:cNvSpPr txBox="1">
            <a:spLocks/>
          </p:cNvSpPr>
          <p:nvPr/>
        </p:nvSpPr>
        <p:spPr>
          <a:xfrm>
            <a:off x="242017" y="1039230"/>
            <a:ext cx="5032505" cy="1513089"/>
          </a:xfrm>
          <a:prstGeom prst="rect">
            <a:avLst/>
          </a:prstGeom>
        </p:spPr>
        <p:txBody>
          <a:bodyPr vert="horz" lIns="91416" tIns="45708" rIns="91416" bIns="45708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zh-TW" sz="1999" b="1" dirty="0">
                <a:solidFill>
                  <a:schemeClr val="accent1"/>
                </a:solidFill>
                <a:latin typeface="HP Simplified Light (Body)"/>
                <a:cs typeface="Times New Roman" panose="02020603050405020304" pitchFamily="18" charset="0"/>
              </a:rPr>
              <a:t>2.      Run </a:t>
            </a:r>
            <a:r>
              <a:rPr lang="en-US" altLang="zh-TW" sz="1999" b="1" dirty="0">
                <a:solidFill>
                  <a:schemeClr val="accent1"/>
                </a:solidFill>
                <a:latin typeface="HP Simplified Light (Body)"/>
                <a:cs typeface="Times New Roman" panose="02020603050405020304" pitchFamily="18" charset="0"/>
              </a:rPr>
              <a:t>“Quote Validation”</a:t>
            </a:r>
            <a:endParaRPr lang="en-GB" altLang="zh-TW" sz="1999" b="1" dirty="0">
              <a:solidFill>
                <a:schemeClr val="accent1"/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3C5EE3-CC3A-4F7E-B029-DF35A48D084A}"/>
              </a:ext>
            </a:extLst>
          </p:cNvPr>
          <p:cNvSpPr txBox="1"/>
          <p:nvPr/>
        </p:nvSpPr>
        <p:spPr>
          <a:xfrm>
            <a:off x="684213" y="1398572"/>
            <a:ext cx="11888787" cy="20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‘Quote’ -“Master Data” </a:t>
            </a:r>
          </a:p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S</a:t>
            </a:r>
            <a:r>
              <a:rPr lang="en-GB" sz="1799" b="1" dirty="0" err="1">
                <a:latin typeface="HP Simplified Light (Body)"/>
                <a:cs typeface="Times New Roman" panose="02020603050405020304" pitchFamily="18" charset="0"/>
              </a:rPr>
              <a:t>heet</a:t>
            </a:r>
            <a:r>
              <a:rPr lang="en-GB" sz="1799" b="1" dirty="0">
                <a:latin typeface="HP Simplified Light (Body)"/>
                <a:cs typeface="Times New Roman" panose="02020603050405020304" pitchFamily="18" charset="0"/>
              </a:rPr>
              <a:t> name</a:t>
            </a:r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: 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should contain “</a:t>
            </a:r>
            <a:r>
              <a:rPr lang="en-US" altLang="zh-TW" sz="1799" dirty="0">
                <a:latin typeface="HP Simplified Light (Body)"/>
                <a:cs typeface="Times New Roman" panose="02020603050405020304" pitchFamily="18" charset="0"/>
              </a:rPr>
              <a:t>Master Data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” or “Master data” </a:t>
            </a:r>
            <a:r>
              <a:rPr lang="en-GB" altLang="zh-TW" sz="1799" dirty="0">
                <a:solidFill>
                  <a:schemeClr val="bg1">
                    <a:lumMod val="50000"/>
                  </a:schemeClr>
                </a:solidFill>
                <a:latin typeface="HP Simplified Light (Body)"/>
                <a:cs typeface="Times New Roman" panose="02020603050405020304" pitchFamily="18" charset="0"/>
              </a:rPr>
              <a:t>(Master Data XXX is fine)</a:t>
            </a:r>
          </a:p>
          <a:p>
            <a:r>
              <a:rPr lang="en-GB" sz="1799" b="1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Header: 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should be exactly named as </a:t>
            </a:r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'Description', 'Category‘</a:t>
            </a:r>
            <a:r>
              <a:rPr lang="zh-TW" altLang="en-US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 </a:t>
            </a:r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and contain “HP” and “Current”</a:t>
            </a:r>
          </a:p>
          <a:p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(HP XXX is fine)</a:t>
            </a: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Heading needs to be in Row #1</a:t>
            </a:r>
            <a:endParaRPr lang="en-GB" altLang="zh-TW" sz="1799" dirty="0">
              <a:solidFill>
                <a:schemeClr val="bg1">
                  <a:lumMod val="50000"/>
                </a:schemeClr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BD2809-C2EC-43EA-A428-1BFA373D5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22" y="2552319"/>
            <a:ext cx="6334125" cy="4857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4633612-5EE1-4299-B8D2-2B6026E2D216}"/>
              </a:ext>
            </a:extLst>
          </p:cNvPr>
          <p:cNvSpPr/>
          <p:nvPr/>
        </p:nvSpPr>
        <p:spPr>
          <a:xfrm>
            <a:off x="771722" y="2615804"/>
            <a:ext cx="240799" cy="485776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BCDF86-4D5B-40DA-B5AB-4AC274F420D2}"/>
              </a:ext>
            </a:extLst>
          </p:cNvPr>
          <p:cNvSpPr/>
          <p:nvPr/>
        </p:nvSpPr>
        <p:spPr>
          <a:xfrm>
            <a:off x="1383995" y="2553781"/>
            <a:ext cx="5721851" cy="567008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F0F9B8-810B-4EDE-A723-B2448E1B96A3}"/>
              </a:ext>
            </a:extLst>
          </p:cNvPr>
          <p:cNvSpPr txBox="1"/>
          <p:nvPr/>
        </p:nvSpPr>
        <p:spPr>
          <a:xfrm>
            <a:off x="684213" y="4191841"/>
            <a:ext cx="11888787" cy="20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‘Quote’ -“BU SA” </a:t>
            </a:r>
          </a:p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S</a:t>
            </a:r>
            <a:r>
              <a:rPr lang="en-GB" sz="1799" b="1" dirty="0" err="1">
                <a:latin typeface="HP Simplified Light (Body)"/>
                <a:cs typeface="Times New Roman" panose="02020603050405020304" pitchFamily="18" charset="0"/>
              </a:rPr>
              <a:t>heet</a:t>
            </a:r>
            <a:r>
              <a:rPr lang="en-GB" sz="1799" b="1" dirty="0">
                <a:latin typeface="HP Simplified Light (Body)"/>
                <a:cs typeface="Times New Roman" panose="02020603050405020304" pitchFamily="18" charset="0"/>
              </a:rPr>
              <a:t> name</a:t>
            </a:r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: 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should contain “</a:t>
            </a:r>
            <a:r>
              <a:rPr lang="en-US" altLang="zh-TW" sz="1799" dirty="0">
                <a:latin typeface="HP Simplified Light (Body)"/>
                <a:cs typeface="Times New Roman" panose="02020603050405020304" pitchFamily="18" charset="0"/>
              </a:rPr>
              <a:t>BUSA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” or “BU SA” </a:t>
            </a:r>
            <a:r>
              <a:rPr lang="en-GB" altLang="zh-TW" sz="1799" dirty="0">
                <a:solidFill>
                  <a:schemeClr val="bg1">
                    <a:lumMod val="50000"/>
                  </a:schemeClr>
                </a:solidFill>
                <a:latin typeface="HP Simplified Light (Body)"/>
                <a:cs typeface="Times New Roman" panose="02020603050405020304" pitchFamily="18" charset="0"/>
              </a:rPr>
              <a:t>(BU SA XXX is fine)</a:t>
            </a:r>
          </a:p>
          <a:p>
            <a:r>
              <a:rPr lang="en-GB" sz="1799" b="1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Header: 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should be exactly named as </a:t>
            </a:r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'Description', 'Total Base Unit Cost excluded B/S’ and contain “HP” or “SA”</a:t>
            </a:r>
          </a:p>
          <a:p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(HP XXX is fine)</a:t>
            </a: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Heading needs to be in Row #1</a:t>
            </a:r>
            <a:endParaRPr lang="en-GB" altLang="zh-TW" sz="1799" dirty="0">
              <a:solidFill>
                <a:schemeClr val="bg1">
                  <a:lumMod val="50000"/>
                </a:schemeClr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DB67F8E-2251-4E99-A635-869F76D06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986" y="5349517"/>
            <a:ext cx="4714875" cy="55245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950D3BD-4C42-4B1B-B8F2-68283C1BBD64}"/>
              </a:ext>
            </a:extLst>
          </p:cNvPr>
          <p:cNvSpPr/>
          <p:nvPr/>
        </p:nvSpPr>
        <p:spPr>
          <a:xfrm>
            <a:off x="903985" y="5329884"/>
            <a:ext cx="240799" cy="567009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543335-FB41-4C20-B3C6-4349B6AF00DA}"/>
              </a:ext>
            </a:extLst>
          </p:cNvPr>
          <p:cNvSpPr/>
          <p:nvPr/>
        </p:nvSpPr>
        <p:spPr>
          <a:xfrm>
            <a:off x="1144784" y="5342238"/>
            <a:ext cx="3522466" cy="567008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BF4E09-1374-4A06-8E08-63F22FDD8734}"/>
              </a:ext>
            </a:extLst>
          </p:cNvPr>
          <p:cNvCxnSpPr/>
          <p:nvPr/>
        </p:nvCxnSpPr>
        <p:spPr>
          <a:xfrm flipV="1">
            <a:off x="590970" y="3781585"/>
            <a:ext cx="10055781" cy="387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115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5F68CEE-7D2D-4EF4-B833-8087C197F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3" y="5320331"/>
            <a:ext cx="8391525" cy="533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DA83D-77C7-415E-84F6-AD453EB58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>
                <a:latin typeface="HP Simplified Light (Body)"/>
              </a:rPr>
              <a:t>28</a:t>
            </a:fld>
            <a:endParaRPr lang="zh-TW" altLang="en-US">
              <a:latin typeface="HP Simplified Light (Body)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2F615B7A-4929-48A7-AFF6-252FC4835A1E}"/>
              </a:ext>
            </a:extLst>
          </p:cNvPr>
          <p:cNvSpPr txBox="1">
            <a:spLocks/>
          </p:cNvSpPr>
          <p:nvPr/>
        </p:nvSpPr>
        <p:spPr>
          <a:xfrm>
            <a:off x="242017" y="1039230"/>
            <a:ext cx="5032505" cy="1513089"/>
          </a:xfrm>
          <a:prstGeom prst="rect">
            <a:avLst/>
          </a:prstGeom>
        </p:spPr>
        <p:txBody>
          <a:bodyPr vert="horz" lIns="91416" tIns="45708" rIns="91416" bIns="45708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zh-TW" sz="1999" b="1" dirty="0">
                <a:solidFill>
                  <a:schemeClr val="accent1"/>
                </a:solidFill>
                <a:latin typeface="HP Simplified Light (Body)"/>
                <a:cs typeface="Times New Roman" panose="02020603050405020304" pitchFamily="18" charset="0"/>
              </a:rPr>
              <a:t>2.      Run </a:t>
            </a:r>
            <a:r>
              <a:rPr lang="en-US" altLang="zh-TW" sz="1999" b="1" dirty="0">
                <a:solidFill>
                  <a:schemeClr val="accent1"/>
                </a:solidFill>
                <a:latin typeface="HP Simplified Light (Body)"/>
                <a:cs typeface="Times New Roman" panose="02020603050405020304" pitchFamily="18" charset="0"/>
              </a:rPr>
              <a:t>“Quote Validation”</a:t>
            </a:r>
            <a:endParaRPr lang="en-GB" altLang="zh-TW" sz="1999" b="1" dirty="0">
              <a:solidFill>
                <a:schemeClr val="accent1"/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10" name="前言">
            <a:extLst>
              <a:ext uri="{FF2B5EF4-FFF2-40B4-BE49-F238E27FC236}">
                <a16:creationId xmlns:a16="http://schemas.microsoft.com/office/drawing/2014/main" id="{065FF6CB-03FE-4D7C-92CD-B720A6A0A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Restriction </a:t>
            </a:r>
            <a:endParaRPr lang="zh-TW" altLang="en-US" sz="3799" b="1" dirty="0">
              <a:latin typeface="HP Simplified Light (Body)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4EAB75-2A3C-4064-B3ED-EC598F733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782" y="2318319"/>
            <a:ext cx="4991100" cy="928809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CB5EE9EA-B9E1-46C8-86C2-3AA060DC9A28}"/>
              </a:ext>
            </a:extLst>
          </p:cNvPr>
          <p:cNvGrpSpPr/>
          <p:nvPr/>
        </p:nvGrpSpPr>
        <p:grpSpPr>
          <a:xfrm>
            <a:off x="748171" y="1347802"/>
            <a:ext cx="10361362" cy="2307298"/>
            <a:chOff x="748171" y="1347802"/>
            <a:chExt cx="10361362" cy="230729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3DCC1F-E2D4-4B21-8792-D1224A25A3BB}"/>
                </a:ext>
              </a:extLst>
            </p:cNvPr>
            <p:cNvSpPr txBox="1"/>
            <p:nvPr/>
          </p:nvSpPr>
          <p:spPr>
            <a:xfrm>
              <a:off x="748171" y="1347802"/>
              <a:ext cx="10361362" cy="23072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799" b="1" dirty="0">
                  <a:latin typeface="HP Simplified Light (Body)"/>
                  <a:cs typeface="Times New Roman" panose="02020603050405020304" pitchFamily="18" charset="0"/>
                </a:rPr>
                <a:t>‘CPCT’ -“BU SA” </a:t>
              </a:r>
            </a:p>
            <a:p>
              <a:r>
                <a:rPr lang="en-US" altLang="zh-TW" sz="1799" b="1" dirty="0">
                  <a:latin typeface="HP Simplified Light (Body)"/>
                  <a:cs typeface="Times New Roman" panose="02020603050405020304" pitchFamily="18" charset="0"/>
                </a:rPr>
                <a:t>S</a:t>
              </a:r>
              <a:r>
                <a:rPr lang="en-GB" sz="1799" b="1" dirty="0" err="1">
                  <a:latin typeface="HP Simplified Light (Body)"/>
                  <a:cs typeface="Times New Roman" panose="02020603050405020304" pitchFamily="18" charset="0"/>
                </a:rPr>
                <a:t>heet</a:t>
              </a:r>
              <a:r>
                <a:rPr lang="en-GB" sz="1799" b="1" dirty="0">
                  <a:latin typeface="HP Simplified Light (Body)"/>
                  <a:cs typeface="Times New Roman" panose="02020603050405020304" pitchFamily="18" charset="0"/>
                </a:rPr>
                <a:t> name</a:t>
              </a:r>
              <a:r>
                <a:rPr lang="en-US" altLang="zh-TW" sz="1799" b="1" dirty="0">
                  <a:latin typeface="HP Simplified Light (Body)"/>
                  <a:cs typeface="Times New Roman" panose="02020603050405020304" pitchFamily="18" charset="0"/>
                </a:rPr>
                <a:t>: </a:t>
              </a:r>
              <a:r>
                <a:rPr lang="en-GB" altLang="zh-TW" sz="1799" dirty="0">
                  <a:latin typeface="HP Simplified Light (Body)"/>
                  <a:cs typeface="Times New Roman" panose="02020603050405020304" pitchFamily="18" charset="0"/>
                </a:rPr>
                <a:t>should</a:t>
              </a:r>
              <a:r>
                <a:rPr lang="en-GB" altLang="zh-TW" sz="1799" dirty="0">
                  <a:solidFill>
                    <a:srgbClr val="000000"/>
                  </a:solidFill>
                  <a:latin typeface="HP Simplified Light (Body)"/>
                  <a:cs typeface="Times New Roman" panose="02020603050405020304" pitchFamily="18" charset="0"/>
                </a:rPr>
                <a:t> be exactly named as </a:t>
              </a:r>
              <a:r>
                <a:rPr lang="en-GB" altLang="zh-TW" sz="1799" dirty="0">
                  <a:latin typeface="HP Simplified Light (Body)"/>
                  <a:cs typeface="Times New Roman" panose="02020603050405020304" pitchFamily="18" charset="0"/>
                </a:rPr>
                <a:t>“BU SA” </a:t>
              </a:r>
              <a:r>
                <a:rPr lang="en-GB" altLang="zh-TW" sz="1799" dirty="0">
                  <a:solidFill>
                    <a:schemeClr val="bg1">
                      <a:lumMod val="50000"/>
                    </a:schemeClr>
                  </a:solidFill>
                  <a:latin typeface="HP Simplified Light (Body)"/>
                  <a:cs typeface="Times New Roman" panose="02020603050405020304" pitchFamily="18" charset="0"/>
                </a:rPr>
                <a:t>(BU SA XXX is not allowed)</a:t>
              </a:r>
            </a:p>
            <a:p>
              <a:r>
                <a:rPr lang="en-GB" sz="1799" b="1" dirty="0">
                  <a:solidFill>
                    <a:srgbClr val="000000"/>
                  </a:solidFill>
                  <a:latin typeface="HP Simplified Light (Body)"/>
                  <a:cs typeface="Times New Roman" panose="02020603050405020304" pitchFamily="18" charset="0"/>
                </a:rPr>
                <a:t>Header: </a:t>
              </a:r>
              <a:r>
                <a:rPr lang="en-GB" altLang="zh-TW" sz="1799" dirty="0">
                  <a:latin typeface="HP Simplified Light (Body)"/>
                  <a:cs typeface="Times New Roman" panose="02020603050405020304" pitchFamily="18" charset="0"/>
                </a:rPr>
                <a:t>should be exactly named as ‘SA Level 3’, </a:t>
              </a:r>
              <a:r>
                <a:rPr lang="en-GB" altLang="zh-TW" sz="1799" dirty="0">
                  <a:solidFill>
                    <a:srgbClr val="000000"/>
                  </a:solidFill>
                  <a:latin typeface="HP Simplified Light (Body)"/>
                  <a:cs typeface="Times New Roman" panose="02020603050405020304" pitchFamily="18" charset="0"/>
                </a:rPr>
                <a:t>'Description’, and 'Total Base Unit Cost excluded B/S’</a:t>
              </a:r>
            </a:p>
            <a:p>
              <a:endPara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endParaRPr>
            </a:p>
            <a:p>
              <a:endPara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endParaRPr>
            </a:p>
            <a:p>
              <a:endPara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endParaRPr>
            </a:p>
            <a:p>
              <a:endPara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endParaRPr>
            </a:p>
            <a:p>
              <a:r>
                <a:rPr lang="en-GB" sz="1799" dirty="0">
                  <a:solidFill>
                    <a:srgbClr val="000000"/>
                  </a:solidFill>
                  <a:latin typeface="HP Simplified Light (Body)"/>
                  <a:cs typeface="Times New Roman" panose="02020603050405020304" pitchFamily="18" charset="0"/>
                </a:rPr>
                <a:t>Heading needs to be in Row #1</a:t>
              </a:r>
              <a:endParaRPr lang="en-GB" altLang="zh-TW" sz="1799" dirty="0">
                <a:solidFill>
                  <a:schemeClr val="bg1">
                    <a:lumMod val="50000"/>
                  </a:schemeClr>
                </a:solidFill>
                <a:latin typeface="HP Simplified Light (Body)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42290A0-DDB8-4E58-918F-4619D3AC7245}"/>
                </a:ext>
              </a:extLst>
            </p:cNvPr>
            <p:cNvSpPr/>
            <p:nvPr/>
          </p:nvSpPr>
          <p:spPr>
            <a:xfrm>
              <a:off x="865483" y="2318318"/>
              <a:ext cx="5008400" cy="928809"/>
            </a:xfrm>
            <a:prstGeom prst="rect">
              <a:avLst/>
            </a:prstGeom>
            <a:noFill/>
            <a:ln w="38100">
              <a:solidFill>
                <a:srgbClr val="0096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99">
                <a:latin typeface="HP Simplified Light (Body)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87F3610-03FF-45AE-B932-E63784256333}"/>
              </a:ext>
            </a:extLst>
          </p:cNvPr>
          <p:cNvSpPr txBox="1"/>
          <p:nvPr/>
        </p:nvSpPr>
        <p:spPr>
          <a:xfrm>
            <a:off x="684213" y="3801790"/>
            <a:ext cx="10497940" cy="2584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‘CPCT’ -“</a:t>
            </a:r>
            <a:r>
              <a:rPr lang="en-US" altLang="zh-TW" sz="1799" b="1" dirty="0" err="1">
                <a:latin typeface="HP Simplified Light (Body)"/>
                <a:cs typeface="Times New Roman" panose="02020603050405020304" pitchFamily="18" charset="0"/>
              </a:rPr>
              <a:t>OptionSA_SUM</a:t>
            </a:r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” </a:t>
            </a:r>
            <a:r>
              <a:rPr lang="zh-TW" altLang="en-US" sz="1799" b="1" dirty="0">
                <a:latin typeface="HP Simplified Light (Body)"/>
                <a:cs typeface="Times New Roman" panose="02020603050405020304" pitchFamily="18" charset="0"/>
              </a:rPr>
              <a:t> </a:t>
            </a:r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(not required)</a:t>
            </a:r>
          </a:p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S</a:t>
            </a:r>
            <a:r>
              <a:rPr lang="en-GB" sz="1799" b="1" dirty="0" err="1">
                <a:latin typeface="HP Simplified Light (Body)"/>
                <a:cs typeface="Times New Roman" panose="02020603050405020304" pitchFamily="18" charset="0"/>
              </a:rPr>
              <a:t>heet</a:t>
            </a:r>
            <a:r>
              <a:rPr lang="en-GB" sz="1799" b="1" dirty="0">
                <a:latin typeface="HP Simplified Light (Body)"/>
                <a:cs typeface="Times New Roman" panose="02020603050405020304" pitchFamily="18" charset="0"/>
              </a:rPr>
              <a:t> name</a:t>
            </a:r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: 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should contain “</a:t>
            </a:r>
            <a:r>
              <a:rPr lang="en-US" altLang="zh-TW" sz="1799" dirty="0" err="1">
                <a:latin typeface="HP Simplified Light (Body)"/>
                <a:cs typeface="Times New Roman" panose="02020603050405020304" pitchFamily="18" charset="0"/>
              </a:rPr>
              <a:t>OptionSA_SUM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” </a:t>
            </a:r>
            <a:r>
              <a:rPr lang="en-GB" altLang="zh-TW" sz="1799" dirty="0">
                <a:solidFill>
                  <a:schemeClr val="bg1">
                    <a:lumMod val="50000"/>
                  </a:schemeClr>
                </a:solidFill>
                <a:latin typeface="HP Simplified Light (Body)"/>
                <a:cs typeface="Times New Roman" panose="02020603050405020304" pitchFamily="18" charset="0"/>
              </a:rPr>
              <a:t>(</a:t>
            </a:r>
            <a:r>
              <a:rPr lang="en-GB" altLang="zh-TW" sz="1799" dirty="0" err="1">
                <a:solidFill>
                  <a:schemeClr val="bg1">
                    <a:lumMod val="50000"/>
                  </a:schemeClr>
                </a:solidFill>
                <a:latin typeface="HP Simplified Light (Body)"/>
                <a:cs typeface="Times New Roman" panose="02020603050405020304" pitchFamily="18" charset="0"/>
              </a:rPr>
              <a:t>OptionSA_SUM</a:t>
            </a:r>
            <a:r>
              <a:rPr lang="en-GB" altLang="zh-TW" sz="1799" dirty="0">
                <a:solidFill>
                  <a:schemeClr val="bg1">
                    <a:lumMod val="50000"/>
                  </a:schemeClr>
                </a:solidFill>
                <a:latin typeface="HP Simplified Light (Body)"/>
                <a:cs typeface="Times New Roman" panose="02020603050405020304" pitchFamily="18" charset="0"/>
              </a:rPr>
              <a:t> XXX is fine)</a:t>
            </a:r>
          </a:p>
          <a:p>
            <a:r>
              <a:rPr lang="en-GB" sz="1799" b="1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Header: </a:t>
            </a:r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: 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should be exactly named as ‘</a:t>
            </a:r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SA </a:t>
            </a:r>
            <a:r>
              <a:rPr lang="en-GB" altLang="zh-TW" sz="1799" dirty="0" err="1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PartNumber</a:t>
            </a:r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', 'SA Description’ and ‘Total Cost’</a:t>
            </a: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Heading needs to be in Row #1</a:t>
            </a:r>
            <a:endParaRPr lang="en-GB" altLang="zh-TW" sz="1799" dirty="0">
              <a:solidFill>
                <a:schemeClr val="bg1">
                  <a:lumMod val="50000"/>
                </a:schemeClr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2BAA9C-6548-433C-8A48-8B186A6F742A}"/>
              </a:ext>
            </a:extLst>
          </p:cNvPr>
          <p:cNvSpPr/>
          <p:nvPr/>
        </p:nvSpPr>
        <p:spPr>
          <a:xfrm>
            <a:off x="664514" y="5287893"/>
            <a:ext cx="6870455" cy="567009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3894F67-F07A-4485-B05A-A5C2F9105BFD}"/>
              </a:ext>
            </a:extLst>
          </p:cNvPr>
          <p:cNvCxnSpPr/>
          <p:nvPr/>
        </p:nvCxnSpPr>
        <p:spPr>
          <a:xfrm flipV="1">
            <a:off x="592931" y="3727521"/>
            <a:ext cx="10055781" cy="387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132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6432F5C-0653-41F7-963E-87326F3AF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231" y="4863068"/>
            <a:ext cx="9604519" cy="7903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684620-2C4F-48E3-8747-63EDDAD29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37" y="2333413"/>
            <a:ext cx="8191500" cy="7715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DA83D-77C7-415E-84F6-AD453EB58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>
                <a:latin typeface="HP Simplified Light (Body)"/>
              </a:rPr>
              <a:t>29</a:t>
            </a:fld>
            <a:endParaRPr lang="zh-TW" altLang="en-US">
              <a:latin typeface="HP Simplified Light (Body)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2F615B7A-4929-48A7-AFF6-252FC4835A1E}"/>
              </a:ext>
            </a:extLst>
          </p:cNvPr>
          <p:cNvSpPr txBox="1">
            <a:spLocks/>
          </p:cNvSpPr>
          <p:nvPr/>
        </p:nvSpPr>
        <p:spPr>
          <a:xfrm>
            <a:off x="242017" y="1039230"/>
            <a:ext cx="5032505" cy="1513089"/>
          </a:xfrm>
          <a:prstGeom prst="rect">
            <a:avLst/>
          </a:prstGeom>
        </p:spPr>
        <p:txBody>
          <a:bodyPr vert="horz" lIns="91416" tIns="45708" rIns="91416" bIns="45708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zh-TW" sz="1999" b="1" dirty="0">
                <a:solidFill>
                  <a:schemeClr val="accent1"/>
                </a:solidFill>
                <a:latin typeface="HP Simplified Light (Body)"/>
                <a:cs typeface="Times New Roman" panose="02020603050405020304" pitchFamily="18" charset="0"/>
              </a:rPr>
              <a:t>2.      Run </a:t>
            </a:r>
            <a:r>
              <a:rPr lang="en-US" altLang="zh-TW" sz="1999" b="1" dirty="0">
                <a:solidFill>
                  <a:schemeClr val="accent1"/>
                </a:solidFill>
                <a:latin typeface="HP Simplified Light (Body)"/>
                <a:cs typeface="Times New Roman" panose="02020603050405020304" pitchFamily="18" charset="0"/>
              </a:rPr>
              <a:t>“Quote Validation”</a:t>
            </a:r>
            <a:endParaRPr lang="en-GB" altLang="zh-TW" sz="1999" b="1" dirty="0">
              <a:solidFill>
                <a:schemeClr val="accent1"/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10" name="前言">
            <a:extLst>
              <a:ext uri="{FF2B5EF4-FFF2-40B4-BE49-F238E27FC236}">
                <a16:creationId xmlns:a16="http://schemas.microsoft.com/office/drawing/2014/main" id="{065FF6CB-03FE-4D7C-92CD-B720A6A0A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Restriction </a:t>
            </a:r>
            <a:endParaRPr lang="zh-TW" altLang="en-US" sz="3799" b="1" dirty="0">
              <a:latin typeface="HP Simplified Light (Body)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C3DEC04-28C5-44DB-8B21-39C7D288A436}"/>
              </a:ext>
            </a:extLst>
          </p:cNvPr>
          <p:cNvCxnSpPr/>
          <p:nvPr/>
        </p:nvCxnSpPr>
        <p:spPr>
          <a:xfrm flipV="1">
            <a:off x="506911" y="3821910"/>
            <a:ext cx="10055781" cy="387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6A2CE2F-2A5C-4ACB-92CC-DFF61AB275DF}"/>
              </a:ext>
            </a:extLst>
          </p:cNvPr>
          <p:cNvSpPr txBox="1"/>
          <p:nvPr/>
        </p:nvSpPr>
        <p:spPr>
          <a:xfrm>
            <a:off x="771722" y="3156470"/>
            <a:ext cx="6456822" cy="369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Heading needs to be in Row #1</a:t>
            </a:r>
            <a:endParaRPr lang="en-GB" altLang="zh-TW" sz="1799" dirty="0">
              <a:solidFill>
                <a:schemeClr val="bg1">
                  <a:lumMod val="50000"/>
                </a:schemeClr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CCBC82-9D1D-4654-8F53-1EFB7CB64956}"/>
              </a:ext>
            </a:extLst>
          </p:cNvPr>
          <p:cNvSpPr txBox="1"/>
          <p:nvPr/>
        </p:nvSpPr>
        <p:spPr>
          <a:xfrm>
            <a:off x="777027" y="1412487"/>
            <a:ext cx="9604518" cy="1753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‘CKIT Media’</a:t>
            </a:r>
            <a:r>
              <a:rPr lang="zh-TW" altLang="en-US" sz="1799" b="1" dirty="0">
                <a:latin typeface="HP Simplified Light (Body)"/>
                <a:cs typeface="Times New Roman" panose="02020603050405020304" pitchFamily="18" charset="0"/>
              </a:rPr>
              <a:t> </a:t>
            </a:r>
            <a:endParaRPr lang="en-GB" altLang="zh-TW" sz="1799" b="1" dirty="0">
              <a:latin typeface="HP Simplified Light (Body)"/>
              <a:cs typeface="Times New Roman" panose="02020603050405020304" pitchFamily="18" charset="0"/>
            </a:endParaRPr>
          </a:p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S</a:t>
            </a:r>
            <a:r>
              <a:rPr lang="en-GB" sz="1799" b="1" dirty="0" err="1">
                <a:latin typeface="HP Simplified Light (Body)"/>
                <a:cs typeface="Times New Roman" panose="02020603050405020304" pitchFamily="18" charset="0"/>
              </a:rPr>
              <a:t>heet</a:t>
            </a:r>
            <a:r>
              <a:rPr lang="en-GB" sz="1799" b="1" dirty="0">
                <a:latin typeface="HP Simplified Light (Body)"/>
                <a:cs typeface="Times New Roman" panose="02020603050405020304" pitchFamily="18" charset="0"/>
              </a:rPr>
              <a:t> name</a:t>
            </a:r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: </a:t>
            </a:r>
            <a:r>
              <a:rPr lang="en-US" altLang="zh-TW" sz="1799" dirty="0">
                <a:latin typeface="HP Simplified Light (Body)"/>
                <a:cs typeface="Times New Roman" panose="02020603050405020304" pitchFamily="18" charset="0"/>
              </a:rPr>
              <a:t>no restriction, will go through every sheet  (neglect hidden sheets)</a:t>
            </a:r>
          </a:p>
          <a:p>
            <a:r>
              <a:rPr lang="en-GB" sz="1799" b="1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Header: </a:t>
            </a:r>
            <a:r>
              <a:rPr lang="en-GB" altLang="zh-TW" sz="1799" dirty="0">
                <a:solidFill>
                  <a:srgbClr val="FF0000"/>
                </a:solidFill>
                <a:latin typeface="HP Simplified Light (Body)"/>
                <a:cs typeface="Times New Roman" panose="02020603050405020304" pitchFamily="18" charset="0"/>
              </a:rPr>
              <a:t>should be exactly named as ‘HP P/N’, ‘Description’, and “Current Price”</a:t>
            </a:r>
          </a:p>
          <a:p>
            <a:endParaRPr lang="en-GB" altLang="zh-TW" sz="1799" dirty="0">
              <a:solidFill>
                <a:srgbClr val="FF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880543-9752-4811-849F-2E3AD21DFC38}"/>
              </a:ext>
            </a:extLst>
          </p:cNvPr>
          <p:cNvSpPr/>
          <p:nvPr/>
        </p:nvSpPr>
        <p:spPr>
          <a:xfrm>
            <a:off x="1523333" y="2346508"/>
            <a:ext cx="1040406" cy="722347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02F2158-12F4-4C42-B78D-F755A836FD2D}"/>
              </a:ext>
            </a:extLst>
          </p:cNvPr>
          <p:cNvSpPr/>
          <p:nvPr/>
        </p:nvSpPr>
        <p:spPr>
          <a:xfrm>
            <a:off x="7921630" y="2387620"/>
            <a:ext cx="1171407" cy="722347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2F0E20-587C-469E-9816-2744D92B6C8D}"/>
              </a:ext>
            </a:extLst>
          </p:cNvPr>
          <p:cNvSpPr txBox="1"/>
          <p:nvPr/>
        </p:nvSpPr>
        <p:spPr>
          <a:xfrm>
            <a:off x="777027" y="3973795"/>
            <a:ext cx="9604518" cy="1476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‘CKIT</a:t>
            </a:r>
            <a:r>
              <a:rPr lang="zh-TW" altLang="en-US" sz="1799" b="1" dirty="0">
                <a:latin typeface="HP Simplified Light (Body)"/>
                <a:cs typeface="Times New Roman" panose="02020603050405020304" pitchFamily="18" charset="0"/>
              </a:rPr>
              <a:t> </a:t>
            </a:r>
            <a:r>
              <a:rPr lang="en-GB" altLang="zh-TW" sz="1799" b="1" dirty="0">
                <a:latin typeface="HP Simplified Light (Body)"/>
                <a:cs typeface="Times New Roman" panose="02020603050405020304" pitchFamily="18" charset="0"/>
              </a:rPr>
              <a:t>NB</a:t>
            </a:r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’  -</a:t>
            </a:r>
            <a:r>
              <a:rPr lang="en-GB" altLang="zh-TW" sz="1799" b="1" dirty="0">
                <a:latin typeface="HP Simplified Light (Body)"/>
                <a:cs typeface="Times New Roman" panose="02020603050405020304" pitchFamily="18" charset="0"/>
              </a:rPr>
              <a:t>“Doc Kit SKU Summary-1” </a:t>
            </a:r>
            <a:endParaRPr lang="en-US" altLang="zh-TW" sz="1799" b="1" dirty="0">
              <a:solidFill>
                <a:srgbClr val="FF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S</a:t>
            </a:r>
            <a:r>
              <a:rPr lang="en-GB" sz="1799" b="1" dirty="0" err="1">
                <a:latin typeface="HP Simplified Light (Body)"/>
                <a:cs typeface="Times New Roman" panose="02020603050405020304" pitchFamily="18" charset="0"/>
              </a:rPr>
              <a:t>heet</a:t>
            </a:r>
            <a:r>
              <a:rPr lang="en-GB" sz="1799" b="1" dirty="0">
                <a:latin typeface="HP Simplified Light (Body)"/>
                <a:cs typeface="Times New Roman" panose="02020603050405020304" pitchFamily="18" charset="0"/>
              </a:rPr>
              <a:t> name</a:t>
            </a:r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: </a:t>
            </a:r>
            <a:r>
              <a:rPr lang="en-GB" altLang="zh-TW" sz="1799" dirty="0">
                <a:solidFill>
                  <a:srgbClr val="FF0000"/>
                </a:solidFill>
                <a:latin typeface="HP Simplified Light (Body)"/>
                <a:cs typeface="Times New Roman" panose="02020603050405020304" pitchFamily="18" charset="0"/>
              </a:rPr>
              <a:t>should be exactly named as “Doc Kit SKU Summary” and “Doc KIT SKU summary for HP” </a:t>
            </a:r>
          </a:p>
          <a:p>
            <a:r>
              <a:rPr lang="en-GB" sz="1799" b="1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Header: </a:t>
            </a:r>
            <a:r>
              <a:rPr lang="en-GB" altLang="zh-TW" sz="1799" dirty="0">
                <a:solidFill>
                  <a:srgbClr val="FF0000"/>
                </a:solidFill>
                <a:latin typeface="HP Simplified Light (Body)"/>
                <a:cs typeface="Times New Roman" panose="02020603050405020304" pitchFamily="18" charset="0"/>
              </a:rPr>
              <a:t>should be exactly named as ‘HP P/N’, ‘Description’, and “Current Price”</a:t>
            </a:r>
          </a:p>
          <a:p>
            <a:endParaRPr lang="en-GB" altLang="zh-TW" sz="1799">
              <a:solidFill>
                <a:srgbClr val="FF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8D2635-6049-4F37-BD34-0BC5DC6D4538}"/>
              </a:ext>
            </a:extLst>
          </p:cNvPr>
          <p:cNvSpPr txBox="1"/>
          <p:nvPr/>
        </p:nvSpPr>
        <p:spPr>
          <a:xfrm>
            <a:off x="795219" y="5737117"/>
            <a:ext cx="6456822" cy="369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Heading needs to be in Row #1</a:t>
            </a:r>
            <a:endParaRPr lang="en-GB" altLang="zh-TW" sz="1799" dirty="0">
              <a:solidFill>
                <a:schemeClr val="bg1">
                  <a:lumMod val="50000"/>
                </a:schemeClr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1FD255D-672B-4782-84AE-C0FA35486F76}"/>
              </a:ext>
            </a:extLst>
          </p:cNvPr>
          <p:cNvSpPr/>
          <p:nvPr/>
        </p:nvSpPr>
        <p:spPr>
          <a:xfrm>
            <a:off x="1956986" y="4863068"/>
            <a:ext cx="3317535" cy="790397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FE75288-3380-4BF2-98BF-8417582F57F4}"/>
              </a:ext>
            </a:extLst>
          </p:cNvPr>
          <p:cNvSpPr/>
          <p:nvPr/>
        </p:nvSpPr>
        <p:spPr>
          <a:xfrm>
            <a:off x="8707097" y="4863068"/>
            <a:ext cx="1756652" cy="751697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E24002-2068-48B8-9770-CFD4224E0DFC}"/>
              </a:ext>
            </a:extLst>
          </p:cNvPr>
          <p:cNvSpPr/>
          <p:nvPr/>
        </p:nvSpPr>
        <p:spPr>
          <a:xfrm>
            <a:off x="3621979" y="2354142"/>
            <a:ext cx="3282160" cy="722347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</p:spTree>
    <p:extLst>
      <p:ext uri="{BB962C8B-B14F-4D97-AF65-F5344CB8AC3E}">
        <p14:creationId xmlns:p14="http://schemas.microsoft.com/office/powerpoint/2010/main" val="5881070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7CAAC-DD73-4E40-8403-22751ED41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013" y="3046558"/>
            <a:ext cx="175018" cy="219456"/>
          </a:xfrm>
        </p:spPr>
        <p:txBody>
          <a:bodyPr/>
          <a:lstStyle/>
          <a:p>
            <a:fld id="{FD6B5799-8FC1-42F8-8027-C838789F0933}" type="slidenum">
              <a:rPr lang="zh-TW" altLang="en-US" smtClean="0"/>
              <a:t>30</a:t>
            </a:fld>
            <a:endParaRPr lang="zh-TW" alt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23017DB-457B-4D37-A30D-5AC81FE8F2AF}"/>
              </a:ext>
            </a:extLst>
          </p:cNvPr>
          <p:cNvGrpSpPr/>
          <p:nvPr/>
        </p:nvGrpSpPr>
        <p:grpSpPr>
          <a:xfrm>
            <a:off x="761897" y="1549552"/>
            <a:ext cx="12304813" cy="1753557"/>
            <a:chOff x="748171" y="3201279"/>
            <a:chExt cx="12304813" cy="175355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7CE93B8-D13E-4063-B893-06BCB6A0138B}"/>
                </a:ext>
              </a:extLst>
            </p:cNvPr>
            <p:cNvSpPr txBox="1"/>
            <p:nvPr/>
          </p:nvSpPr>
          <p:spPr>
            <a:xfrm>
              <a:off x="748171" y="3201279"/>
              <a:ext cx="12304813" cy="17535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799" b="1" dirty="0">
                  <a:latin typeface="HP Simplified Light (Body)"/>
                  <a:cs typeface="Times New Roman" panose="02020603050405020304" pitchFamily="18" charset="0"/>
                </a:rPr>
                <a:t>‘Sell Pricing’ -“Master Data” </a:t>
              </a:r>
            </a:p>
            <a:p>
              <a:r>
                <a:rPr lang="en-US" altLang="zh-TW" sz="1799" b="1" dirty="0">
                  <a:latin typeface="HP Simplified Light (Body)"/>
                  <a:cs typeface="Times New Roman" panose="02020603050405020304" pitchFamily="18" charset="0"/>
                </a:rPr>
                <a:t>S</a:t>
              </a:r>
              <a:r>
                <a:rPr lang="en-GB" sz="1799" b="1" dirty="0" err="1">
                  <a:latin typeface="HP Simplified Light (Body)"/>
                  <a:cs typeface="Times New Roman" panose="02020603050405020304" pitchFamily="18" charset="0"/>
                </a:rPr>
                <a:t>heet</a:t>
              </a:r>
              <a:r>
                <a:rPr lang="en-GB" sz="1799" b="1" dirty="0">
                  <a:latin typeface="HP Simplified Light (Body)"/>
                  <a:cs typeface="Times New Roman" panose="02020603050405020304" pitchFamily="18" charset="0"/>
                </a:rPr>
                <a:t> name</a:t>
              </a:r>
              <a:r>
                <a:rPr lang="en-US" altLang="zh-TW" sz="1799" b="1" dirty="0">
                  <a:latin typeface="HP Simplified Light (Body)"/>
                  <a:cs typeface="Times New Roman" panose="02020603050405020304" pitchFamily="18" charset="0"/>
                </a:rPr>
                <a:t>: </a:t>
              </a:r>
              <a:r>
                <a:rPr lang="en-GB" altLang="zh-TW" sz="1799" dirty="0">
                  <a:solidFill>
                    <a:srgbClr val="FF0000"/>
                  </a:solidFill>
                  <a:latin typeface="HP Simplified Light (Body)"/>
                  <a:cs typeface="Times New Roman" panose="02020603050405020304" pitchFamily="18" charset="0"/>
                </a:rPr>
                <a:t>should be exactly named as “Master Data” </a:t>
              </a:r>
              <a:r>
                <a:rPr lang="en-GB" altLang="zh-TW" sz="1799" dirty="0">
                  <a:solidFill>
                    <a:schemeClr val="bg1">
                      <a:lumMod val="50000"/>
                    </a:schemeClr>
                  </a:solidFill>
                  <a:latin typeface="HP Simplified Light (Body)"/>
                  <a:cs typeface="Times New Roman" panose="02020603050405020304" pitchFamily="18" charset="0"/>
                </a:rPr>
                <a:t>(Master Data XXX is not allowed)</a:t>
              </a:r>
            </a:p>
            <a:p>
              <a:r>
                <a:rPr lang="en-GB" sz="1799" b="1" dirty="0">
                  <a:solidFill>
                    <a:srgbClr val="000000"/>
                  </a:solidFill>
                  <a:latin typeface="HP Simplified Light (Body)"/>
                  <a:cs typeface="Times New Roman" panose="02020603050405020304" pitchFamily="18" charset="0"/>
                </a:rPr>
                <a:t>Header: </a:t>
              </a:r>
              <a:r>
                <a:rPr lang="en-GB" altLang="zh-TW" sz="1799" dirty="0">
                  <a:solidFill>
                    <a:srgbClr val="FF0000"/>
                  </a:solidFill>
                  <a:latin typeface="HP Simplified Light (Body)"/>
                  <a:cs typeface="Times New Roman" panose="02020603050405020304" pitchFamily="18" charset="0"/>
                </a:rPr>
                <a:t>should be exactly named as ‘HP P/N’, ‘Description’, and “Current Price”</a:t>
              </a:r>
            </a:p>
            <a:p>
              <a:endParaRPr lang="en-GB" altLang="zh-TW" sz="17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GB" altLang="zh-TW" sz="17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GB" sz="1799" dirty="0">
                  <a:solidFill>
                    <a:srgbClr val="000000"/>
                  </a:solidFill>
                  <a:latin typeface="HP Simplified Light (Body)"/>
                  <a:cs typeface="Times New Roman" panose="02020603050405020304" pitchFamily="18" charset="0"/>
                </a:rPr>
                <a:t>Heading needs to be in Row #1</a:t>
              </a:r>
              <a:endParaRPr lang="en-GB" altLang="zh-TW" sz="1799" dirty="0">
                <a:solidFill>
                  <a:schemeClr val="bg1">
                    <a:lumMod val="50000"/>
                  </a:schemeClr>
                </a:solidFill>
                <a:latin typeface="HP Simplified Light (Body)"/>
                <a:cs typeface="Times New Roman" panose="02020603050405020304" pitchFamily="18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97F843E-141C-4933-9331-FB54D62CA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9231" y="4114355"/>
              <a:ext cx="9001125" cy="419100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519B17F-3E93-467D-A985-2D95C1979881}"/>
                </a:ext>
              </a:extLst>
            </p:cNvPr>
            <p:cNvSpPr/>
            <p:nvPr/>
          </p:nvSpPr>
          <p:spPr>
            <a:xfrm>
              <a:off x="847926" y="4314816"/>
              <a:ext cx="9001125" cy="218639"/>
            </a:xfrm>
            <a:prstGeom prst="rect">
              <a:avLst/>
            </a:prstGeom>
            <a:noFill/>
            <a:ln w="38100">
              <a:solidFill>
                <a:srgbClr val="0096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99">
                <a:latin typeface="HP Simplified Light (Body)"/>
              </a:endParaRPr>
            </a:p>
          </p:txBody>
        </p:sp>
      </p:grp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11499A5E-766F-43FE-83B8-CD273D7D63EB}"/>
              </a:ext>
            </a:extLst>
          </p:cNvPr>
          <p:cNvSpPr txBox="1">
            <a:spLocks/>
          </p:cNvSpPr>
          <p:nvPr/>
        </p:nvSpPr>
        <p:spPr>
          <a:xfrm>
            <a:off x="242017" y="1039230"/>
            <a:ext cx="5032505" cy="1513089"/>
          </a:xfrm>
          <a:prstGeom prst="rect">
            <a:avLst/>
          </a:prstGeom>
        </p:spPr>
        <p:txBody>
          <a:bodyPr vert="horz" lIns="91416" tIns="45708" rIns="91416" bIns="45708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zh-TW" sz="1999" b="1" dirty="0">
                <a:solidFill>
                  <a:schemeClr val="accent1"/>
                </a:solidFill>
                <a:latin typeface="HP Simplified Light (Body)"/>
                <a:cs typeface="Times New Roman" panose="02020603050405020304" pitchFamily="18" charset="0"/>
              </a:rPr>
              <a:t>2.      Run </a:t>
            </a:r>
            <a:r>
              <a:rPr lang="en-US" altLang="zh-TW" sz="1999" b="1" dirty="0">
                <a:solidFill>
                  <a:schemeClr val="accent1"/>
                </a:solidFill>
                <a:latin typeface="HP Simplified Light (Body)"/>
                <a:cs typeface="Times New Roman" panose="02020603050405020304" pitchFamily="18" charset="0"/>
              </a:rPr>
              <a:t>“Quote Validation”</a:t>
            </a:r>
            <a:endParaRPr lang="en-GB" altLang="zh-TW" sz="1999" b="1" dirty="0">
              <a:solidFill>
                <a:schemeClr val="accent1"/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14" name="前言">
            <a:extLst>
              <a:ext uri="{FF2B5EF4-FFF2-40B4-BE49-F238E27FC236}">
                <a16:creationId xmlns:a16="http://schemas.microsoft.com/office/drawing/2014/main" id="{0B6A88D8-939E-4E7A-A3F9-A5C3F6110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Restriction </a:t>
            </a:r>
            <a:endParaRPr lang="zh-TW" altLang="en-US" sz="3799" b="1" dirty="0">
              <a:latin typeface="HP Simplified Light (Body)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4311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0B10D-E771-43FD-9C66-9AAC78AA9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/>
              <a:t>31</a:t>
            </a:fld>
            <a:endParaRPr lang="zh-TW" altLang="en-US"/>
          </a:p>
        </p:txBody>
      </p:sp>
      <p:sp>
        <p:nvSpPr>
          <p:cNvPr id="6" name="前言">
            <a:extLst>
              <a:ext uri="{FF2B5EF4-FFF2-40B4-BE49-F238E27FC236}">
                <a16:creationId xmlns:a16="http://schemas.microsoft.com/office/drawing/2014/main" id="{DBD2F15E-EC33-4D3F-81DE-454CAC6FA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Restriction </a:t>
            </a:r>
            <a:endParaRPr lang="zh-TW" altLang="en-US" sz="3799" b="1" dirty="0">
              <a:latin typeface="HP Simplified Light (Body)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ABEBB7B-498B-4BA6-B338-3A4E0AB5E9CC}"/>
              </a:ext>
            </a:extLst>
          </p:cNvPr>
          <p:cNvSpPr txBox="1">
            <a:spLocks/>
          </p:cNvSpPr>
          <p:nvPr/>
        </p:nvSpPr>
        <p:spPr>
          <a:xfrm>
            <a:off x="242017" y="1039230"/>
            <a:ext cx="5032505" cy="1513089"/>
          </a:xfrm>
          <a:prstGeom prst="rect">
            <a:avLst/>
          </a:prstGeom>
        </p:spPr>
        <p:txBody>
          <a:bodyPr vert="horz" lIns="91416" tIns="45708" rIns="91416" bIns="45708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zh-TW" sz="1999" b="1" dirty="0">
                <a:solidFill>
                  <a:schemeClr val="accent1"/>
                </a:solidFill>
                <a:latin typeface="HP Simplified Light (Body)"/>
                <a:cs typeface="Times New Roman" panose="02020603050405020304" pitchFamily="18" charset="0"/>
              </a:rPr>
              <a:t>3.      </a:t>
            </a:r>
            <a:r>
              <a:rPr lang="en-US" altLang="zh-TW" sz="1999" b="1" dirty="0">
                <a:solidFill>
                  <a:schemeClr val="accent1"/>
                </a:solidFill>
                <a:latin typeface="HP Simplified Light (Body)"/>
                <a:cs typeface="Times New Roman" panose="02020603050405020304" pitchFamily="18" charset="0"/>
              </a:rPr>
              <a:t>Run “Quote Consolidation”</a:t>
            </a:r>
          </a:p>
          <a:p>
            <a:pPr marL="0" indent="0">
              <a:buNone/>
            </a:pPr>
            <a:endParaRPr lang="en-GB" altLang="zh-TW" sz="1999" b="1" dirty="0">
              <a:solidFill>
                <a:schemeClr val="accent1"/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E35E36-FFA4-4807-A1A7-04260577E0ED}"/>
              </a:ext>
            </a:extLst>
          </p:cNvPr>
          <p:cNvSpPr txBox="1"/>
          <p:nvPr/>
        </p:nvSpPr>
        <p:spPr>
          <a:xfrm>
            <a:off x="748171" y="1347802"/>
            <a:ext cx="12162608" cy="11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‘Change Log’</a:t>
            </a:r>
            <a:r>
              <a:rPr lang="zh-TW" altLang="en-US" sz="1799" b="1" dirty="0">
                <a:latin typeface="HP Simplified Light (Body)"/>
                <a:cs typeface="Times New Roman" panose="02020603050405020304" pitchFamily="18" charset="0"/>
              </a:rPr>
              <a:t> </a:t>
            </a:r>
            <a:endParaRPr lang="en-US" altLang="zh-TW" sz="1799" b="1" dirty="0">
              <a:latin typeface="HP Simplified Light (Body)"/>
              <a:cs typeface="Times New Roman" panose="02020603050405020304" pitchFamily="18" charset="0"/>
            </a:endParaRPr>
          </a:p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S</a:t>
            </a:r>
            <a:r>
              <a:rPr lang="en-GB" sz="1799" b="1" dirty="0" err="1">
                <a:latin typeface="HP Simplified Light (Body)"/>
                <a:cs typeface="Times New Roman" panose="02020603050405020304" pitchFamily="18" charset="0"/>
              </a:rPr>
              <a:t>heet</a:t>
            </a:r>
            <a:r>
              <a:rPr lang="en-GB" sz="1799" b="1" dirty="0">
                <a:latin typeface="HP Simplified Light (Body)"/>
                <a:cs typeface="Times New Roman" panose="02020603050405020304" pitchFamily="18" charset="0"/>
              </a:rPr>
              <a:t> name</a:t>
            </a:r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: 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should be exactly named as “Change Log” or “Change log”</a:t>
            </a:r>
            <a:r>
              <a:rPr lang="zh-TW" altLang="en-US" sz="1799" dirty="0">
                <a:latin typeface="HP Simplified Light (Body)"/>
                <a:cs typeface="Times New Roman" panose="02020603050405020304" pitchFamily="18" charset="0"/>
              </a:rPr>
              <a:t> </a:t>
            </a:r>
            <a:endParaRPr lang="en-GB" altLang="zh-TW" sz="1799" dirty="0">
              <a:solidFill>
                <a:schemeClr val="bg1">
                  <a:lumMod val="50000"/>
                </a:schemeClr>
              </a:solidFill>
              <a:latin typeface="HP Simplified Light (Body)"/>
              <a:cs typeface="Times New Roman" panose="02020603050405020304" pitchFamily="18" charset="0"/>
            </a:endParaRPr>
          </a:p>
          <a:p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Platform name &amp; ODM should be exactly at the same locations</a:t>
            </a:r>
          </a:p>
          <a:p>
            <a:endParaRPr lang="en-GB" sz="1799" b="1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F01F294-6C0C-45F2-B984-4D8B68E5A3D9}"/>
              </a:ext>
            </a:extLst>
          </p:cNvPr>
          <p:cNvCxnSpPr/>
          <p:nvPr/>
        </p:nvCxnSpPr>
        <p:spPr>
          <a:xfrm flipV="1">
            <a:off x="572865" y="3382538"/>
            <a:ext cx="10055781" cy="387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7CC343-CE29-441C-8E02-A6756AE7A1EF}"/>
              </a:ext>
            </a:extLst>
          </p:cNvPr>
          <p:cNvSpPr txBox="1"/>
          <p:nvPr/>
        </p:nvSpPr>
        <p:spPr>
          <a:xfrm>
            <a:off x="748171" y="3474912"/>
            <a:ext cx="12162608" cy="1476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‘AV Summary’</a:t>
            </a:r>
          </a:p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S</a:t>
            </a:r>
            <a:r>
              <a:rPr lang="en-GB" sz="1799" b="1" dirty="0" err="1">
                <a:latin typeface="HP Simplified Light (Body)"/>
                <a:cs typeface="Times New Roman" panose="02020603050405020304" pitchFamily="18" charset="0"/>
              </a:rPr>
              <a:t>heet</a:t>
            </a:r>
            <a:r>
              <a:rPr lang="en-GB" sz="1799" b="1" dirty="0">
                <a:latin typeface="HP Simplified Light (Body)"/>
                <a:cs typeface="Times New Roman" panose="02020603050405020304" pitchFamily="18" charset="0"/>
              </a:rPr>
              <a:t> name</a:t>
            </a:r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: 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should be exactly named as “</a:t>
            </a:r>
            <a:r>
              <a:rPr lang="en-US" altLang="zh-TW" sz="1799" dirty="0">
                <a:latin typeface="HP Simplified Light (Body)"/>
                <a:cs typeface="Times New Roman" panose="02020603050405020304" pitchFamily="18" charset="0"/>
              </a:rPr>
              <a:t>AV Summary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” or “</a:t>
            </a:r>
            <a:r>
              <a:rPr lang="en-US" altLang="zh-TW" sz="1799" dirty="0">
                <a:latin typeface="HP Simplified Light (Body)"/>
                <a:cs typeface="Times New Roman" panose="02020603050405020304" pitchFamily="18" charset="0"/>
              </a:rPr>
              <a:t>AV summary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”</a:t>
            </a:r>
            <a:endParaRPr lang="en-GB" altLang="zh-TW" sz="1799" dirty="0">
              <a:solidFill>
                <a:schemeClr val="bg1">
                  <a:lumMod val="50000"/>
                </a:schemeClr>
              </a:solidFill>
              <a:latin typeface="HP Simplified Light (Body)"/>
              <a:cs typeface="Times New Roman" panose="02020603050405020304" pitchFamily="18" charset="0"/>
            </a:endParaRPr>
          </a:p>
          <a:p>
            <a:r>
              <a:rPr lang="en-GB" sz="1799" b="1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Header: </a:t>
            </a:r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no </a:t>
            </a:r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needs to be exactly at the same locations, </a:t>
            </a:r>
          </a:p>
          <a:p>
            <a:r>
              <a:rPr lang="en-GB" altLang="zh-TW" sz="1799" dirty="0">
                <a:solidFill>
                  <a:srgbClr val="FF0000"/>
                </a:solidFill>
                <a:latin typeface="HP Simplified Light (Body)"/>
                <a:cs typeface="Times New Roman" panose="02020603050405020304" pitchFamily="18" charset="0"/>
              </a:rPr>
              <a:t>but the header name should exactly be named as ‘AV', 'Description’ and contain ‘</a:t>
            </a:r>
            <a:r>
              <a:rPr lang="en-US" altLang="zh-TW" sz="1799" dirty="0">
                <a:solidFill>
                  <a:srgbClr val="FF0000"/>
                </a:solidFill>
                <a:latin typeface="HP Simplified Light (Body)"/>
                <a:cs typeface="Times New Roman" panose="02020603050405020304" pitchFamily="18" charset="0"/>
              </a:rPr>
              <a:t>Current</a:t>
            </a:r>
            <a:r>
              <a:rPr lang="en-GB" altLang="zh-TW" sz="1799" dirty="0">
                <a:solidFill>
                  <a:srgbClr val="FF0000"/>
                </a:solidFill>
                <a:latin typeface="HP Simplified Light (Body)"/>
                <a:cs typeface="Times New Roman" panose="02020603050405020304" pitchFamily="18" charset="0"/>
              </a:rPr>
              <a:t>’ or ‘Effective’</a:t>
            </a:r>
          </a:p>
          <a:p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Heading needs to be in Row #1</a:t>
            </a:r>
            <a:endParaRPr lang="en-GB" altLang="zh-TW" sz="1799" dirty="0">
              <a:solidFill>
                <a:schemeClr val="bg1">
                  <a:lumMod val="50000"/>
                </a:schemeClr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5810AFD-5A00-42DC-A7EB-D376A1F2B601}"/>
              </a:ext>
            </a:extLst>
          </p:cNvPr>
          <p:cNvCxnSpPr/>
          <p:nvPr/>
        </p:nvCxnSpPr>
        <p:spPr>
          <a:xfrm flipV="1">
            <a:off x="572864" y="4951598"/>
            <a:ext cx="10055781" cy="387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E008F7D-D780-48CE-9DAF-35F4C5B4C206}"/>
              </a:ext>
            </a:extLst>
          </p:cNvPr>
          <p:cNvSpPr txBox="1"/>
          <p:nvPr/>
        </p:nvSpPr>
        <p:spPr>
          <a:xfrm>
            <a:off x="748171" y="5043972"/>
            <a:ext cx="12162608" cy="1476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‘SKU Summary’</a:t>
            </a:r>
          </a:p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S</a:t>
            </a:r>
            <a:r>
              <a:rPr lang="en-GB" sz="1799" b="1" dirty="0" err="1">
                <a:latin typeface="HP Simplified Light (Body)"/>
                <a:cs typeface="Times New Roman" panose="02020603050405020304" pitchFamily="18" charset="0"/>
              </a:rPr>
              <a:t>heet</a:t>
            </a:r>
            <a:r>
              <a:rPr lang="en-GB" sz="1799" b="1" dirty="0">
                <a:latin typeface="HP Simplified Light (Body)"/>
                <a:cs typeface="Times New Roman" panose="02020603050405020304" pitchFamily="18" charset="0"/>
              </a:rPr>
              <a:t> name</a:t>
            </a:r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: 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should be exactly named as “</a:t>
            </a:r>
            <a:r>
              <a:rPr lang="en-US" altLang="zh-TW" sz="1799" dirty="0">
                <a:latin typeface="HP Simplified Light (Body)"/>
                <a:cs typeface="Times New Roman" panose="02020603050405020304" pitchFamily="18" charset="0"/>
              </a:rPr>
              <a:t>SKU Summary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” or “</a:t>
            </a:r>
            <a:r>
              <a:rPr lang="en-US" altLang="zh-TW" sz="1799" dirty="0">
                <a:latin typeface="HP Simplified Light (Body)"/>
                <a:cs typeface="Times New Roman" panose="02020603050405020304" pitchFamily="18" charset="0"/>
              </a:rPr>
              <a:t>SKU summary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”</a:t>
            </a:r>
          </a:p>
          <a:p>
            <a:r>
              <a:rPr lang="en-GB" sz="1799" b="1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Header: </a:t>
            </a:r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no </a:t>
            </a:r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needs to be exactly at the same locations, </a:t>
            </a:r>
          </a:p>
          <a:p>
            <a:r>
              <a:rPr lang="en-GB" altLang="zh-TW" sz="1799" dirty="0">
                <a:solidFill>
                  <a:srgbClr val="FF0000"/>
                </a:solidFill>
                <a:latin typeface="HP Simplified Light (Body)"/>
                <a:cs typeface="Times New Roman" panose="02020603050405020304" pitchFamily="18" charset="0"/>
              </a:rPr>
              <a:t>but the header name should exactly be named as 'SKU', 'Description’ and contain ‘</a:t>
            </a:r>
            <a:r>
              <a:rPr lang="en-US" altLang="zh-TW" sz="1799" dirty="0">
                <a:solidFill>
                  <a:srgbClr val="FF0000"/>
                </a:solidFill>
                <a:latin typeface="HP Simplified Light (Body)"/>
                <a:cs typeface="Times New Roman" panose="02020603050405020304" pitchFamily="18" charset="0"/>
              </a:rPr>
              <a:t>Current</a:t>
            </a:r>
            <a:r>
              <a:rPr lang="en-GB" altLang="zh-TW" sz="1799" dirty="0">
                <a:solidFill>
                  <a:srgbClr val="FF0000"/>
                </a:solidFill>
                <a:latin typeface="HP Simplified Light (Body)"/>
                <a:cs typeface="Times New Roman" panose="02020603050405020304" pitchFamily="18" charset="0"/>
              </a:rPr>
              <a:t>’ or ‘Effective’</a:t>
            </a:r>
          </a:p>
          <a:p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Heading needs to be in Row #1</a:t>
            </a:r>
            <a:endParaRPr lang="en-GB" altLang="zh-TW" sz="1799" dirty="0">
              <a:solidFill>
                <a:schemeClr val="bg1">
                  <a:lumMod val="50000"/>
                </a:schemeClr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2F5C24-FCCF-452A-840A-BC5A8CCC5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231" y="2371470"/>
            <a:ext cx="562927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4941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0B10D-E771-43FD-9C66-9AAC78AA9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/>
              <a:t>32</a:t>
            </a:fld>
            <a:endParaRPr lang="zh-TW" altLang="en-US"/>
          </a:p>
        </p:txBody>
      </p:sp>
      <p:sp>
        <p:nvSpPr>
          <p:cNvPr id="6" name="前言">
            <a:extLst>
              <a:ext uri="{FF2B5EF4-FFF2-40B4-BE49-F238E27FC236}">
                <a16:creationId xmlns:a16="http://schemas.microsoft.com/office/drawing/2014/main" id="{DBD2F15E-EC33-4D3F-81DE-454CAC6FA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Restriction </a:t>
            </a:r>
            <a:endParaRPr lang="zh-TW" altLang="en-US" sz="3799" b="1" dirty="0">
              <a:latin typeface="HP Simplified Light (Body)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ABEBB7B-498B-4BA6-B338-3A4E0AB5E9CC}"/>
              </a:ext>
            </a:extLst>
          </p:cNvPr>
          <p:cNvSpPr txBox="1">
            <a:spLocks/>
          </p:cNvSpPr>
          <p:nvPr/>
        </p:nvSpPr>
        <p:spPr>
          <a:xfrm>
            <a:off x="242017" y="1039230"/>
            <a:ext cx="5032505" cy="1513089"/>
          </a:xfrm>
          <a:prstGeom prst="rect">
            <a:avLst/>
          </a:prstGeom>
        </p:spPr>
        <p:txBody>
          <a:bodyPr vert="horz" lIns="91416" tIns="45708" rIns="91416" bIns="45708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zh-TW" sz="1999" b="1" dirty="0">
                <a:solidFill>
                  <a:schemeClr val="accent1"/>
                </a:solidFill>
                <a:latin typeface="HP Simplified Light (Body)"/>
                <a:cs typeface="Times New Roman" panose="02020603050405020304" pitchFamily="18" charset="0"/>
              </a:rPr>
              <a:t>4.      </a:t>
            </a:r>
            <a:r>
              <a:rPr lang="en-US" altLang="zh-TW" sz="1999" b="1" dirty="0">
                <a:solidFill>
                  <a:schemeClr val="accent1"/>
                </a:solidFill>
                <a:latin typeface="HP Simplified Light (Body)"/>
                <a:cs typeface="Times New Roman" panose="02020603050405020304" pitchFamily="18" charset="0"/>
              </a:rPr>
              <a:t>Run “TW Quote Consolidation”</a:t>
            </a:r>
          </a:p>
          <a:p>
            <a:pPr marL="0" indent="0">
              <a:buNone/>
            </a:pPr>
            <a:endParaRPr lang="en-GB" altLang="zh-TW" sz="1999" b="1" dirty="0">
              <a:solidFill>
                <a:schemeClr val="accent1"/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7CC343-CE29-441C-8E02-A6756AE7A1EF}"/>
              </a:ext>
            </a:extLst>
          </p:cNvPr>
          <p:cNvSpPr txBox="1"/>
          <p:nvPr/>
        </p:nvSpPr>
        <p:spPr>
          <a:xfrm>
            <a:off x="771722" y="1389616"/>
            <a:ext cx="12162608" cy="11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‘Summary’</a:t>
            </a:r>
          </a:p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S</a:t>
            </a:r>
            <a:r>
              <a:rPr lang="en-GB" sz="1799" b="1" dirty="0" err="1">
                <a:latin typeface="HP Simplified Light (Body)"/>
                <a:cs typeface="Times New Roman" panose="02020603050405020304" pitchFamily="18" charset="0"/>
              </a:rPr>
              <a:t>heet</a:t>
            </a:r>
            <a:r>
              <a:rPr lang="en-GB" sz="1799" b="1" dirty="0">
                <a:latin typeface="HP Simplified Light (Body)"/>
                <a:cs typeface="Times New Roman" panose="02020603050405020304" pitchFamily="18" charset="0"/>
              </a:rPr>
              <a:t> name</a:t>
            </a:r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: </a:t>
            </a:r>
            <a:r>
              <a:rPr lang="en-GB" altLang="zh-TW" sz="1799" dirty="0">
                <a:solidFill>
                  <a:srgbClr val="C00000"/>
                </a:solidFill>
                <a:latin typeface="HP Simplified Light (Body)"/>
                <a:cs typeface="Times New Roman" panose="02020603050405020304" pitchFamily="18" charset="0"/>
              </a:rPr>
              <a:t>should be exactly named as “</a:t>
            </a:r>
            <a:r>
              <a:rPr lang="en-US" altLang="zh-TW" sz="1799" dirty="0">
                <a:solidFill>
                  <a:srgbClr val="C00000"/>
                </a:solidFill>
                <a:latin typeface="HP Simplified Light (Body)"/>
                <a:cs typeface="Times New Roman" panose="02020603050405020304" pitchFamily="18" charset="0"/>
              </a:rPr>
              <a:t>Summary</a:t>
            </a:r>
            <a:r>
              <a:rPr lang="en-GB" altLang="zh-TW" sz="1799" dirty="0">
                <a:solidFill>
                  <a:srgbClr val="C00000"/>
                </a:solidFill>
                <a:latin typeface="HP Simplified Light (Body)"/>
                <a:cs typeface="Times New Roman" panose="02020603050405020304" pitchFamily="18" charset="0"/>
              </a:rPr>
              <a:t>” </a:t>
            </a:r>
          </a:p>
          <a:p>
            <a:r>
              <a:rPr lang="en-GB" sz="1799" b="1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Header: </a:t>
            </a:r>
            <a:r>
              <a:rPr lang="en-GB" altLang="zh-TW" sz="1799" dirty="0">
                <a:solidFill>
                  <a:srgbClr val="C00000"/>
                </a:solidFill>
                <a:latin typeface="HP Simplified Light (Body)"/>
                <a:cs typeface="Times New Roman" panose="02020603050405020304" pitchFamily="18" charset="0"/>
              </a:rPr>
              <a:t>needs to be exactly at the same locations </a:t>
            </a:r>
          </a:p>
          <a:p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Heading needs to be in Row #1</a:t>
            </a:r>
            <a:endParaRPr lang="en-GB" altLang="zh-TW" sz="1799" dirty="0">
              <a:solidFill>
                <a:schemeClr val="bg1">
                  <a:lumMod val="50000"/>
                </a:schemeClr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5810AFD-5A00-42DC-A7EB-D376A1F2B601}"/>
              </a:ext>
            </a:extLst>
          </p:cNvPr>
          <p:cNvCxnSpPr/>
          <p:nvPr/>
        </p:nvCxnSpPr>
        <p:spPr>
          <a:xfrm flipV="1">
            <a:off x="771722" y="4368565"/>
            <a:ext cx="10055781" cy="387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E008F7D-D780-48CE-9DAF-35F4C5B4C206}"/>
              </a:ext>
            </a:extLst>
          </p:cNvPr>
          <p:cNvSpPr txBox="1"/>
          <p:nvPr/>
        </p:nvSpPr>
        <p:spPr>
          <a:xfrm>
            <a:off x="859231" y="4423475"/>
            <a:ext cx="12162608" cy="11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‘SKU’</a:t>
            </a:r>
          </a:p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S</a:t>
            </a:r>
            <a:r>
              <a:rPr lang="en-GB" sz="1799" b="1" dirty="0" err="1">
                <a:latin typeface="HP Simplified Light (Body)"/>
                <a:cs typeface="Times New Roman" panose="02020603050405020304" pitchFamily="18" charset="0"/>
              </a:rPr>
              <a:t>heet</a:t>
            </a:r>
            <a:r>
              <a:rPr lang="en-GB" sz="1799" b="1" dirty="0">
                <a:latin typeface="HP Simplified Light (Body)"/>
                <a:cs typeface="Times New Roman" panose="02020603050405020304" pitchFamily="18" charset="0"/>
              </a:rPr>
              <a:t> name</a:t>
            </a:r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: 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should be exactly named as “</a:t>
            </a:r>
            <a:r>
              <a:rPr lang="en-US" altLang="zh-TW" sz="1799" dirty="0">
                <a:latin typeface="HP Simplified Light (Body)"/>
                <a:cs typeface="Times New Roman" panose="02020603050405020304" pitchFamily="18" charset="0"/>
              </a:rPr>
              <a:t>SKU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” </a:t>
            </a:r>
          </a:p>
          <a:p>
            <a:r>
              <a:rPr lang="en-GB" sz="1799" b="1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Header: </a:t>
            </a:r>
            <a:r>
              <a:rPr lang="en-GB" altLang="zh-TW" sz="1799" dirty="0">
                <a:solidFill>
                  <a:srgbClr val="C00000"/>
                </a:solidFill>
                <a:latin typeface="HP Simplified Light (Body)"/>
                <a:cs typeface="Times New Roman" panose="02020603050405020304" pitchFamily="18" charset="0"/>
              </a:rPr>
              <a:t>needs to be exactly at the same locations </a:t>
            </a:r>
          </a:p>
          <a:p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Heading needs to be in Row #1</a:t>
            </a:r>
            <a:endParaRPr lang="en-GB" altLang="zh-TW" sz="1799" dirty="0">
              <a:solidFill>
                <a:schemeClr val="bg1">
                  <a:lumMod val="50000"/>
                </a:schemeClr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6AD750-1975-4B2C-96BE-BF0D6D131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871" y="2732306"/>
            <a:ext cx="7899301" cy="151273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C0D4A9C-BF1A-4253-8090-2A05A8DACDAA}"/>
              </a:ext>
            </a:extLst>
          </p:cNvPr>
          <p:cNvSpPr/>
          <p:nvPr/>
        </p:nvSpPr>
        <p:spPr>
          <a:xfrm>
            <a:off x="1786855" y="2710086"/>
            <a:ext cx="713064" cy="311797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7AAE95-0AFC-4AC6-B123-010CD7EF80B1}"/>
              </a:ext>
            </a:extLst>
          </p:cNvPr>
          <p:cNvSpPr/>
          <p:nvPr/>
        </p:nvSpPr>
        <p:spPr>
          <a:xfrm>
            <a:off x="3180825" y="2732306"/>
            <a:ext cx="1995181" cy="304509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FB301D-D9B4-477B-8E13-A1BC0A33695A}"/>
              </a:ext>
            </a:extLst>
          </p:cNvPr>
          <p:cNvSpPr/>
          <p:nvPr/>
        </p:nvSpPr>
        <p:spPr>
          <a:xfrm>
            <a:off x="7418664" y="2704115"/>
            <a:ext cx="483765" cy="304509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0897C9-B3F5-4AFA-80D6-61C02FE5200C}"/>
              </a:ext>
            </a:extLst>
          </p:cNvPr>
          <p:cNvSpPr/>
          <p:nvPr/>
        </p:nvSpPr>
        <p:spPr>
          <a:xfrm>
            <a:off x="8636218" y="2713757"/>
            <a:ext cx="587954" cy="304509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6497438-1A3B-4275-8C2B-DEEDEFF71B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61" b="55581"/>
          <a:stretch/>
        </p:blipFill>
        <p:spPr bwMode="auto">
          <a:xfrm>
            <a:off x="6206965" y="4852904"/>
            <a:ext cx="3486212" cy="138840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692EF0E-4742-4A9D-AF01-73985AFD79A2}"/>
              </a:ext>
            </a:extLst>
          </p:cNvPr>
          <p:cNvSpPr/>
          <p:nvPr/>
        </p:nvSpPr>
        <p:spPr>
          <a:xfrm>
            <a:off x="6946603" y="4824752"/>
            <a:ext cx="2746573" cy="233810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</p:spTree>
    <p:extLst>
      <p:ext uri="{BB962C8B-B14F-4D97-AF65-F5344CB8AC3E}">
        <p14:creationId xmlns:p14="http://schemas.microsoft.com/office/powerpoint/2010/main" val="2426953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963CBA8-C24A-45B4-9BFC-73B14BE36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03" y="5140527"/>
            <a:ext cx="8391525" cy="533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DA83D-77C7-415E-84F6-AD453EB58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>
                <a:latin typeface="HP Simplified Light (Body)"/>
              </a:rPr>
              <a:t>33</a:t>
            </a:fld>
            <a:endParaRPr lang="zh-TW" altLang="en-US">
              <a:latin typeface="HP Simplified Light (Body)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2F615B7A-4929-48A7-AFF6-252FC4835A1E}"/>
              </a:ext>
            </a:extLst>
          </p:cNvPr>
          <p:cNvSpPr txBox="1">
            <a:spLocks/>
          </p:cNvSpPr>
          <p:nvPr/>
        </p:nvSpPr>
        <p:spPr>
          <a:xfrm>
            <a:off x="242017" y="1039230"/>
            <a:ext cx="5032505" cy="1513089"/>
          </a:xfrm>
          <a:prstGeom prst="rect">
            <a:avLst/>
          </a:prstGeom>
        </p:spPr>
        <p:txBody>
          <a:bodyPr vert="horz" lIns="91416" tIns="45708" rIns="91416" bIns="45708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zh-TW" sz="1999" b="1" dirty="0">
                <a:solidFill>
                  <a:schemeClr val="accent1"/>
                </a:solidFill>
                <a:latin typeface="HP Simplified Light (Body)"/>
                <a:cs typeface="Times New Roman" panose="02020603050405020304" pitchFamily="18" charset="0"/>
              </a:rPr>
              <a:t>5</a:t>
            </a:r>
            <a:r>
              <a:rPr lang="en-GB" altLang="zh-TW" sz="1999" b="1">
                <a:solidFill>
                  <a:schemeClr val="accent1"/>
                </a:solidFill>
                <a:latin typeface="HP Simplified Light (Body)"/>
                <a:cs typeface="Times New Roman" panose="02020603050405020304" pitchFamily="18" charset="0"/>
              </a:rPr>
              <a:t>.      </a:t>
            </a:r>
            <a:r>
              <a:rPr lang="en-GB" altLang="zh-TW" sz="1999" b="1" dirty="0">
                <a:solidFill>
                  <a:schemeClr val="accent1"/>
                </a:solidFill>
                <a:latin typeface="HP Simplified Light (Body)"/>
                <a:cs typeface="Times New Roman" panose="02020603050405020304" pitchFamily="18" charset="0"/>
              </a:rPr>
              <a:t>Run “</a:t>
            </a:r>
            <a:r>
              <a:rPr lang="en-US" altLang="zh-TW" sz="1999" b="1" dirty="0">
                <a:solidFill>
                  <a:schemeClr val="accent1"/>
                </a:solidFill>
                <a:latin typeface="HP Simplified Light (Body)"/>
                <a:cs typeface="Times New Roman" panose="02020603050405020304" pitchFamily="18" charset="0"/>
              </a:rPr>
              <a:t>CPCT Consolidation”</a:t>
            </a:r>
            <a:endParaRPr lang="en-GB" altLang="zh-TW" sz="1999" b="1" dirty="0">
              <a:solidFill>
                <a:schemeClr val="accent1"/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10" name="前言">
            <a:extLst>
              <a:ext uri="{FF2B5EF4-FFF2-40B4-BE49-F238E27FC236}">
                <a16:creationId xmlns:a16="http://schemas.microsoft.com/office/drawing/2014/main" id="{065FF6CB-03FE-4D7C-92CD-B720A6A0A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Restriction </a:t>
            </a:r>
            <a:endParaRPr lang="zh-TW" altLang="en-US" sz="3799" b="1" dirty="0">
              <a:latin typeface="HP Simplified Light (Body)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30A111-881B-41B6-8B4B-A2FA69A2D3C2}"/>
              </a:ext>
            </a:extLst>
          </p:cNvPr>
          <p:cNvSpPr txBox="1"/>
          <p:nvPr/>
        </p:nvSpPr>
        <p:spPr>
          <a:xfrm>
            <a:off x="800003" y="3620815"/>
            <a:ext cx="10497940" cy="2584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‘CPCT’ -“</a:t>
            </a:r>
            <a:r>
              <a:rPr lang="en-US" altLang="zh-TW" sz="1799" b="1" dirty="0" err="1">
                <a:latin typeface="HP Simplified Light (Body)"/>
                <a:cs typeface="Times New Roman" panose="02020603050405020304" pitchFamily="18" charset="0"/>
              </a:rPr>
              <a:t>OptionSA_SUM</a:t>
            </a:r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” ” </a:t>
            </a:r>
            <a:r>
              <a:rPr lang="zh-TW" altLang="en-US" sz="1799" b="1" dirty="0">
                <a:latin typeface="HP Simplified Light (Body)"/>
                <a:cs typeface="Times New Roman" panose="02020603050405020304" pitchFamily="18" charset="0"/>
              </a:rPr>
              <a:t> </a:t>
            </a:r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(not required)</a:t>
            </a:r>
          </a:p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S</a:t>
            </a:r>
            <a:r>
              <a:rPr lang="en-GB" sz="1799" b="1" dirty="0" err="1">
                <a:latin typeface="HP Simplified Light (Body)"/>
                <a:cs typeface="Times New Roman" panose="02020603050405020304" pitchFamily="18" charset="0"/>
              </a:rPr>
              <a:t>heet</a:t>
            </a:r>
            <a:r>
              <a:rPr lang="en-GB" sz="1799" b="1" dirty="0">
                <a:latin typeface="HP Simplified Light (Body)"/>
                <a:cs typeface="Times New Roman" panose="02020603050405020304" pitchFamily="18" charset="0"/>
              </a:rPr>
              <a:t> name</a:t>
            </a:r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: 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should contain “</a:t>
            </a:r>
            <a:r>
              <a:rPr lang="en-US" altLang="zh-TW" sz="1799" dirty="0" err="1">
                <a:latin typeface="HP Simplified Light (Body)"/>
                <a:cs typeface="Times New Roman" panose="02020603050405020304" pitchFamily="18" charset="0"/>
              </a:rPr>
              <a:t>OptionSA_SUM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” </a:t>
            </a:r>
            <a:r>
              <a:rPr lang="en-GB" altLang="zh-TW" sz="1799" dirty="0">
                <a:solidFill>
                  <a:schemeClr val="bg1">
                    <a:lumMod val="50000"/>
                  </a:schemeClr>
                </a:solidFill>
                <a:latin typeface="HP Simplified Light (Body)"/>
                <a:cs typeface="Times New Roman" panose="02020603050405020304" pitchFamily="18" charset="0"/>
              </a:rPr>
              <a:t>(</a:t>
            </a:r>
            <a:r>
              <a:rPr lang="en-GB" altLang="zh-TW" sz="1799" dirty="0" err="1">
                <a:solidFill>
                  <a:schemeClr val="bg1">
                    <a:lumMod val="50000"/>
                  </a:schemeClr>
                </a:solidFill>
                <a:latin typeface="HP Simplified Light (Body)"/>
                <a:cs typeface="Times New Roman" panose="02020603050405020304" pitchFamily="18" charset="0"/>
              </a:rPr>
              <a:t>OptionSA_SUM</a:t>
            </a:r>
            <a:r>
              <a:rPr lang="en-GB" altLang="zh-TW" sz="1799" dirty="0">
                <a:solidFill>
                  <a:schemeClr val="bg1">
                    <a:lumMod val="50000"/>
                  </a:schemeClr>
                </a:solidFill>
                <a:latin typeface="HP Simplified Light (Body)"/>
                <a:cs typeface="Times New Roman" panose="02020603050405020304" pitchFamily="18" charset="0"/>
              </a:rPr>
              <a:t> XXX is fine)</a:t>
            </a:r>
          </a:p>
          <a:p>
            <a:r>
              <a:rPr lang="en-GB" sz="1799" b="1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Header: </a:t>
            </a:r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: 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should be exactly named as ‘</a:t>
            </a:r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SA </a:t>
            </a:r>
            <a:r>
              <a:rPr lang="en-GB" altLang="zh-TW" sz="1799" dirty="0" err="1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PartNumber</a:t>
            </a:r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', 'SA Description’ and ‘Total Cost’</a:t>
            </a: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Heading needs to be in Row #1</a:t>
            </a:r>
            <a:endParaRPr lang="en-GB" altLang="zh-TW" sz="1799" dirty="0">
              <a:solidFill>
                <a:schemeClr val="bg1">
                  <a:lumMod val="50000"/>
                </a:schemeClr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B21F2E-7C93-4258-9388-83BA124A6B22}"/>
              </a:ext>
            </a:extLst>
          </p:cNvPr>
          <p:cNvCxnSpPr/>
          <p:nvPr/>
        </p:nvCxnSpPr>
        <p:spPr>
          <a:xfrm flipV="1">
            <a:off x="590972" y="3465444"/>
            <a:ext cx="10055781" cy="387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3BA5626-73CE-4F11-A996-D22175C0D588}"/>
              </a:ext>
            </a:extLst>
          </p:cNvPr>
          <p:cNvSpPr/>
          <p:nvPr/>
        </p:nvSpPr>
        <p:spPr>
          <a:xfrm>
            <a:off x="780304" y="5106918"/>
            <a:ext cx="6870455" cy="567009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9E4106-8544-4499-AB5D-0827996536F9}"/>
              </a:ext>
            </a:extLst>
          </p:cNvPr>
          <p:cNvSpPr txBox="1"/>
          <p:nvPr/>
        </p:nvSpPr>
        <p:spPr>
          <a:xfrm>
            <a:off x="800003" y="1382479"/>
            <a:ext cx="11888787" cy="20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‘CPCT’ -“BU SA” </a:t>
            </a:r>
          </a:p>
          <a:p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S</a:t>
            </a:r>
            <a:r>
              <a:rPr lang="en-GB" sz="1799" b="1" dirty="0" err="1">
                <a:latin typeface="HP Simplified Light (Body)"/>
                <a:cs typeface="Times New Roman" panose="02020603050405020304" pitchFamily="18" charset="0"/>
              </a:rPr>
              <a:t>heet</a:t>
            </a:r>
            <a:r>
              <a:rPr lang="en-GB" sz="1799" b="1" dirty="0">
                <a:latin typeface="HP Simplified Light (Body)"/>
                <a:cs typeface="Times New Roman" panose="02020603050405020304" pitchFamily="18" charset="0"/>
              </a:rPr>
              <a:t> name</a:t>
            </a:r>
            <a:r>
              <a:rPr lang="en-US" altLang="zh-TW" sz="1799" b="1" dirty="0">
                <a:latin typeface="HP Simplified Light (Body)"/>
                <a:cs typeface="Times New Roman" panose="02020603050405020304" pitchFamily="18" charset="0"/>
              </a:rPr>
              <a:t>: 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should contain “</a:t>
            </a:r>
            <a:r>
              <a:rPr lang="en-US" altLang="zh-TW" sz="1799" dirty="0">
                <a:latin typeface="HP Simplified Light (Body)"/>
                <a:cs typeface="Times New Roman" panose="02020603050405020304" pitchFamily="18" charset="0"/>
              </a:rPr>
              <a:t>BUSA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” or “BU SA” </a:t>
            </a:r>
            <a:r>
              <a:rPr lang="en-GB" altLang="zh-TW" sz="1799" dirty="0">
                <a:solidFill>
                  <a:schemeClr val="bg1">
                    <a:lumMod val="50000"/>
                  </a:schemeClr>
                </a:solidFill>
                <a:latin typeface="HP Simplified Light (Body)"/>
                <a:cs typeface="Times New Roman" panose="02020603050405020304" pitchFamily="18" charset="0"/>
              </a:rPr>
              <a:t>(BU SA XXX is fine)</a:t>
            </a:r>
          </a:p>
          <a:p>
            <a:r>
              <a:rPr lang="en-GB" sz="1799" b="1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Header: </a:t>
            </a:r>
            <a:r>
              <a:rPr lang="en-GB" altLang="zh-TW" sz="1799" dirty="0">
                <a:latin typeface="HP Simplified Light (Body)"/>
                <a:cs typeface="Times New Roman" panose="02020603050405020304" pitchFamily="18" charset="0"/>
              </a:rPr>
              <a:t>should be exactly named as </a:t>
            </a:r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'Description', 'Total Base Unit Cost excluded B/S’ and contain “HP” or “SA”</a:t>
            </a:r>
          </a:p>
          <a:p>
            <a:r>
              <a:rPr lang="en-GB" altLang="zh-TW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(HP XXX is fine)</a:t>
            </a: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endParaRPr lang="en-GB" altLang="zh-TW" sz="1799" dirty="0">
              <a:solidFill>
                <a:srgbClr val="000000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r>
              <a:rPr lang="en-GB" sz="1799" dirty="0">
                <a:solidFill>
                  <a:srgbClr val="000000"/>
                </a:solidFill>
                <a:latin typeface="HP Simplified Light (Body)"/>
                <a:cs typeface="Times New Roman" panose="02020603050405020304" pitchFamily="18" charset="0"/>
              </a:rPr>
              <a:t>Heading needs to be in Row #1</a:t>
            </a:r>
            <a:endParaRPr lang="en-GB" altLang="zh-TW" sz="1799" dirty="0">
              <a:solidFill>
                <a:schemeClr val="bg1">
                  <a:lumMod val="50000"/>
                </a:schemeClr>
              </a:solidFill>
              <a:latin typeface="HP Simplified Light (Body)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BB934C6-991C-4CF9-B3B1-4C1D6121A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776" y="2540155"/>
            <a:ext cx="4714875" cy="55245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7317AFF-9D2E-4E42-9A0A-72277D99AFD1}"/>
              </a:ext>
            </a:extLst>
          </p:cNvPr>
          <p:cNvSpPr/>
          <p:nvPr/>
        </p:nvSpPr>
        <p:spPr>
          <a:xfrm>
            <a:off x="1260574" y="2532876"/>
            <a:ext cx="3522466" cy="567008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</p:spTree>
    <p:extLst>
      <p:ext uri="{BB962C8B-B14F-4D97-AF65-F5344CB8AC3E}">
        <p14:creationId xmlns:p14="http://schemas.microsoft.com/office/powerpoint/2010/main" val="4236410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C737863-F1EA-4E37-B97D-D9F690C38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9116" y="707870"/>
            <a:ext cx="2442600" cy="812588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359F848-A4BE-41F2-8A85-B876E588E5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89117" y="1934043"/>
            <a:ext cx="5001760" cy="2123658"/>
          </a:xfrm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Quote Tool Introduction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Quote Tool Instruction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Limitation and Restriction of Tool</a:t>
            </a:r>
          </a:p>
          <a:p>
            <a:r>
              <a:rPr lang="en-US" dirty="0"/>
              <a:t>Quote Tool installation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630D4-A336-42D2-BA35-577AA5024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8" name="Picture Placeholder 7" descr="A picture containing person, appliance&#10;&#10;Description automatically generated">
            <a:extLst>
              <a:ext uri="{FF2B5EF4-FFF2-40B4-BE49-F238E27FC236}">
                <a16:creationId xmlns:a16="http://schemas.microsoft.com/office/drawing/2014/main" id="{4C3F8C36-3AC6-41D1-A7B5-14D94121A8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" r="440"/>
          <a:stretch>
            <a:fillRect/>
          </a:stretch>
        </p:blipFill>
        <p:spPr bwMode="gray">
          <a:xfrm>
            <a:off x="561874" y="297923"/>
            <a:ext cx="5552695" cy="62484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940212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205C0-A8C0-4584-BF41-C7891BD8F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/>
              <a:t>35</a:t>
            </a:fld>
            <a:endParaRPr lang="zh-TW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6A534F-4EEB-4535-80F9-BBFE1FEEBFB9}"/>
              </a:ext>
            </a:extLst>
          </p:cNvPr>
          <p:cNvSpPr txBox="1"/>
          <p:nvPr/>
        </p:nvSpPr>
        <p:spPr>
          <a:xfrm>
            <a:off x="1393376" y="1020719"/>
            <a:ext cx="6096756" cy="369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799" dirty="0">
                <a:latin typeface="HP Simplified Light (Body)"/>
              </a:rPr>
              <a:t>https://www.python.org/downloads/</a:t>
            </a:r>
          </a:p>
        </p:txBody>
      </p:sp>
      <p:sp>
        <p:nvSpPr>
          <p:cNvPr id="9" name="前言">
            <a:extLst>
              <a:ext uri="{FF2B5EF4-FFF2-40B4-BE49-F238E27FC236}">
                <a16:creationId xmlns:a16="http://schemas.microsoft.com/office/drawing/2014/main" id="{DDA06662-7040-461C-8826-94E47B37D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Quote Tool installation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752FE7-DB3C-4DD0-AF14-213710A2BFEB}"/>
              </a:ext>
            </a:extLst>
          </p:cNvPr>
          <p:cNvSpPr txBox="1"/>
          <p:nvPr/>
        </p:nvSpPr>
        <p:spPr>
          <a:xfrm>
            <a:off x="1759041" y="1440289"/>
            <a:ext cx="6096756" cy="369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799" dirty="0">
                <a:solidFill>
                  <a:srgbClr val="0096D6"/>
                </a:solidFill>
                <a:latin typeface="HP Simplified Light (Body)"/>
              </a:rPr>
              <a:t>Click Download button</a:t>
            </a:r>
            <a:endParaRPr lang="en-GB" sz="1799" dirty="0">
              <a:solidFill>
                <a:srgbClr val="0096D6"/>
              </a:solidFill>
              <a:latin typeface="HP Simplified Light (Body)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B1D124-C563-47BF-B270-7FEAB914FF4B}"/>
              </a:ext>
            </a:extLst>
          </p:cNvPr>
          <p:cNvSpPr/>
          <p:nvPr/>
        </p:nvSpPr>
        <p:spPr>
          <a:xfrm>
            <a:off x="7490133" y="3755339"/>
            <a:ext cx="2059343" cy="577275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ED40F4-A03D-4BC2-8C24-2579B4E09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99" y="1952625"/>
            <a:ext cx="11858625" cy="4933950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EBAEA3A3-90D9-45CD-A85D-E6FCC2E2E3C4}"/>
              </a:ext>
            </a:extLst>
          </p:cNvPr>
          <p:cNvSpPr/>
          <p:nvPr/>
        </p:nvSpPr>
        <p:spPr>
          <a:xfrm rot="5400000">
            <a:off x="1646886" y="2913685"/>
            <a:ext cx="1984925" cy="512558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</p:spTree>
    <p:extLst>
      <p:ext uri="{BB962C8B-B14F-4D97-AF65-F5344CB8AC3E}">
        <p14:creationId xmlns:p14="http://schemas.microsoft.com/office/powerpoint/2010/main" val="27554064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099FA-AE6A-4E18-95BD-D0862A8C6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/>
              <a:t>36</a:t>
            </a:fld>
            <a:endParaRPr lang="zh-TW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4A0466-FA2D-47FA-A6C4-80D95993904B}"/>
              </a:ext>
            </a:extLst>
          </p:cNvPr>
          <p:cNvSpPr txBox="1"/>
          <p:nvPr/>
        </p:nvSpPr>
        <p:spPr>
          <a:xfrm>
            <a:off x="684213" y="1091567"/>
            <a:ext cx="6096756" cy="369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rgbClr val="0096D6"/>
                </a:solidFill>
                <a:latin typeface="HP Simplified Light (Body)"/>
              </a:rPr>
              <a:t>Click “Add Python 3.10 to PATH”,  then use the default settings</a:t>
            </a:r>
            <a:endParaRPr lang="en-GB" sz="1799" dirty="0">
              <a:solidFill>
                <a:srgbClr val="0096D6"/>
              </a:solidFill>
              <a:latin typeface="HP Simplified Light (Body)"/>
            </a:endParaRPr>
          </a:p>
        </p:txBody>
      </p:sp>
      <p:sp>
        <p:nvSpPr>
          <p:cNvPr id="17" name="前言">
            <a:extLst>
              <a:ext uri="{FF2B5EF4-FFF2-40B4-BE49-F238E27FC236}">
                <a16:creationId xmlns:a16="http://schemas.microsoft.com/office/drawing/2014/main" id="{E6A4DA6F-D89A-4AD7-969B-FA117FFB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Quote Tool installation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D2C8AC-E548-4C28-8959-83D4D76D523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90964" y="1775997"/>
            <a:ext cx="7034600" cy="424160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2448AD-54CE-46F9-BEB2-941CE34C1748}"/>
              </a:ext>
            </a:extLst>
          </p:cNvPr>
          <p:cNvSpPr/>
          <p:nvPr/>
        </p:nvSpPr>
        <p:spPr>
          <a:xfrm>
            <a:off x="4068884" y="3121246"/>
            <a:ext cx="4189291" cy="1088804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CFE58C-057C-4517-8B6A-0B4780B2681C}"/>
              </a:ext>
            </a:extLst>
          </p:cNvPr>
          <p:cNvSpPr/>
          <p:nvPr/>
        </p:nvSpPr>
        <p:spPr>
          <a:xfrm>
            <a:off x="3999766" y="5660789"/>
            <a:ext cx="4189291" cy="356814"/>
          </a:xfrm>
          <a:prstGeom prst="rect">
            <a:avLst/>
          </a:prstGeom>
          <a:noFill/>
          <a:ln w="38100">
            <a:solidFill>
              <a:srgbClr val="009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</p:spTree>
    <p:extLst>
      <p:ext uri="{BB962C8B-B14F-4D97-AF65-F5344CB8AC3E}">
        <p14:creationId xmlns:p14="http://schemas.microsoft.com/office/powerpoint/2010/main" val="24050917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A5330C-7A0B-47C6-B5A9-970278E06D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30" t="6168" r="35140"/>
          <a:stretch/>
        </p:blipFill>
        <p:spPr>
          <a:xfrm>
            <a:off x="590215" y="1583027"/>
            <a:ext cx="6043441" cy="522638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ED6A2-D8F7-44EF-84E4-EC86EF50F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>
                <a:latin typeface="HP Simplified Light (Body)"/>
              </a:rPr>
              <a:t>37</a:t>
            </a:fld>
            <a:endParaRPr lang="zh-TW" altLang="en-US">
              <a:latin typeface="HP Simplified Light (Body)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F8BBF3-60F1-49DB-952F-E78C76140B08}"/>
              </a:ext>
            </a:extLst>
          </p:cNvPr>
          <p:cNvSpPr txBox="1"/>
          <p:nvPr/>
        </p:nvSpPr>
        <p:spPr>
          <a:xfrm>
            <a:off x="2748345" y="930195"/>
            <a:ext cx="4524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799" dirty="0">
                <a:solidFill>
                  <a:srgbClr val="0096D6"/>
                </a:solidFill>
                <a:latin typeface="HP Simplified Light (Body)"/>
              </a:rPr>
              <a:t>Click “</a:t>
            </a:r>
            <a:r>
              <a:rPr lang="zh-TW" altLang="en-US" sz="1799" dirty="0">
                <a:solidFill>
                  <a:srgbClr val="0096D6"/>
                </a:solidFill>
                <a:latin typeface="HP Simplified Light (Body)"/>
              </a:rPr>
              <a:t>命令提示字元</a:t>
            </a:r>
            <a:r>
              <a:rPr lang="en-US" altLang="zh-TW" sz="1799" dirty="0">
                <a:solidFill>
                  <a:srgbClr val="0096D6"/>
                </a:solidFill>
                <a:latin typeface="HP Simplified Light (Body)"/>
              </a:rPr>
              <a:t>” or “</a:t>
            </a:r>
            <a:r>
              <a:rPr lang="en-GB" dirty="0">
                <a:solidFill>
                  <a:srgbClr val="0096D6"/>
                </a:solidFill>
              </a:rPr>
              <a:t>cmd.exe”</a:t>
            </a:r>
            <a:endParaRPr lang="en-GB" sz="1799" dirty="0">
              <a:solidFill>
                <a:srgbClr val="0096D6"/>
              </a:solidFill>
              <a:latin typeface="HP Simplified Light (Body)"/>
            </a:endParaRPr>
          </a:p>
        </p:txBody>
      </p:sp>
      <p:sp>
        <p:nvSpPr>
          <p:cNvPr id="13" name="前言">
            <a:extLst>
              <a:ext uri="{FF2B5EF4-FFF2-40B4-BE49-F238E27FC236}">
                <a16:creationId xmlns:a16="http://schemas.microsoft.com/office/drawing/2014/main" id="{0AC202EC-95BD-441C-B2D9-9F7F326E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Quote Tool installation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DF062F-50B1-47B7-8AC1-61BC21CF17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565" t="17630" r="11929" b="11240"/>
          <a:stretch/>
        </p:blipFill>
        <p:spPr>
          <a:xfrm>
            <a:off x="6534150" y="1392702"/>
            <a:ext cx="6043441" cy="3160615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CB288613-0CA0-410A-9588-CD9AEC471E3F}"/>
              </a:ext>
            </a:extLst>
          </p:cNvPr>
          <p:cNvSpPr/>
          <p:nvPr/>
        </p:nvSpPr>
        <p:spPr>
          <a:xfrm>
            <a:off x="2237414" y="2242766"/>
            <a:ext cx="4811085" cy="386134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>
              <a:latin typeface="HP Simplified Light (Body)"/>
            </a:endParaRPr>
          </a:p>
        </p:txBody>
      </p:sp>
    </p:spTree>
    <p:extLst>
      <p:ext uri="{BB962C8B-B14F-4D97-AF65-F5344CB8AC3E}">
        <p14:creationId xmlns:p14="http://schemas.microsoft.com/office/powerpoint/2010/main" val="25089075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53FCB-45A2-47D8-A92D-B559CA5F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5799-8FC1-42F8-8027-C838789F0933}" type="slidenum">
              <a:rPr lang="zh-TW" altLang="en-US" smtClean="0">
                <a:latin typeface="HP Simplified Light (Body)"/>
              </a:rPr>
              <a:t>38</a:t>
            </a:fld>
            <a:endParaRPr lang="zh-TW" altLang="en-US">
              <a:latin typeface="HP Simplified Light (Body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C68925-6928-45CF-B81C-2CA7D92F1365}"/>
              </a:ext>
            </a:extLst>
          </p:cNvPr>
          <p:cNvSpPr txBox="1"/>
          <p:nvPr/>
        </p:nvSpPr>
        <p:spPr>
          <a:xfrm>
            <a:off x="1327003" y="1094065"/>
            <a:ext cx="8799779" cy="707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999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1. Type “pip install </a:t>
            </a:r>
            <a:r>
              <a:rPr lang="en-US" altLang="zh-TW" sz="1999" dirty="0" err="1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xlwings</a:t>
            </a:r>
            <a:r>
              <a:rPr lang="en-US" altLang="zh-TW" sz="1999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”, </a:t>
            </a:r>
            <a:r>
              <a:rPr lang="en-US" altLang="zh-TW" sz="1999" dirty="0">
                <a:latin typeface="HP Simplified Light (Body)"/>
                <a:cs typeface="Times New Roman" panose="02020603050405020304" pitchFamily="18" charset="0"/>
              </a:rPr>
              <a:t>then click enter button</a:t>
            </a:r>
          </a:p>
          <a:p>
            <a:r>
              <a:rPr lang="en-US" sz="1999" dirty="0">
                <a:latin typeface="HP Simplified Light (Body)"/>
                <a:cs typeface="Times New Roman" panose="02020603050405020304" pitchFamily="18" charset="0"/>
              </a:rPr>
              <a:t>(If it shows “Proceed ([y]/n)?” Type “Y”</a:t>
            </a:r>
            <a:r>
              <a:rPr lang="en-US" altLang="zh-TW" sz="1999" dirty="0">
                <a:latin typeface="HP Simplified Light (Body)"/>
                <a:cs typeface="Times New Roman" panose="02020603050405020304" pitchFamily="18" charset="0"/>
              </a:rPr>
              <a:t>, then click enter button</a:t>
            </a:r>
            <a:r>
              <a:rPr lang="en-US" sz="1999" dirty="0">
                <a:latin typeface="HP Simplified Light (Body)"/>
                <a:cs typeface="Times New Roman" panose="02020603050405020304" pitchFamily="18" charset="0"/>
              </a:rPr>
              <a:t>)</a:t>
            </a:r>
            <a:endParaRPr lang="en-GB" sz="1999" dirty="0">
              <a:latin typeface="HP Simplified Light (Body)"/>
              <a:cs typeface="Times New Roman" panose="02020603050405020304" pitchFamily="18" charset="0"/>
            </a:endParaRPr>
          </a:p>
        </p:txBody>
      </p:sp>
      <p:sp>
        <p:nvSpPr>
          <p:cNvPr id="16" name="前言">
            <a:extLst>
              <a:ext uri="{FF2B5EF4-FFF2-40B4-BE49-F238E27FC236}">
                <a16:creationId xmlns:a16="http://schemas.microsoft.com/office/drawing/2014/main" id="{721C9484-B33A-4809-85E8-BCE68FB86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92" y="212358"/>
            <a:ext cx="8388926" cy="707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TW" sz="3799" b="1" dirty="0">
                <a:latin typeface="HP Simplified Light (Body)"/>
                <a:ea typeface="微軟正黑體" panose="020B0604030504040204" pitchFamily="34" charset="-120"/>
                <a:cs typeface="Times New Roman" panose="02020603050405020304" pitchFamily="18" charset="0"/>
              </a:rPr>
              <a:t>Quote Tool installation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E2ECBB-5577-4B70-87F1-17D87AB0BB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3"/>
          <a:stretch/>
        </p:blipFill>
        <p:spPr>
          <a:xfrm>
            <a:off x="85725" y="1801767"/>
            <a:ext cx="12103100" cy="17542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F8DEE2-AAEB-4410-87EC-A8E18FDE8DE6}"/>
              </a:ext>
            </a:extLst>
          </p:cNvPr>
          <p:cNvSpPr txBox="1"/>
          <p:nvPr/>
        </p:nvSpPr>
        <p:spPr>
          <a:xfrm>
            <a:off x="1431778" y="3678120"/>
            <a:ext cx="9008234" cy="255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999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2. Type “</a:t>
            </a:r>
            <a:r>
              <a:rPr lang="en-US" altLang="zh-TW" sz="1999" dirty="0" err="1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xlwings</a:t>
            </a:r>
            <a:r>
              <a:rPr lang="en-US" altLang="zh-TW" sz="1999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 </a:t>
            </a:r>
            <a:r>
              <a:rPr lang="en-US" altLang="zh-TW" sz="1999" dirty="0" err="1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addin</a:t>
            </a:r>
            <a:r>
              <a:rPr lang="en-US" altLang="zh-TW" sz="1999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 install”, </a:t>
            </a:r>
            <a:r>
              <a:rPr lang="en-US" altLang="zh-TW" sz="1999" dirty="0">
                <a:latin typeface="HP Simplified Light (Body)"/>
                <a:cs typeface="Times New Roman" panose="02020603050405020304" pitchFamily="18" charset="0"/>
              </a:rPr>
              <a:t>then click enter button</a:t>
            </a:r>
            <a:endParaRPr lang="en-US" altLang="zh-TW" sz="1999" dirty="0">
              <a:solidFill>
                <a:srgbClr val="0096D6"/>
              </a:solidFill>
              <a:latin typeface="HP Simplified Light (Body)"/>
              <a:cs typeface="Times New Roman" panose="02020603050405020304" pitchFamily="18" charset="0"/>
            </a:endParaRPr>
          </a:p>
          <a:p>
            <a:r>
              <a:rPr lang="en-US" altLang="zh-TW" sz="1999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3. Type “pip install  </a:t>
            </a:r>
            <a:r>
              <a:rPr lang="en-US" altLang="zh-TW" sz="1999" dirty="0" err="1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pyxlsb</a:t>
            </a:r>
            <a:r>
              <a:rPr lang="en-US" altLang="zh-TW" sz="1999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”, </a:t>
            </a:r>
            <a:r>
              <a:rPr lang="en-US" altLang="zh-TW" sz="1999" dirty="0">
                <a:latin typeface="HP Simplified Light (Body)"/>
                <a:cs typeface="Times New Roman" panose="02020603050405020304" pitchFamily="18" charset="0"/>
              </a:rPr>
              <a:t>then click enter button</a:t>
            </a:r>
          </a:p>
          <a:p>
            <a:r>
              <a:rPr lang="en-US" altLang="zh-TW" sz="1999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4. Type “pip install </a:t>
            </a:r>
            <a:r>
              <a:rPr lang="en-GB" sz="1999" dirty="0">
                <a:solidFill>
                  <a:srgbClr val="0096D6"/>
                </a:solidFill>
                <a:latin typeface="HP Simplified Light (Body)"/>
              </a:rPr>
              <a:t>pandas</a:t>
            </a:r>
            <a:r>
              <a:rPr lang="en-US" altLang="zh-TW" sz="1999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”, </a:t>
            </a:r>
            <a:r>
              <a:rPr lang="en-US" altLang="zh-TW" sz="1999" dirty="0">
                <a:latin typeface="HP Simplified Light (Body)"/>
                <a:cs typeface="Times New Roman" panose="02020603050405020304" pitchFamily="18" charset="0"/>
              </a:rPr>
              <a:t>then click enter button</a:t>
            </a:r>
          </a:p>
          <a:p>
            <a:r>
              <a:rPr lang="en-US" altLang="zh-TW" sz="1999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5. Type “pip install </a:t>
            </a:r>
            <a:r>
              <a:rPr lang="en-GB" sz="1999" dirty="0" err="1">
                <a:solidFill>
                  <a:srgbClr val="0096D6"/>
                </a:solidFill>
                <a:latin typeface="HP Simplified Light (Body)"/>
              </a:rPr>
              <a:t>numpy</a:t>
            </a:r>
            <a:r>
              <a:rPr lang="en-US" altLang="zh-TW" sz="1999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”, </a:t>
            </a:r>
            <a:r>
              <a:rPr lang="en-US" altLang="zh-TW" sz="1999" dirty="0">
                <a:latin typeface="HP Simplified Light (Body)"/>
                <a:cs typeface="Times New Roman" panose="02020603050405020304" pitchFamily="18" charset="0"/>
              </a:rPr>
              <a:t>then click enter button</a:t>
            </a:r>
          </a:p>
          <a:p>
            <a:r>
              <a:rPr lang="en-US" altLang="zh-TW" sz="1999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6. Type “pip install </a:t>
            </a:r>
            <a:r>
              <a:rPr lang="en-GB" sz="1999" dirty="0">
                <a:solidFill>
                  <a:srgbClr val="0096D6"/>
                </a:solidFill>
                <a:latin typeface="HP Simplified Light (Body)"/>
              </a:rPr>
              <a:t>datetime</a:t>
            </a:r>
            <a:r>
              <a:rPr lang="en-US" altLang="zh-TW" sz="1999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”, </a:t>
            </a:r>
            <a:r>
              <a:rPr lang="en-US" altLang="zh-TW" sz="1999" dirty="0">
                <a:latin typeface="HP Simplified Light (Body)"/>
                <a:cs typeface="Times New Roman" panose="02020603050405020304" pitchFamily="18" charset="0"/>
              </a:rPr>
              <a:t>then click enter button</a:t>
            </a:r>
          </a:p>
          <a:p>
            <a:r>
              <a:rPr lang="en-US" altLang="zh-TW" sz="1999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7. Type “pip install </a:t>
            </a:r>
            <a:r>
              <a:rPr lang="en-US" altLang="zh-TW" sz="1999" dirty="0" err="1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openpyxl</a:t>
            </a:r>
            <a:r>
              <a:rPr lang="en-US" altLang="zh-TW" sz="1999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”, </a:t>
            </a:r>
            <a:r>
              <a:rPr lang="en-US" altLang="zh-TW" sz="1999" dirty="0">
                <a:latin typeface="HP Simplified Light (Body)"/>
                <a:cs typeface="Times New Roman" panose="02020603050405020304" pitchFamily="18" charset="0"/>
              </a:rPr>
              <a:t>then click enter button</a:t>
            </a:r>
          </a:p>
          <a:p>
            <a:r>
              <a:rPr lang="en-US" altLang="zh-TW" sz="1999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8. Type “pip install PyQt5”, </a:t>
            </a:r>
            <a:r>
              <a:rPr lang="en-US" altLang="zh-TW" sz="1999" dirty="0">
                <a:latin typeface="HP Simplified Light (Body)"/>
                <a:cs typeface="Times New Roman" panose="02020603050405020304" pitchFamily="18" charset="0"/>
              </a:rPr>
              <a:t>then click enter button</a:t>
            </a:r>
          </a:p>
          <a:p>
            <a:r>
              <a:rPr lang="en-US" altLang="zh-TW" sz="1999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9. Type “pip install </a:t>
            </a:r>
            <a:r>
              <a:rPr lang="en-US" altLang="zh-TW" sz="1999" dirty="0" err="1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XlsxWriter</a:t>
            </a:r>
            <a:r>
              <a:rPr lang="en-US" altLang="zh-TW" sz="1999" dirty="0">
                <a:solidFill>
                  <a:srgbClr val="0096D6"/>
                </a:solidFill>
                <a:latin typeface="HP Simplified Light (Body)"/>
                <a:cs typeface="Times New Roman" panose="02020603050405020304" pitchFamily="18" charset="0"/>
              </a:rPr>
              <a:t>”, </a:t>
            </a:r>
            <a:r>
              <a:rPr lang="en-US" altLang="zh-TW" sz="1999" dirty="0">
                <a:latin typeface="HP Simplified Light (Body)"/>
                <a:cs typeface="Times New Roman" panose="02020603050405020304" pitchFamily="18" charset="0"/>
              </a:rPr>
              <a:t>then click enter button</a:t>
            </a:r>
          </a:p>
        </p:txBody>
      </p:sp>
    </p:spTree>
    <p:extLst>
      <p:ext uri="{BB962C8B-B14F-4D97-AF65-F5344CB8AC3E}">
        <p14:creationId xmlns:p14="http://schemas.microsoft.com/office/powerpoint/2010/main" val="40744108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AF6DE-0C26-4872-A532-226BA89D2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381" y="3108691"/>
            <a:ext cx="10840332" cy="1554480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24397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HP Light Template 2021">
  <a:themeElements>
    <a:clrScheme name="HP 2021 color palette">
      <a:dk1>
        <a:sysClr val="windowText" lastClr="000000"/>
      </a:dk1>
      <a:lt1>
        <a:sysClr val="window" lastClr="FFFFFF"/>
      </a:lt1>
      <a:dk2>
        <a:srgbClr val="535455"/>
      </a:dk2>
      <a:lt2>
        <a:srgbClr val="142341"/>
      </a:lt2>
      <a:accent1>
        <a:srgbClr val="0096D6"/>
      </a:accent1>
      <a:accent2>
        <a:srgbClr val="43679B"/>
      </a:accent2>
      <a:accent3>
        <a:srgbClr val="EAAFE3"/>
      </a:accent3>
      <a:accent4>
        <a:srgbClr val="32F6D6"/>
      </a:accent4>
      <a:accent5>
        <a:srgbClr val="9FFFE7"/>
      </a:accent5>
      <a:accent6>
        <a:srgbClr val="ECFFC3"/>
      </a:accent6>
      <a:hlink>
        <a:srgbClr val="43679B"/>
      </a:hlink>
      <a:folHlink>
        <a:srgbClr val="87898B"/>
      </a:folHlink>
    </a:clrScheme>
    <a:fontScheme name="Custom 33">
      <a:majorFont>
        <a:latin typeface="HP Simplified"/>
        <a:ea typeface=""/>
        <a:cs typeface=""/>
      </a:majorFont>
      <a:minorFont>
        <a:latin typeface="HP Simplifi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19050">
          <a:noFill/>
          <a:miter lim="800000"/>
        </a:ln>
      </a:spPr>
      <a:bodyPr rtlCol="0" anchor="ctr"/>
      <a:lstStyle>
        <a:defPPr algn="ctr">
          <a:lnSpc>
            <a:spcPct val="90000"/>
          </a:lnSpc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HP Corp Template_light_2021_PPTX.pptx" id="{B29F89BE-CC1A-4740-96BC-01C66B8FD62E}" vid="{0AA4A4CE-9527-4429-A722-FA263CFB1852}"/>
    </a:ext>
  </a:extLst>
</a:theme>
</file>

<file path=ppt/theme/theme2.xml><?xml version="1.0" encoding="utf-8"?>
<a:theme xmlns:a="http://schemas.openxmlformats.org/drawingml/2006/main" name="Office Theme">
  <a:themeElements>
    <a:clrScheme name="HP 2021 color palette">
      <a:dk1>
        <a:sysClr val="windowText" lastClr="000000"/>
      </a:dk1>
      <a:lt1>
        <a:sysClr val="window" lastClr="FFFFFF"/>
      </a:lt1>
      <a:dk2>
        <a:srgbClr val="535455"/>
      </a:dk2>
      <a:lt2>
        <a:srgbClr val="142341"/>
      </a:lt2>
      <a:accent1>
        <a:srgbClr val="0096D6"/>
      </a:accent1>
      <a:accent2>
        <a:srgbClr val="43679B"/>
      </a:accent2>
      <a:accent3>
        <a:srgbClr val="EAAFE3"/>
      </a:accent3>
      <a:accent4>
        <a:srgbClr val="32F6D6"/>
      </a:accent4>
      <a:accent5>
        <a:srgbClr val="9FFFE7"/>
      </a:accent5>
      <a:accent6>
        <a:srgbClr val="ECFFC3"/>
      </a:accent6>
      <a:hlink>
        <a:srgbClr val="43679B"/>
      </a:hlink>
      <a:folHlink>
        <a:srgbClr val="87898B"/>
      </a:folHlink>
    </a:clrScheme>
    <a:fontScheme name="HP Simplified Light">
      <a:majorFont>
        <a:latin typeface="HP Simplified Light"/>
        <a:ea typeface=""/>
        <a:cs typeface=""/>
      </a:majorFont>
      <a:minorFont>
        <a:latin typeface="HP Simplifi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90000"/>
          </a:lnSpc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defRPr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 2021 color palette">
      <a:dk1>
        <a:sysClr val="windowText" lastClr="000000"/>
      </a:dk1>
      <a:lt1>
        <a:sysClr val="window" lastClr="FFFFFF"/>
      </a:lt1>
      <a:dk2>
        <a:srgbClr val="535455"/>
      </a:dk2>
      <a:lt2>
        <a:srgbClr val="142341"/>
      </a:lt2>
      <a:accent1>
        <a:srgbClr val="0096D6"/>
      </a:accent1>
      <a:accent2>
        <a:srgbClr val="43679B"/>
      </a:accent2>
      <a:accent3>
        <a:srgbClr val="EAAFE3"/>
      </a:accent3>
      <a:accent4>
        <a:srgbClr val="32F6D6"/>
      </a:accent4>
      <a:accent5>
        <a:srgbClr val="9FFFE7"/>
      </a:accent5>
      <a:accent6>
        <a:srgbClr val="ECFFC3"/>
      </a:accent6>
      <a:hlink>
        <a:srgbClr val="43679B"/>
      </a:hlink>
      <a:folHlink>
        <a:srgbClr val="87898B"/>
      </a:folHlink>
    </a:clrScheme>
    <a:fontScheme name="HP Simplified Light">
      <a:majorFont>
        <a:latin typeface="HP Simplified Light"/>
        <a:ea typeface=""/>
        <a:cs typeface=""/>
      </a:majorFont>
      <a:minorFont>
        <a:latin typeface="HP Simplifi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90000"/>
          </a:lnSpc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defRPr dirty="0" err="1" smtClean="0"/>
        </a:defPPr>
      </a:lst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ExternalLinks xmlns="dbdb4487-73a2-4f24-a0c5-200ed33b692d">
      <Url xsi:nil="true"/>
      <Description xsi:nil="true"/>
    </ExternalLinks>
    <_Flow_SignoffStatus xmlns="dbdb4487-73a2-4f24-a0c5-200ed33b692d" xsi:nil="true"/>
    <_dlc_DocId xmlns="a1a5bdf8-7b1c-4abd-b27e-a56936c13dce">26H5FZPN6AD2-2145098226-912566</_dlc_DocId>
    <_dlc_DocIdUrl xmlns="a1a5bdf8-7b1c-4abd-b27e-a56936c13dce">
      <Url>https://nmredmond.sharepoint.com/_layouts/15/DocIdRedir.aspx?ID=26H5FZPN6AD2-2145098226-912566</Url>
      <Description>26H5FZPN6AD2-2145098226-912566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EB629E78A40F4C8EECC04BDB75E780" ma:contentTypeVersion="4910" ma:contentTypeDescription="Create a new document." ma:contentTypeScope="" ma:versionID="beca182a435c5df475c39ce31cab343a">
  <xsd:schema xmlns:xsd="http://www.w3.org/2001/XMLSchema" xmlns:xs="http://www.w3.org/2001/XMLSchema" xmlns:p="http://schemas.microsoft.com/office/2006/metadata/properties" xmlns:ns2="a1a5bdf8-7b1c-4abd-b27e-a56936c13dce" xmlns:ns3="dbdb4487-73a2-4f24-a0c5-200ed33b692d" targetNamespace="http://schemas.microsoft.com/office/2006/metadata/properties" ma:root="true" ma:fieldsID="01c40729aa85f745d1b7451fcc9971f0" ns2:_="" ns3:_="">
    <xsd:import namespace="a1a5bdf8-7b1c-4abd-b27e-a56936c13dce"/>
    <xsd:import namespace="dbdb4487-73a2-4f24-a0c5-200ed33b692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ExternalLinks" minOccurs="0"/>
                <xsd:element ref="ns3:_Flow_SignoffStatu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5bdf8-7b1c-4abd-b27e-a56936c13dce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db4487-73a2-4f24-a0c5-200ed33b69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ExternalLinks" ma:index="23" nillable="true" ma:displayName="External Links" ma:format="Hyperlink" ma:internalName="ExternalLink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F26D55-9151-4110-BA9D-A954F323E858}">
  <ds:schemaRefs>
    <ds:schemaRef ds:uri="http://purl.org/dc/dcmitype/"/>
    <ds:schemaRef ds:uri="http://purl.org/dc/elements/1.1/"/>
    <ds:schemaRef ds:uri="a1a5bdf8-7b1c-4abd-b27e-a56936c13dce"/>
    <ds:schemaRef ds:uri="http://schemas.microsoft.com/office/2006/metadata/properties"/>
    <ds:schemaRef ds:uri="http://schemas.microsoft.com/office/2006/documentManagement/types"/>
    <ds:schemaRef ds:uri="dbdb4487-73a2-4f24-a0c5-200ed33b692d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100566F-6876-4C47-8871-40A75D0B96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70916C-2722-41F9-AA3E-3805A311A48E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FD1FE335-658C-4B0F-9B8A-C5BFA8AE2474}">
  <ds:schemaRefs>
    <ds:schemaRef ds:uri="a1a5bdf8-7b1c-4abd-b27e-a56936c13dce"/>
    <ds:schemaRef ds:uri="dbdb4487-73a2-4f24-a0c5-200ed33b692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Quote Tool1025</Template>
  <TotalTime>35675</TotalTime>
  <Words>2250</Words>
  <Application>Microsoft Office PowerPoint</Application>
  <PresentationFormat>Custom</PresentationFormat>
  <Paragraphs>389</Paragraphs>
  <Slides>39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HP Simplified</vt:lpstr>
      <vt:lpstr>HP Simplified Light</vt:lpstr>
      <vt:lpstr>HP Simplified Light (Body)</vt:lpstr>
      <vt:lpstr>Arial</vt:lpstr>
      <vt:lpstr>Calibri</vt:lpstr>
      <vt:lpstr>Times New Roman</vt:lpstr>
      <vt:lpstr>HP Light Template 2021</vt:lpstr>
      <vt:lpstr>Quote Tool - IEC</vt:lpstr>
      <vt:lpstr>Agenda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>Hewlett Packard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presentation</dc:title>
  <dc:subject/>
  <dc:creator>Chen, Lily (CW)</dc:creator>
  <cp:keywords/>
  <dc:description/>
  <cp:lastModifiedBy>Chang, Cory (CW)</cp:lastModifiedBy>
  <cp:revision>17</cp:revision>
  <cp:lastPrinted>2021-08-16T15:32:30Z</cp:lastPrinted>
  <dcterms:created xsi:type="dcterms:W3CDTF">2021-10-25T08:53:37Z</dcterms:created>
  <dcterms:modified xsi:type="dcterms:W3CDTF">2024-01-08T02:33:22Z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1755665</vt:lpwstr>
  </property>
  <property fmtid="{D5CDD505-2E9C-101B-9397-08002B2CF9AE}" pid="3" name="NXPowerLiteSettings">
    <vt:lpwstr>B74006B004C800</vt:lpwstr>
  </property>
  <property fmtid="{D5CDD505-2E9C-101B-9397-08002B2CF9AE}" pid="4" name="NXPowerLiteVersion">
    <vt:lpwstr>D6.2.10</vt:lpwstr>
  </property>
  <property fmtid="{D5CDD505-2E9C-101B-9397-08002B2CF9AE}" pid="5" name="ContentTypeId">
    <vt:lpwstr>0x01010009EB629E78A40F4C8EECC04BDB75E780</vt:lpwstr>
  </property>
  <property fmtid="{D5CDD505-2E9C-101B-9397-08002B2CF9AE}" pid="6" name="_dlc_DocIdItemGuid">
    <vt:lpwstr>afdd6620-9825-4c6b-b11a-b318df8831ed</vt:lpwstr>
  </property>
</Properties>
</file>